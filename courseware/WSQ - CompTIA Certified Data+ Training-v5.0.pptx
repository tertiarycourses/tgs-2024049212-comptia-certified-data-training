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 of exam</c:v>
                </c:pt>
              </c:strCache>
            </c:strRef>
          </c:tx>
          <c:spPr>
            <a:solidFill>
              <a:srgbClr val="1F6FEB"/>
            </a:solidFill>
          </c:spPr>
          <c:cat>
            <c:strRef>
              <c:f>Sheet1!$A$2:$A$6</c:f>
              <c:strCache>
                <c:ptCount val="5"/>
                <c:pt idx="0">
                  <c:v>D1 Data Concepts</c:v>
                </c:pt>
                <c:pt idx="1">
                  <c:v>D2 Data Acquisition</c:v>
                </c:pt>
                <c:pt idx="2">
                  <c:v>D3 Data Analysis</c:v>
                </c:pt>
                <c:pt idx="3">
                  <c:v>D4 Visualization</c:v>
                </c:pt>
                <c:pt idx="4">
                  <c:v>D5 Data Governance, Quali</c:v>
                </c:pt>
              </c:strCache>
            </c:strRef>
          </c:cat>
          <c:val>
            <c:numRef>
              <c:f>Sheet1!$B$2:$B$6</c:f>
              <c:numCache>
                <c:formatCode>0</c:formatCode>
                <c:ptCount val="5"/>
                <c:pt idx="0">
                  <c:v>20</c:v>
                </c:pt>
                <c:pt idx="1">
                  <c:v>22</c:v>
                </c:pt>
                <c:pt idx="2">
                  <c:v>24</c:v>
                </c:pt>
                <c:pt idx="3">
                  <c:v>20</c:v>
                </c:pt>
                <c:pt idx="4">
                  <c:v>14</c:v>
                </c:pt>
              </c:numCache>
            </c:numRef>
          </c:val>
        </c:ser>
        <c:dLbls>
          <c:numFmt formatCode="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200">
          <a:solidFill>
            <a:srgbClr val="161B26"/>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With outlier</c:v>
                </c:pt>
              </c:strCache>
            </c:strRef>
          </c:tx>
          <c:spPr>
            <a:solidFill>
              <a:srgbClr val="1F6FEB"/>
            </a:solidFill>
          </c:spPr>
          <c:cat>
            <c:strRef>
              <c:f>Sheet1!$A$2:$A$3</c:f>
              <c:strCache>
                <c:ptCount val="2"/>
                <c:pt idx="0">
                  <c:v>Mean</c:v>
                </c:pt>
                <c:pt idx="1">
                  <c:v>Median</c:v>
                </c:pt>
              </c:strCache>
            </c:strRef>
          </c:cat>
          <c:val>
            <c:numRef>
              <c:f>Sheet1!$B$2:$B$3</c:f>
              <c:numCache>
                <c:formatCode>0</c:formatCode>
                <c:ptCount val="2"/>
                <c:pt idx="0">
                  <c:v>6560</c:v>
                </c:pt>
                <c:pt idx="1">
                  <c:v>4350</c:v>
                </c:pt>
              </c:numCache>
            </c:numRef>
          </c:val>
        </c:ser>
        <c:ser>
          <c:idx val="1"/>
          <c:order val="1"/>
          <c:tx>
            <c:strRef>
              <c:f>Sheet1!$C$1</c:f>
              <c:strCache>
                <c:ptCount val="1"/>
                <c:pt idx="0">
                  <c:v>Outlier removed</c:v>
                </c:pt>
              </c:strCache>
            </c:strRef>
          </c:tx>
          <c:spPr>
            <a:solidFill>
              <a:srgbClr val="10B981"/>
            </a:solidFill>
          </c:spPr>
          <c:cat>
            <c:strRef>
              <c:f>Sheet1!$A$2:$A$3</c:f>
              <c:strCache>
                <c:ptCount val="2"/>
                <c:pt idx="0">
                  <c:v>Mean</c:v>
                </c:pt>
                <c:pt idx="1">
                  <c:v>Median</c:v>
                </c:pt>
              </c:strCache>
            </c:strRef>
          </c:cat>
          <c:val>
            <c:numRef>
              <c:f>Sheet1!$C$2:$C$3</c:f>
              <c:numCache>
                <c:formatCode>0</c:formatCode>
                <c:ptCount val="2"/>
                <c:pt idx="0">
                  <c:v>4400</c:v>
                </c:pt>
                <c:pt idx="1">
                  <c:v>4200</c:v>
                </c:pt>
              </c:numCache>
            </c:numRef>
          </c:val>
        </c:ser>
        <c:dLbls>
          <c:numFmt formatCode="0" sourceLinked="0"/>
          <c:txPr>
            <a:bodyPr/>
            <a:lstStyle/>
            <a:p>
              <a:pPr>
                <a:defRPr sz="1000">
                  <a:solidFill>
                    <a:srgbClr val="161B26"/>
                  </a:solidFill>
                </a:defRPr>
              </a:pPr>
            </a:p>
          </c:txPr>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txPr>
        <a:bodyPr/>
        <a:lstStyle/>
        <a:p>
          <a:pPr>
            <a:defRPr sz="1100"/>
          </a:pPr>
        </a:p>
      </c:txPr>
    </c:legend>
    <c:dispBlanksAs val="gap"/>
  </c:chart>
  <c:txPr>
    <a:bodyPr/>
    <a:lstStyle/>
    <a:p>
      <a:pPr>
        <a:defRPr sz="1200">
          <a:solidFill>
            <a:srgbClr val="161B26"/>
          </a:solidFill>
          <a:latin typeface="Arial"/>
        </a:defRPr>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ertiarycourses/TGS-2024049212-CompTIA-Certified-Data-Training"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s.tertiaryinfotech.com/practice-exams/comptia/comptia-data-plus" TargetMode="Externa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640080"/>
            <a:ext cx="960120" cy="960120"/>
          </a:xfrm>
          <a:prstGeom prst="rect">
            <a:avLst/>
          </a:prstGeom>
        </p:spPr>
      </p:pic>
      <p:sp>
        <p:nvSpPr>
          <p:cNvPr id="6" name="Rectangle 5"/>
          <p:cNvSpPr/>
          <p:nvPr/>
        </p:nvSpPr>
        <p:spPr>
          <a:xfrm>
            <a:off x="9829800" y="603504"/>
            <a:ext cx="1691640"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29800" y="713232"/>
            <a:ext cx="1691640" cy="475488"/>
          </a:xfrm>
          <a:prstGeom prst="rect">
            <a:avLst/>
          </a:prstGeom>
          <a:noFill/>
        </p:spPr>
        <p:txBody>
          <a:bodyPr wrap="square" anchor="t">
            <a:spAutoFit/>
          </a:bodyPr>
          <a:lstStyle/>
          <a:p>
            <a:pPr algn="ctr">
              <a:spcAft>
                <a:spcPts val="400"/>
              </a:spcAft>
            </a:pPr>
            <a:r>
              <a:rPr sz="1800" b="1">
                <a:solidFill>
                  <a:srgbClr val="FFFFFF"/>
                </a:solidFill>
                <a:latin typeface="Arial"/>
              </a:rPr>
              <a:t>CompTIA</a:t>
            </a:r>
          </a:p>
        </p:txBody>
      </p:sp>
      <p:sp>
        <p:nvSpPr>
          <p:cNvPr id="8" name="TextBox 7"/>
          <p:cNvSpPr txBox="1"/>
          <p:nvPr/>
        </p:nvSpPr>
        <p:spPr>
          <a:xfrm>
            <a:off x="9829800" y="1207008"/>
            <a:ext cx="1691640" cy="365760"/>
          </a:xfrm>
          <a:prstGeom prst="rect">
            <a:avLst/>
          </a:prstGeom>
          <a:noFill/>
        </p:spPr>
        <p:txBody>
          <a:bodyPr wrap="square" anchor="t">
            <a:spAutoFit/>
          </a:bodyPr>
          <a:lstStyle/>
          <a:p>
            <a:pPr algn="ctr">
              <a:spcAft>
                <a:spcPts val="400"/>
              </a:spcAft>
            </a:pPr>
            <a:r>
              <a:rPr sz="900" b="1">
                <a:solidFill>
                  <a:srgbClr val="FFFFFF"/>
                </a:solidFill>
                <a:latin typeface="Arial"/>
              </a:rPr>
              <a:t>DATA+  DA0-001</a:t>
            </a:r>
          </a:p>
        </p:txBody>
      </p:sp>
      <p:sp>
        <p:nvSpPr>
          <p:cNvPr id="9" name="TextBox 8"/>
          <p:cNvSpPr txBox="1"/>
          <p:nvPr/>
        </p:nvSpPr>
        <p:spPr>
          <a:xfrm>
            <a:off x="822960" y="2103120"/>
            <a:ext cx="10972800" cy="548640"/>
          </a:xfrm>
          <a:prstGeom prst="rect">
            <a:avLst/>
          </a:prstGeom>
          <a:noFill/>
        </p:spPr>
        <p:txBody>
          <a:bodyPr wrap="square" anchor="t">
            <a:spAutoFit/>
          </a:bodyPr>
          <a:lstStyle/>
          <a:p>
            <a:pPr algn="l">
              <a:spcAft>
                <a:spcPts val="400"/>
              </a:spcAft>
            </a:pPr>
            <a:r>
              <a:rPr sz="1600" b="1">
                <a:solidFill>
                  <a:srgbClr val="1F6FEB"/>
                </a:solidFill>
                <a:latin typeface="Arial"/>
              </a:rPr>
              <a:t>COURSE SLIDES  ·  WSQ</a:t>
            </a:r>
          </a:p>
        </p:txBody>
      </p:sp>
      <p:sp>
        <p:nvSpPr>
          <p:cNvPr id="10" name="TextBox 9"/>
          <p:cNvSpPr txBox="1"/>
          <p:nvPr/>
        </p:nvSpPr>
        <p:spPr>
          <a:xfrm>
            <a:off x="822960" y="2606040"/>
            <a:ext cx="10972800" cy="1737360"/>
          </a:xfrm>
          <a:prstGeom prst="rect">
            <a:avLst/>
          </a:prstGeom>
          <a:noFill/>
        </p:spPr>
        <p:txBody>
          <a:bodyPr wrap="square" anchor="t">
            <a:spAutoFit/>
          </a:bodyPr>
          <a:lstStyle/>
          <a:p>
            <a:pPr algn="l">
              <a:spcAft>
                <a:spcPts val="400"/>
              </a:spcAft>
            </a:pPr>
            <a:r>
              <a:rPr sz="4000" b="1">
                <a:solidFill>
                  <a:srgbClr val="161B26"/>
                </a:solidFill>
                <a:latin typeface="Arial"/>
              </a:rPr>
              <a:t>WSQ - CompTIA Certified Data+ Training</a:t>
            </a:r>
          </a:p>
        </p:txBody>
      </p:sp>
      <p:sp>
        <p:nvSpPr>
          <p:cNvPr id="11" name="Rectangle 10"/>
          <p:cNvSpPr/>
          <p:nvPr/>
        </p:nvSpPr>
        <p:spPr>
          <a:xfrm>
            <a:off x="841248" y="4343400"/>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461772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TGS-2024049212</a:t>
            </a:r>
          </a:p>
          <a:p>
            <a:pPr algn="l">
              <a:spcAft>
                <a:spcPts val="600"/>
              </a:spcAft>
            </a:pPr>
            <a:r>
              <a:rPr sz="1400" b="0">
                <a:solidFill>
                  <a:srgbClr val="5B6372"/>
                </a:solidFill>
                <a:latin typeface="Arial"/>
              </a:rPr>
              <a:t>Conducted by Tertiary Infotech Academy Pte Ltd  ·  UEN 201200696W</a:t>
            </a:r>
          </a:p>
        </p:txBody>
      </p:sp>
      <p:sp>
        <p:nvSpPr>
          <p:cNvPr id="13" name="TextBox 12"/>
          <p:cNvSpPr txBox="1"/>
          <p:nvPr/>
        </p:nvSpPr>
        <p:spPr>
          <a:xfrm>
            <a:off x="822960" y="5943600"/>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v5.0  ·  19 August 2026</a:t>
            </a:r>
          </a:p>
        </p:txBody>
      </p:sp>
      <p:sp>
        <p:nvSpPr>
          <p:cNvPr id="14" name="TextBox 13"/>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spTree>
  </p:cSld>
  <p:clrMapOvr>
    <a:masterClrMapping/>
  </p:clrMapOvr>
  <p:transition spd="fast"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p:transition spd="med" advClick="1">
    <p:push dir="l"/>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Three times a day</a:t>
            </a:r>
          </a:p>
          <a:p>
            <a:pPr algn="l">
              <a:spcAft>
                <a:spcPts val="300"/>
              </a:spcAft>
            </a:pPr>
            <a:r>
              <a:rPr sz="1300" b="0">
                <a:solidFill>
                  <a:srgbClr val="5B6372"/>
                </a:solidFill>
                <a:latin typeface="Arial"/>
              </a:rPr>
              <a:t>Take the AM, PM and Assessment digital attendance — mandatory for every WSQ-funded course.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Trainer shows the QR</a:t>
            </a:r>
          </a:p>
          <a:p>
            <a:pPr algn="l">
              <a:spcAft>
                <a:spcPts val="300"/>
              </a:spcAft>
            </a:pPr>
            <a:r>
              <a:rPr sz="1300" b="0">
                <a:solidFill>
                  <a:srgbClr val="5B6372"/>
                </a:solidFill>
                <a:latin typeface="Arial"/>
              </a:rPr>
              <a:t>The trainer or administrator displays the digital attendance QR code generated from TPG.</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Scan with Singpass</a:t>
            </a:r>
          </a:p>
          <a:p>
            <a:pPr algn="l">
              <a:spcAft>
                <a:spcPts val="300"/>
              </a:spcAft>
            </a:pPr>
            <a:r>
              <a:rPr sz="1300" b="0">
                <a:solidFill>
                  <a:srgbClr val="5B6372"/>
                </a:solidFill>
                <a:latin typeface="Arial"/>
              </a:rPr>
              <a:t>Scan the QR code from your Singpass App and submit your attendance.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75% minimum</a:t>
            </a:r>
          </a:p>
          <a:p>
            <a:pPr algn="l">
              <a:spcAft>
                <a:spcPts val="300"/>
              </a:spcAft>
            </a:pPr>
            <a:r>
              <a:rPr sz="1300" b="0">
                <a:solidFill>
                  <a:srgbClr val="5B6372"/>
                </a:solidFill>
                <a:latin typeface="Arial"/>
              </a:rPr>
              <a:t>A minimum of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p:transition spd="fast"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
to be completed by the trainer</a:t>
            </a:r>
          </a:p>
        </p:txBody>
      </p:sp>
      <p:sp>
        <p:nvSpPr>
          <p:cNvPr id="13" name="Rectangle 12"/>
          <p:cNvSpPr/>
          <p:nvPr/>
        </p:nvSpPr>
        <p:spPr>
          <a:xfrm>
            <a:off x="4480560" y="17830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NAME</a:t>
            </a:r>
          </a:p>
          <a:p>
            <a:pPr algn="l">
              <a:spcAft>
                <a:spcPts val="300"/>
              </a:spcAft>
            </a:pPr>
            <a:r>
              <a:rPr sz="1300" b="0">
                <a:solidFill>
                  <a:srgbClr val="E2E8F0"/>
                </a:solidFill>
                <a:latin typeface="Arial"/>
              </a:rPr>
              <a:t>____________________________________________</a:t>
            </a:r>
          </a:p>
        </p:txBody>
      </p:sp>
      <p:sp>
        <p:nvSpPr>
          <p:cNvPr id="16" name="Rectangle 15"/>
          <p:cNvSpPr/>
          <p:nvPr/>
        </p:nvSpPr>
        <p:spPr>
          <a:xfrm>
            <a:off x="4480560" y="252984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52984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52984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TITLE / DESIGNATION</a:t>
            </a:r>
          </a:p>
          <a:p>
            <a:pPr algn="l">
              <a:spcAft>
                <a:spcPts val="300"/>
              </a:spcAft>
            </a:pPr>
            <a:r>
              <a:rPr sz="1300" b="0">
                <a:solidFill>
                  <a:srgbClr val="E2E8F0"/>
                </a:solidFill>
                <a:latin typeface="Arial"/>
              </a:rPr>
              <a:t>____________________________________________</a:t>
            </a:r>
          </a:p>
        </p:txBody>
      </p:sp>
      <p:sp>
        <p:nvSpPr>
          <p:cNvPr id="19" name="Rectangle 18"/>
          <p:cNvSpPr/>
          <p:nvPr/>
        </p:nvSpPr>
        <p:spPr>
          <a:xfrm>
            <a:off x="4480560" y="327660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3276600"/>
            <a:ext cx="91440" cy="56388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3276600"/>
            <a:ext cx="6400800" cy="563880"/>
          </a:xfrm>
          <a:prstGeom prst="rect">
            <a:avLst/>
          </a:prstGeom>
          <a:noFill/>
        </p:spPr>
        <p:txBody>
          <a:bodyPr wrap="square" anchor="ctr">
            <a:spAutoFit/>
          </a:bodyPr>
          <a:lstStyle/>
          <a:p>
            <a:pPr algn="l">
              <a:spcAft>
                <a:spcPts val="300"/>
              </a:spcAft>
            </a:pPr>
            <a:r>
              <a:rPr sz="1100" b="1">
                <a:solidFill>
                  <a:srgbClr val="7C3AED"/>
                </a:solidFill>
                <a:latin typeface="Arial"/>
              </a:rPr>
              <a:t>QUALIFICATIONS</a:t>
            </a:r>
          </a:p>
          <a:p>
            <a:pPr algn="l">
              <a:spcAft>
                <a:spcPts val="300"/>
              </a:spcAft>
            </a:pPr>
            <a:r>
              <a:rPr sz="1300" b="0">
                <a:solidFill>
                  <a:srgbClr val="E2E8F0"/>
                </a:solidFill>
                <a:latin typeface="Arial"/>
              </a:rPr>
              <a:t>____________________________________________</a:t>
            </a:r>
          </a:p>
        </p:txBody>
      </p:sp>
      <p:sp>
        <p:nvSpPr>
          <p:cNvPr id="22" name="Rectangle 21"/>
          <p:cNvSpPr/>
          <p:nvPr/>
        </p:nvSpPr>
        <p:spPr>
          <a:xfrm>
            <a:off x="4480560" y="402336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4023360"/>
            <a:ext cx="91440" cy="56388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4023360"/>
            <a:ext cx="6400800" cy="563880"/>
          </a:xfrm>
          <a:prstGeom prst="rect">
            <a:avLst/>
          </a:prstGeom>
          <a:noFill/>
        </p:spPr>
        <p:txBody>
          <a:bodyPr wrap="square" anchor="ctr">
            <a:spAutoFit/>
          </a:bodyPr>
          <a:lstStyle/>
          <a:p>
            <a:pPr algn="l">
              <a:spcAft>
                <a:spcPts val="300"/>
              </a:spcAft>
            </a:pPr>
            <a:r>
              <a:rPr sz="1100" b="1">
                <a:solidFill>
                  <a:srgbClr val="F59E0B"/>
                </a:solidFill>
                <a:latin typeface="Arial"/>
              </a:rPr>
              <a:t>AREAS OF EXPERTISE</a:t>
            </a:r>
          </a:p>
          <a:p>
            <a:pPr algn="l">
              <a:spcAft>
                <a:spcPts val="300"/>
              </a:spcAft>
            </a:pPr>
            <a:r>
              <a:rPr sz="1300" b="0">
                <a:solidFill>
                  <a:srgbClr val="E2E8F0"/>
                </a:solidFill>
                <a:latin typeface="Arial"/>
              </a:rPr>
              <a:t>____________________________________________</a:t>
            </a:r>
          </a:p>
        </p:txBody>
      </p:sp>
      <p:sp>
        <p:nvSpPr>
          <p:cNvPr id="25" name="Rectangle 24"/>
          <p:cNvSpPr/>
          <p:nvPr/>
        </p:nvSpPr>
        <p:spPr>
          <a:xfrm>
            <a:off x="4480560" y="477012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80560" y="4770120"/>
            <a:ext cx="91440" cy="56388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73168" y="4770120"/>
            <a:ext cx="6400800" cy="563880"/>
          </a:xfrm>
          <a:prstGeom prst="rect">
            <a:avLst/>
          </a:prstGeom>
          <a:noFill/>
        </p:spPr>
        <p:txBody>
          <a:bodyPr wrap="square" anchor="ctr">
            <a:spAutoFit/>
          </a:bodyPr>
          <a:lstStyle/>
          <a:p>
            <a:pPr algn="l">
              <a:spcAft>
                <a:spcPts val="300"/>
              </a:spcAft>
            </a:pPr>
            <a:r>
              <a:rPr sz="1100" b="1">
                <a:solidFill>
                  <a:srgbClr val="1F6FEB"/>
                </a:solidFill>
                <a:latin typeface="Arial"/>
              </a:rPr>
              <a:t>TRAINING &amp; INDUSTRY EXPERIENCE</a:t>
            </a:r>
          </a:p>
          <a:p>
            <a:pPr algn="l">
              <a:spcAft>
                <a:spcPts val="300"/>
              </a:spcAft>
            </a:pPr>
            <a:r>
              <a:rPr sz="1300" b="0">
                <a:solidFill>
                  <a:srgbClr val="E2E8F0"/>
                </a:solidFill>
                <a:latin typeface="Arial"/>
              </a:rPr>
              <a:t>____________________________________________</a:t>
            </a:r>
          </a:p>
        </p:txBody>
      </p:sp>
      <p:sp>
        <p:nvSpPr>
          <p:cNvPr id="28" name="Rectangle 27"/>
          <p:cNvSpPr/>
          <p:nvPr/>
        </p:nvSpPr>
        <p:spPr>
          <a:xfrm>
            <a:off x="4480560" y="5516880"/>
            <a:ext cx="6949440" cy="5638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480560" y="5516880"/>
            <a:ext cx="91440" cy="5638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73168" y="5516880"/>
            <a:ext cx="6400800" cy="563880"/>
          </a:xfrm>
          <a:prstGeom prst="rect">
            <a:avLst/>
          </a:prstGeom>
          <a:noFill/>
        </p:spPr>
        <p:txBody>
          <a:bodyPr wrap="square" anchor="ctr">
            <a:spAutoFit/>
          </a:bodyPr>
          <a:lstStyle/>
          <a:p>
            <a:pPr algn="l">
              <a:spcAft>
                <a:spcPts val="300"/>
              </a:spcAft>
            </a:pPr>
            <a:r>
              <a:rPr sz="1100" b="1">
                <a:solidFill>
                  <a:srgbClr val="10B981"/>
                </a:solidFill>
                <a:latin typeface="Arial"/>
              </a:rPr>
              <a:t>CONTACT</a:t>
            </a:r>
          </a:p>
          <a:p>
            <a:pPr algn="l">
              <a:spcAft>
                <a:spcPts val="300"/>
              </a:spcAft>
            </a:pPr>
            <a:r>
              <a:rPr sz="1300" b="0">
                <a:solidFill>
                  <a:srgbClr val="E2E8F0"/>
                </a:solidFill>
                <a:latin typeface="Arial"/>
              </a:rPr>
              <a:t>____________________________________________</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p:transition spd="fast"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About the Trainer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8780" y="2286000"/>
            <a:ext cx="1554480" cy="1554480"/>
          </a:xfrm>
          <a:prstGeom prst="rect">
            <a:avLst/>
          </a:prstGeom>
          <a:noFill/>
        </p:spPr>
        <p:txBody>
          <a:bodyPr wrap="square" anchor="ctr">
            <a:spAutoFit/>
          </a:bodyPr>
          <a:lstStyle/>
          <a:p>
            <a:pPr algn="ctr">
              <a:spcAft>
                <a:spcPts val="400"/>
              </a:spcAft>
            </a:pPr>
            <a:r>
              <a:rPr sz="4400" b="1">
                <a:solidFill>
                  <a:srgbClr val="FFFFFF"/>
                </a:solidFill>
                <a:latin typeface="Arial"/>
              </a:rPr>
              <a:t>AA</a:t>
            </a:r>
          </a:p>
        </p:txBody>
      </p:sp>
      <p:sp>
        <p:nvSpPr>
          <p:cNvPr id="11" name="TextBox 10"/>
          <p:cNvSpPr txBox="1"/>
          <p:nvPr/>
        </p:nvSpPr>
        <p:spPr>
          <a:xfrm>
            <a:off x="914400" y="416052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2" name="TextBox 11"/>
          <p:cNvSpPr txBox="1"/>
          <p:nvPr/>
        </p:nvSpPr>
        <p:spPr>
          <a:xfrm>
            <a:off x="914400" y="4754880"/>
            <a:ext cx="3063240" cy="1097280"/>
          </a:xfrm>
          <a:prstGeom prst="rect">
            <a:avLst/>
          </a:prstGeom>
          <a:noFill/>
        </p:spPr>
        <p:txBody>
          <a:bodyPr wrap="square" anchor="t">
            <a:spAutoFit/>
          </a:bodyPr>
          <a:lstStyle/>
          <a:p>
            <a:pPr algn="ctr">
              <a:spcAft>
                <a:spcPts val="400"/>
              </a:spcAft>
            </a:pPr>
            <a:r>
              <a:rPr sz="1300" b="0">
                <a:solidFill>
                  <a:srgbClr val="5B6372"/>
                </a:solidFill>
                <a:latin typeface="Arial"/>
              </a:rPr>
              <a:t>Principal Trainer
Tertiary Infotech Academy Pte Ltd</a:t>
            </a:r>
          </a:p>
        </p:txBody>
      </p:sp>
      <p:sp>
        <p:nvSpPr>
          <p:cNvPr id="13" name="Rectangle 12"/>
          <p:cNvSpPr/>
          <p:nvPr/>
        </p:nvSpPr>
        <p:spPr>
          <a:xfrm>
            <a:off x="4480560" y="178308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0560" y="1783080"/>
            <a:ext cx="91440" cy="9372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73168" y="1783080"/>
            <a:ext cx="6400800" cy="937260"/>
          </a:xfrm>
          <a:prstGeom prst="rect">
            <a:avLst/>
          </a:prstGeom>
          <a:noFill/>
        </p:spPr>
        <p:txBody>
          <a:bodyPr wrap="square" anchor="ctr">
            <a:spAutoFit/>
          </a:bodyPr>
          <a:lstStyle/>
          <a:p>
            <a:pPr algn="l">
              <a:spcAft>
                <a:spcPts val="300"/>
              </a:spcAft>
            </a:pPr>
            <a:r>
              <a:rPr sz="1100" b="1">
                <a:solidFill>
                  <a:srgbClr val="1F6FEB"/>
                </a:solidFill>
                <a:latin typeface="Arial"/>
              </a:rPr>
              <a:t>ROLE</a:t>
            </a:r>
          </a:p>
          <a:p>
            <a:pPr algn="l">
              <a:spcAft>
                <a:spcPts val="300"/>
              </a:spcAft>
            </a:pPr>
            <a:r>
              <a:rPr sz="1400" b="0">
                <a:solidFill>
                  <a:srgbClr val="161B26"/>
                </a:solidFill>
                <a:latin typeface="Arial"/>
              </a:rPr>
              <a:t>Principal Trainer, Tertiary Infotech Academy Pte Ltd</a:t>
            </a:r>
          </a:p>
        </p:txBody>
      </p:sp>
      <p:sp>
        <p:nvSpPr>
          <p:cNvPr id="16" name="Rectangle 15"/>
          <p:cNvSpPr/>
          <p:nvPr/>
        </p:nvSpPr>
        <p:spPr>
          <a:xfrm>
            <a:off x="4480560" y="290322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80560" y="2903220"/>
            <a:ext cx="91440" cy="9372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73168" y="2903220"/>
            <a:ext cx="6400800" cy="937260"/>
          </a:xfrm>
          <a:prstGeom prst="rect">
            <a:avLst/>
          </a:prstGeom>
          <a:noFill/>
        </p:spPr>
        <p:txBody>
          <a:bodyPr wrap="square" anchor="ctr">
            <a:spAutoFit/>
          </a:bodyPr>
          <a:lstStyle/>
          <a:p>
            <a:pPr algn="l">
              <a:spcAft>
                <a:spcPts val="300"/>
              </a:spcAft>
            </a:pPr>
            <a:r>
              <a:rPr sz="1100" b="1">
                <a:solidFill>
                  <a:srgbClr val="10B981"/>
                </a:solidFill>
                <a:latin typeface="Arial"/>
              </a:rPr>
              <a:t>EXPERTISE</a:t>
            </a:r>
          </a:p>
          <a:p>
            <a:pPr algn="l">
              <a:spcAft>
                <a:spcPts val="300"/>
              </a:spcAft>
            </a:pPr>
            <a:r>
              <a:rPr sz="1400" b="0">
                <a:solidFill>
                  <a:srgbClr val="161B26"/>
                </a:solidFill>
                <a:latin typeface="Arial"/>
              </a:rPr>
              <a:t>Data analytics, data engineering, statistics, business intelligence and applied machine learning.</a:t>
            </a:r>
          </a:p>
        </p:txBody>
      </p:sp>
      <p:sp>
        <p:nvSpPr>
          <p:cNvPr id="19" name="Rectangle 18"/>
          <p:cNvSpPr/>
          <p:nvPr/>
        </p:nvSpPr>
        <p:spPr>
          <a:xfrm>
            <a:off x="4480560" y="402336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80560" y="4023360"/>
            <a:ext cx="91440" cy="9372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73168" y="4023360"/>
            <a:ext cx="6400800" cy="937260"/>
          </a:xfrm>
          <a:prstGeom prst="rect">
            <a:avLst/>
          </a:prstGeom>
          <a:noFill/>
        </p:spPr>
        <p:txBody>
          <a:bodyPr wrap="square" anchor="ctr">
            <a:spAutoFit/>
          </a:bodyPr>
          <a:lstStyle/>
          <a:p>
            <a:pPr algn="l">
              <a:spcAft>
                <a:spcPts val="300"/>
              </a:spcAft>
            </a:pPr>
            <a:r>
              <a:rPr sz="1100" b="1">
                <a:solidFill>
                  <a:srgbClr val="7C3AED"/>
                </a:solidFill>
                <a:latin typeface="Arial"/>
              </a:rPr>
              <a:t>DELIVERS</a:t>
            </a:r>
          </a:p>
          <a:p>
            <a:pPr algn="l">
              <a:spcAft>
                <a:spcPts val="300"/>
              </a:spcAft>
            </a:pPr>
            <a:r>
              <a:rPr sz="1400" b="0">
                <a:solidFill>
                  <a:srgbClr val="161B26"/>
                </a:solidFill>
                <a:latin typeface="Arial"/>
              </a:rPr>
              <a:t>WSQ courses on data analytics, CompTIA certifications, Python, AI and cloud technologies.</a:t>
            </a:r>
          </a:p>
        </p:txBody>
      </p:sp>
      <p:sp>
        <p:nvSpPr>
          <p:cNvPr id="22" name="Rectangle 21"/>
          <p:cNvSpPr/>
          <p:nvPr/>
        </p:nvSpPr>
        <p:spPr>
          <a:xfrm>
            <a:off x="4480560" y="5143500"/>
            <a:ext cx="6949440" cy="9372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80560" y="5143500"/>
            <a:ext cx="91440" cy="9372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73168" y="5143500"/>
            <a:ext cx="6400800" cy="937260"/>
          </a:xfrm>
          <a:prstGeom prst="rect">
            <a:avLst/>
          </a:prstGeom>
          <a:noFill/>
        </p:spPr>
        <p:txBody>
          <a:bodyPr wrap="square" anchor="ctr">
            <a:spAutoFit/>
          </a:bodyPr>
          <a:lstStyle/>
          <a:p>
            <a:pPr algn="l">
              <a:spcAft>
                <a:spcPts val="300"/>
              </a:spcAft>
            </a:pPr>
            <a:r>
              <a:rPr sz="1100" b="1">
                <a:solidFill>
                  <a:srgbClr val="F59E0B"/>
                </a:solidFill>
                <a:latin typeface="Arial"/>
              </a:rPr>
              <a:t>FOUNDER</a:t>
            </a:r>
          </a:p>
          <a:p>
            <a:pPr algn="l">
              <a:spcAft>
                <a:spcPts val="300"/>
              </a:spcAft>
            </a:pPr>
            <a:r>
              <a:rPr sz="1400" b="0">
                <a:solidFill>
                  <a:srgbClr val="161B26"/>
                </a:solidFill>
                <a:latin typeface="Arial"/>
              </a:rPr>
              <a:t>Founder and lead instructor at Tertiary Infotech / Tertiary Courses.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p:transition spd="fast"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Let's Know Each Other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Your name, organisation and current role.</a:t>
            </a:r>
          </a:p>
          <a:p>
            <a:pPr>
              <a:spcAft>
                <a:spcPts val="1000"/>
              </a:spcAft>
            </a:pPr>
            <a:r>
              <a:rPr sz="2000" b="0">
                <a:solidFill>
                  <a:srgbClr val="161B26"/>
                </a:solidFill>
                <a:latin typeface="Arial"/>
              </a:rPr>
              <a:t>•  How you work with data today — spreadsheets, SQL, BI tools, or none of these yet.</a:t>
            </a:r>
          </a:p>
          <a:p>
            <a:pPr>
              <a:spcAft>
                <a:spcPts val="1000"/>
              </a:spcAft>
            </a:pPr>
            <a:r>
              <a:rPr sz="2000" b="0">
                <a:solidFill>
                  <a:srgbClr val="161B26"/>
                </a:solidFill>
                <a:latin typeface="Arial"/>
              </a:rPr>
              <a:t>•  The one data question in your job you wish you could answer confidently.</a:t>
            </a:r>
          </a:p>
          <a:p>
            <a:pPr>
              <a:spcAft>
                <a:spcPts val="1000"/>
              </a:spcAft>
            </a:pPr>
            <a:r>
              <a:rPr sz="2000" b="0">
                <a:solidFill>
                  <a:srgbClr val="161B26"/>
                </a:solidFill>
                <a:latin typeface="Arial"/>
              </a:rPr>
              <a:t>•  Whether you intend to sit the CompTIA Data+ (DA0-001) certification exam.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p:transition spd="fast"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Ground Rules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965960"/>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874520"/>
            <a:ext cx="3973068" cy="768096"/>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2" name="Rectangle 11"/>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19659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19659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874520"/>
            <a:ext cx="3973068" cy="768096"/>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in class — no question is too small.</a:t>
            </a:r>
          </a:p>
        </p:txBody>
      </p:sp>
      <p:sp>
        <p:nvSpPr>
          <p:cNvPr id="17" name="Rectangle 16"/>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118104"/>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026664"/>
            <a:ext cx="3973068" cy="768096"/>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2" name="Rectangle 21"/>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118104"/>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11810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026664"/>
            <a:ext cx="3973068" cy="768096"/>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7" name="Rectangle 26"/>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27024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178808"/>
            <a:ext cx="3973068" cy="768096"/>
          </a:xfrm>
          <a:prstGeom prst="rect">
            <a:avLst/>
          </a:prstGeom>
          <a:noFill/>
        </p:spPr>
        <p:txBody>
          <a:bodyPr wrap="square" anchor="ctr">
            <a:spAutoFit/>
          </a:bodyPr>
          <a:lstStyle/>
          <a:p>
            <a:pPr algn="l">
              <a:spcAft>
                <a:spcPts val="400"/>
              </a:spcAft>
            </a:pPr>
            <a:r>
              <a:rPr sz="1500" b="0">
                <a:solidFill>
                  <a:srgbClr val="161B26"/>
                </a:solidFill>
                <a:latin typeface="Arial"/>
              </a:rPr>
              <a:t>Be punctual and return from breaks on time.</a:t>
            </a:r>
          </a:p>
        </p:txBody>
      </p:sp>
      <p:sp>
        <p:nvSpPr>
          <p:cNvPr id="32" name="Rectangle 31"/>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427024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427024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178808"/>
            <a:ext cx="3973068" cy="768096"/>
          </a:xfrm>
          <a:prstGeom prst="rect">
            <a:avLst/>
          </a:prstGeom>
          <a:noFill/>
        </p:spPr>
        <p:txBody>
          <a:bodyPr wrap="square" anchor="ctr">
            <a:spAutoFit/>
          </a:bodyPr>
          <a:lstStyle/>
          <a:p>
            <a:pPr algn="l">
              <a:spcAft>
                <a:spcPts val="400"/>
              </a:spcAft>
            </a:pPr>
            <a:r>
              <a:rPr sz="1500" b="0">
                <a:solidFill>
                  <a:srgbClr val="161B26"/>
                </a:solidFill>
                <a:latin typeface="Arial"/>
              </a:rPr>
              <a:t>Step out quietly for calls or breaks.</a:t>
            </a:r>
          </a:p>
        </p:txBody>
      </p:sp>
      <p:sp>
        <p:nvSpPr>
          <p:cNvPr id="37" name="Rectangle 36"/>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422392"/>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330952"/>
            <a:ext cx="3973068" cy="768096"/>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 for funding.</a:t>
            </a:r>
          </a:p>
        </p:txBody>
      </p:sp>
      <p:sp>
        <p:nvSpPr>
          <p:cNvPr id="42" name="Rectangle 41"/>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487668" y="5422392"/>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87668" y="542239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8</a:t>
            </a:r>
          </a:p>
        </p:txBody>
      </p:sp>
      <p:sp>
        <p:nvSpPr>
          <p:cNvPr id="46" name="TextBox 45"/>
          <p:cNvSpPr txBox="1"/>
          <p:nvPr/>
        </p:nvSpPr>
        <p:spPr>
          <a:xfrm>
            <a:off x="7219188" y="5330952"/>
            <a:ext cx="3973068" cy="768096"/>
          </a:xfrm>
          <a:prstGeom prst="rect">
            <a:avLst/>
          </a:prstGeom>
          <a:noFill/>
        </p:spPr>
        <p:txBody>
          <a:bodyPr wrap="square" anchor="ctr">
            <a:spAutoFit/>
          </a:bodyPr>
          <a:lstStyle/>
          <a:p>
            <a:pPr algn="l">
              <a:spcAft>
                <a:spcPts val="400"/>
              </a:spcAft>
            </a:pPr>
            <a:r>
              <a:rPr sz="1500" b="0">
                <a:solidFill>
                  <a:srgbClr val="161B26"/>
                </a:solidFill>
                <a:latin typeface="Arial"/>
              </a:rPr>
              <a:t>Complete both assessments to be certified Competent.</a:t>
            </a:r>
          </a:p>
        </p:txBody>
      </p:sp>
      <p:sp>
        <p:nvSpPr>
          <p:cNvPr id="47" name="TextBox 4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48" name="TextBox 4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9" name="TextBox 4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p:transition spd="fast"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LMS / TMS  ·  lms-tms.tertiaryinfotech.com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Download Your Course Material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1 · Go to the LMS portal</a:t>
            </a:r>
          </a:p>
          <a:p>
            <a:pPr algn="l">
              <a:spcAft>
                <a:spcPts val="300"/>
              </a:spcAft>
            </a:pPr>
            <a:r>
              <a:rPr sz="1200" b="0">
                <a:solidFill>
                  <a:srgbClr val="5B6372"/>
                </a:solidFill>
                <a:latin typeface="Arial"/>
              </a:rPr>
              <a:t>Open https://lms-tms.tertiaryinfotech.com in your browser.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2 · Log in</a:t>
            </a:r>
          </a:p>
          <a:p>
            <a:pPr algn="l">
              <a:spcAft>
                <a:spcPts val="300"/>
              </a:spcAft>
            </a:pPr>
            <a:r>
              <a:rPr sz="1200" b="0">
                <a:solidFill>
                  <a:srgbClr val="5B6372"/>
                </a:solidFill>
                <a:latin typeface="Arial"/>
              </a:rPr>
              <a:t>Sign in with the account e-mail you used to register for this course.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3 · Open this course</a:t>
            </a:r>
          </a:p>
          <a:p>
            <a:pPr algn="l">
              <a:spcAft>
                <a:spcPts val="300"/>
              </a:spcAft>
            </a:pPr>
            <a:r>
              <a:rPr sz="1200" b="0">
                <a:solidFill>
                  <a:srgbClr val="5B6372"/>
                </a:solidFill>
                <a:latin typeface="Arial"/>
              </a:rPr>
              <a:t>Select 'WSQ - CompTIA Certified Data+ Training' (TGS-2024049212).</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4 · Download</a:t>
            </a:r>
          </a:p>
          <a:p>
            <a:pPr algn="l">
              <a:spcAft>
                <a:spcPts val="300"/>
              </a:spcAft>
            </a:pPr>
            <a:r>
              <a:rPr sz="1200" b="0">
                <a:solidFill>
                  <a:srgbClr val="5B6372"/>
                </a:solidFill>
                <a:latin typeface="Arial"/>
              </a:rPr>
              <a:t>Download the Trainer Slides, Learner Guide and Lesson Plan (PDF).</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5 · Get the labs</a:t>
            </a:r>
          </a:p>
          <a:p>
            <a:pPr algn="l">
              <a:spcAft>
                <a:spcPts val="300"/>
              </a:spcAft>
            </a:pPr>
            <a:r>
              <a:rPr sz="1200" b="0">
                <a:solidFill>
                  <a:srgbClr val="5B6372"/>
                </a:solidFill>
                <a:latin typeface="Arial"/>
              </a:rPr>
              <a:t>Clone or download the lab repository from GitHub — link on the next slide.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6 · Keep them open</a:t>
            </a:r>
          </a:p>
          <a:p>
            <a:pPr algn="l">
              <a:spcAft>
                <a:spcPts val="300"/>
              </a:spcAft>
            </a:pPr>
            <a:r>
              <a:rPr sz="1200" b="0">
                <a:solidFill>
                  <a:srgbClr val="5B6372"/>
                </a:solidFill>
                <a:latin typeface="Arial"/>
              </a:rPr>
              <a:t>You may use these materials during the open-book assessment.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p:transition spd="fast" advClick="1">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SKILLS FRAMEWORK  ·  TSC</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Skills Framework Alignment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TSC Title</a:t>
            </a:r>
          </a:p>
          <a:p>
            <a:pPr algn="l">
              <a:spcAft>
                <a:spcPts val="300"/>
              </a:spcAft>
            </a:pPr>
            <a:r>
              <a:rPr sz="1200" b="0">
                <a:solidFill>
                  <a:srgbClr val="5B6372"/>
                </a:solidFill>
                <a:latin typeface="Arial"/>
              </a:rPr>
              <a:t>Data Analytics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TSC Code</a:t>
            </a:r>
          </a:p>
          <a:p>
            <a:pPr algn="l">
              <a:spcAft>
                <a:spcPts val="300"/>
              </a:spcAft>
            </a:pPr>
            <a:r>
              <a:rPr sz="1200" b="0">
                <a:solidFill>
                  <a:srgbClr val="5B6372"/>
                </a:solidFill>
                <a:latin typeface="Arial"/>
              </a:rPr>
              <a:t>ATP-PIN-3001-1.1</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K1 · K2</a:t>
            </a:r>
          </a:p>
          <a:p>
            <a:pPr algn="l">
              <a:spcAft>
                <a:spcPts val="300"/>
              </a:spcAft>
            </a:pPr>
            <a:r>
              <a:rPr sz="1200" b="0">
                <a:solidFill>
                  <a:srgbClr val="5B6372"/>
                </a:solidFill>
                <a:latin typeface="Arial"/>
              </a:rPr>
              <a:t>Tools and techniques for data collection, mining, cleaning and analysis; statistical principles.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K3 · K4</a:t>
            </a:r>
          </a:p>
          <a:p>
            <a:pPr algn="l">
              <a:spcAft>
                <a:spcPts val="300"/>
              </a:spcAft>
            </a:pPr>
            <a:r>
              <a:rPr sz="1200" b="0">
                <a:solidFill>
                  <a:srgbClr val="5B6372"/>
                </a:solidFill>
                <a:latin typeface="Arial"/>
              </a:rPr>
              <a:t>Principles of communicating data effectively; procedures to extract and process data sets.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A1 · A2 · A3</a:t>
            </a:r>
          </a:p>
          <a:p>
            <a:pPr algn="l">
              <a:spcAft>
                <a:spcPts val="300"/>
              </a:spcAft>
            </a:pPr>
            <a:r>
              <a:rPr sz="1200" b="0">
                <a:solidFill>
                  <a:srgbClr val="5B6372"/>
                </a:solidFill>
                <a:latin typeface="Arial"/>
              </a:rPr>
              <a:t>Integrate multiple datasets; conduct data mining to uncover trends; derive actionable insights.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A4 · A5</a:t>
            </a:r>
          </a:p>
          <a:p>
            <a:pPr algn="l">
              <a:spcAft>
                <a:spcPts val="300"/>
              </a:spcAft>
            </a:pPr>
            <a:r>
              <a:rPr sz="1200" b="0">
                <a:solidFill>
                  <a:srgbClr val="5B6372"/>
                </a:solidFill>
                <a:latin typeface="Arial"/>
              </a:rPr>
              <a:t>Recognise sequential and sub-graph patterns; present analytics outputs visually.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p:transition spd="fast" advClick="1">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Learning Outcomes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LO1 · Integrate datasets</a:t>
            </a:r>
          </a:p>
          <a:p>
            <a:pPr algn="l">
              <a:spcAft>
                <a:spcPts val="300"/>
              </a:spcAft>
            </a:pPr>
            <a:r>
              <a:rPr sz="1200" b="0">
                <a:solidFill>
                  <a:srgbClr val="5B6372"/>
                </a:solidFill>
                <a:latin typeface="Arial"/>
              </a:rPr>
              <a:t>Integrate multiple datasets to extract and process data efficiently. (K4, A1)</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LO2 · Mine for trends</a:t>
            </a:r>
          </a:p>
          <a:p>
            <a:pPr algn="l">
              <a:spcAft>
                <a:spcPts val="300"/>
              </a:spcAft>
            </a:pPr>
            <a:r>
              <a:rPr sz="1200" b="0">
                <a:solidFill>
                  <a:srgbClr val="5B6372"/>
                </a:solidFill>
                <a:latin typeface="Arial"/>
              </a:rPr>
              <a:t>Conduct data mining to uncover and analyze trends using analysis techniques. (K1, A2)</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LO3 · Analyse statistically</a:t>
            </a:r>
          </a:p>
          <a:p>
            <a:pPr algn="l">
              <a:spcAft>
                <a:spcPts val="300"/>
              </a:spcAft>
            </a:pPr>
            <a:r>
              <a:rPr sz="1200" b="0">
                <a:solidFill>
                  <a:srgbClr val="5B6372"/>
                </a:solidFill>
                <a:latin typeface="Arial"/>
              </a:rPr>
              <a:t>Perform statistical data analysis to derive actionable insights. (K2, A3)</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LO4 · Communicate visually</a:t>
            </a:r>
          </a:p>
          <a:p>
            <a:pPr algn="l">
              <a:spcAft>
                <a:spcPts val="300"/>
              </a:spcAft>
            </a:pPr>
            <a:r>
              <a:rPr sz="1200" b="0">
                <a:solidFill>
                  <a:srgbClr val="5B6372"/>
                </a:solidFill>
                <a:latin typeface="Arial"/>
              </a:rPr>
              <a:t>Present analytical outputs visually to communicate data effectively for decision-making. (K3, A5)</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600" b="1">
                <a:solidFill>
                  <a:srgbClr val="161B26"/>
                </a:solidFill>
                <a:latin typeface="Arial"/>
              </a:rPr>
              <a:t>LO5 · Link the variables</a:t>
            </a:r>
          </a:p>
          <a:p>
            <a:pPr algn="l">
              <a:spcAft>
                <a:spcPts val="300"/>
              </a:spcAft>
            </a:pPr>
            <a:r>
              <a:rPr sz="1200" b="0">
                <a:solidFill>
                  <a:srgbClr val="5B6372"/>
                </a:solidFill>
                <a:latin typeface="Arial"/>
              </a:rPr>
              <a:t>Recognize and interpret sequential patterns to establish linkages between variables. (A4)</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p:transition spd="fast" advClick="1">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FIVE DOMAINS  ·  15 HANDS-ON LABS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Course Outline — Five Exam Domains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Domain 1 — Data Concepts and Environments  (20%)</a:t>
            </a:r>
          </a:p>
          <a:p>
            <a:pPr algn="l">
              <a:spcAft>
                <a:spcPts val="300"/>
              </a:spcAft>
            </a:pPr>
            <a:r>
              <a:rPr sz="1100" b="0">
                <a:solidFill>
                  <a:srgbClr val="5B6372"/>
                </a:solidFill>
                <a:latin typeface="Arial"/>
              </a:rPr>
              <a:t>Database types · data structures · file extensions · data types · data sources · infrastructure · tools · AI concepts</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Domain 2 — Data Acquisition and Preparation  (22%)</a:t>
            </a:r>
          </a:p>
          <a:p>
            <a:pPr algn="l">
              <a:spcAft>
                <a:spcPts val="300"/>
              </a:spcAft>
            </a:pPr>
            <a:r>
              <a:rPr sz="1100" b="0">
                <a:solidFill>
                  <a:srgbClr val="5B6372"/>
                </a:solidFill>
                <a:latin typeface="Arial"/>
              </a:rPr>
              <a:t>Data integration · queries · exploration · missing values · duplication · outliers · cleansing · parsing · formatting</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Domain 3 — Data Analysis  (24%)</a:t>
            </a:r>
          </a:p>
          <a:p>
            <a:pPr algn="l">
              <a:spcAft>
                <a:spcPts val="300"/>
              </a:spcAft>
            </a:pPr>
            <a:r>
              <a:rPr sz="1100" b="0">
                <a:solidFill>
                  <a:srgbClr val="5B6372"/>
                </a:solidFill>
                <a:latin typeface="Arial"/>
              </a:rPr>
              <a:t>Descriptive statistics · inferential methods · analysis types · communicating results · troubleshooting</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Domain 4 — Visualization and Reporting  (20%)</a:t>
            </a:r>
          </a:p>
          <a:p>
            <a:pPr algn="l">
              <a:spcAft>
                <a:spcPts val="300"/>
              </a:spcAft>
            </a:pPr>
            <a:r>
              <a:rPr sz="1100" b="0">
                <a:solidFill>
                  <a:srgbClr val="5B6372"/>
                </a:solidFill>
                <a:latin typeface="Arial"/>
              </a:rPr>
              <a:t>Chart selection · maps · tables · design elements · dashboards · report types · validation</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Domain 5 — Data Governance, Quality and Controls  (14%)</a:t>
            </a:r>
          </a:p>
          <a:p>
            <a:pPr algn="l">
              <a:spcAft>
                <a:spcPts val="300"/>
              </a:spcAft>
            </a:pPr>
            <a:r>
              <a:rPr sz="1100" b="0">
                <a:solidFill>
                  <a:srgbClr val="5B6372"/>
                </a:solidFill>
                <a:latin typeface="Arial"/>
              </a:rPr>
              <a:t>Documentation · versioning · lineage · compliance · retention · privacy · encryption · masking · quality assurance</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p:transition spd="fast" advClick="1">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EXAM BLUEPRINT  ·  DA0-001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the CompTIA Data+ Exam Is Weighted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1F6FEB"/>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Data Analysis (24%) and Data Acquisition &amp; Preparation (22%) together make up 46% of the exam — which is why Days 2 and 3 carry the heaviest lab load.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p:transition spd="fast" advClick="1">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  ·  1 OF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Lesson Plan — Days 1 to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Days 1 and 2</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3</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1 — Data Concepts, Schemas and Environments</a:t>
            </a:r>
          </a:p>
          <a:p>
            <a:pPr>
              <a:spcAft>
                <a:spcPts val="1000"/>
              </a:spcAft>
            </a:pPr>
            <a:r>
              <a:rPr sz="1400" b="0">
                <a:solidFill>
                  <a:srgbClr val="5B6372"/>
                </a:solidFill>
                <a:latin typeface="Arial"/>
              </a:rPr>
              <a:t>–  Digital Attendance (AM) · Introductions</a:t>
            </a:r>
          </a:p>
          <a:p>
            <a:pPr>
              <a:spcAft>
                <a:spcPts val="1000"/>
              </a:spcAft>
            </a:pPr>
            <a:r>
              <a:rPr sz="1400" b="0">
                <a:solidFill>
                  <a:srgbClr val="5B6372"/>
                </a:solidFill>
                <a:latin typeface="Arial"/>
              </a:rPr>
              <a:t>–  Learning Outcomes · Course Outline</a:t>
            </a:r>
          </a:p>
          <a:p>
            <a:pPr>
              <a:spcAft>
                <a:spcPts val="1000"/>
              </a:spcAft>
            </a:pPr>
            <a:r>
              <a:rPr sz="1400" b="0">
                <a:solidFill>
                  <a:srgbClr val="5B6372"/>
                </a:solidFill>
                <a:latin typeface="Arial"/>
              </a:rPr>
              <a:t>–  Domain 1: Data Concepts (Labs 1–3)</a:t>
            </a:r>
          </a:p>
          <a:p>
            <a:pPr>
              <a:spcAft>
                <a:spcPts val="1000"/>
              </a:spcAft>
            </a:pPr>
            <a:r>
              <a:rPr sz="1400" b="0">
                <a:solidFill>
                  <a:srgbClr val="5B6372"/>
                </a:solidFill>
                <a:latin typeface="Arial"/>
              </a:rPr>
              <a:t>–  Lunch · Digital Attendance (PM)</a:t>
            </a:r>
          </a:p>
          <a:p>
            <a:pPr>
              <a:spcAft>
                <a:spcPts val="1000"/>
              </a:spcAft>
            </a:pPr>
            <a:r>
              <a:rPr sz="1600" b="0">
                <a:solidFill>
                  <a:srgbClr val="161B26"/>
                </a:solidFill>
                <a:latin typeface="Arial"/>
              </a:rPr>
              <a:t>•  Day 2 — Data Acquisition, Exploration and Preparation</a:t>
            </a:r>
          </a:p>
          <a:p>
            <a:pPr>
              <a:spcAft>
                <a:spcPts val="1000"/>
              </a:spcAft>
            </a:pPr>
            <a:r>
              <a:rPr sz="1400" b="0">
                <a:solidFill>
                  <a:srgbClr val="5B6372"/>
                </a:solidFill>
                <a:latin typeface="Arial"/>
              </a:rPr>
              <a:t>–  Domain 2: Acquisition &amp; Preparation</a:t>
            </a:r>
          </a:p>
          <a:p>
            <a:pPr>
              <a:spcAft>
                <a:spcPts val="1000"/>
              </a:spcAft>
            </a:pPr>
            <a:r>
              <a:rPr sz="1400" b="0">
                <a:solidFill>
                  <a:srgbClr val="5B6372"/>
                </a:solidFill>
                <a:latin typeface="Arial"/>
              </a:rPr>
              <a:t>–  Labs 4–7 · profiling, parsing, joins</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3 — Data Analysis — Descriptive and Inferential Statistics</a:t>
            </a:r>
          </a:p>
          <a:p>
            <a:pPr>
              <a:spcAft>
                <a:spcPts val="1000"/>
              </a:spcAft>
            </a:pPr>
            <a:r>
              <a:rPr sz="1400" b="0">
                <a:solidFill>
                  <a:srgbClr val="5B6372"/>
                </a:solidFill>
                <a:latin typeface="Arial"/>
              </a:rPr>
              <a:t>–  Domain 3: Data Analysis</a:t>
            </a:r>
          </a:p>
          <a:p>
            <a:pPr>
              <a:spcAft>
                <a:spcPts val="1000"/>
              </a:spcAft>
            </a:pPr>
            <a:r>
              <a:rPr sz="1400" b="0">
                <a:solidFill>
                  <a:srgbClr val="5B6372"/>
                </a:solidFill>
                <a:latin typeface="Arial"/>
              </a:rPr>
              <a:t>–  Descriptive statistics (Lab 8)</a:t>
            </a:r>
          </a:p>
          <a:p>
            <a:pPr>
              <a:spcAft>
                <a:spcPts val="1000"/>
              </a:spcAft>
            </a:pPr>
            <a:r>
              <a:rPr sz="1400" b="0">
                <a:solidFill>
                  <a:srgbClr val="5B6372"/>
                </a:solidFill>
                <a:latin typeface="Arial"/>
              </a:rPr>
              <a:t>–  Hypothesis testing (Lab 9)</a:t>
            </a:r>
          </a:p>
          <a:p>
            <a:pPr>
              <a:spcAft>
                <a:spcPts val="1000"/>
              </a:spcAft>
            </a:pPr>
            <a:r>
              <a:rPr sz="1400" b="0">
                <a:solidFill>
                  <a:srgbClr val="5B6372"/>
                </a:solidFill>
                <a:latin typeface="Arial"/>
              </a:rPr>
              <a:t>–  Correlation and regression (Lab 10)</a:t>
            </a:r>
          </a:p>
          <a:p>
            <a:pPr>
              <a:spcAft>
                <a:spcPts val="1000"/>
              </a:spcAft>
            </a:pPr>
            <a:r>
              <a:rPr sz="1600" b="0">
                <a:solidFill>
                  <a:srgbClr val="161B26"/>
                </a:solidFill>
                <a:latin typeface="Arial"/>
              </a:rPr>
              <a:t>•  Every day</a:t>
            </a:r>
          </a:p>
          <a:p>
            <a:pPr>
              <a:spcAft>
                <a:spcPts val="1000"/>
              </a:spcAft>
            </a:pPr>
            <a:r>
              <a:rPr sz="1400" b="0">
                <a:solidFill>
                  <a:srgbClr val="5B6372"/>
                </a:solidFill>
                <a:latin typeface="Arial"/>
              </a:rPr>
              <a:t>–  9:00 am – 6:00 pm · 8 training hours</a:t>
            </a:r>
          </a:p>
          <a:p>
            <a:pPr>
              <a:spcAft>
                <a:spcPts val="1000"/>
              </a:spcAft>
            </a:pPr>
            <a:r>
              <a:rPr sz="1400" b="0">
                <a:solidFill>
                  <a:srgbClr val="5B6372"/>
                </a:solidFill>
                <a:latin typeface="Arial"/>
              </a:rPr>
              <a:t>–  1-hour lunch; tea breaks within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p:transition spd="fast" advClick="1">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  ·  2 OF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Lesson Plan — Days 4 and 5</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96596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4</a:t>
            </a:r>
          </a:p>
        </p:txBody>
      </p:sp>
      <p:sp>
        <p:nvSpPr>
          <p:cNvPr id="10" name="TextBox 9"/>
          <p:cNvSpPr txBox="1"/>
          <p:nvPr/>
        </p:nvSpPr>
        <p:spPr>
          <a:xfrm>
            <a:off x="6583680" y="196596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5</a:t>
            </a:r>
          </a:p>
        </p:txBody>
      </p:sp>
      <p:sp>
        <p:nvSpPr>
          <p:cNvPr id="11" name="TextBox 10"/>
          <p:cNvSpPr txBox="1"/>
          <p:nvPr/>
        </p:nvSpPr>
        <p:spPr>
          <a:xfrm>
            <a:off x="1005840" y="2468880"/>
            <a:ext cx="4754880" cy="3474720"/>
          </a:xfrm>
          <a:prstGeom prst="rect">
            <a:avLst/>
          </a:prstGeom>
          <a:noFill/>
        </p:spPr>
        <p:txBody>
          <a:bodyPr wrap="square">
            <a:spAutoFit/>
          </a:bodyPr>
          <a:lstStyle/>
          <a:p>
            <a:pPr>
              <a:spcAft>
                <a:spcPts val="1000"/>
              </a:spcAft>
            </a:pPr>
            <a:r>
              <a:rPr sz="1600" b="0">
                <a:solidFill>
                  <a:srgbClr val="161B26"/>
                </a:solidFill>
                <a:latin typeface="Arial"/>
              </a:rPr>
              <a:t>•  Day 4 — Visualization, Dashboards and Reporting</a:t>
            </a:r>
          </a:p>
          <a:p>
            <a:pPr>
              <a:spcAft>
                <a:spcPts val="1000"/>
              </a:spcAft>
            </a:pPr>
            <a:r>
              <a:rPr sz="1400" b="0">
                <a:solidFill>
                  <a:srgbClr val="5B6372"/>
                </a:solidFill>
                <a:latin typeface="Arial"/>
              </a:rPr>
              <a:t>–  Domain 4: Visualization and Reporting</a:t>
            </a:r>
          </a:p>
          <a:p>
            <a:pPr>
              <a:spcAft>
                <a:spcPts val="1000"/>
              </a:spcAft>
            </a:pPr>
            <a:r>
              <a:rPr sz="1400" b="0">
                <a:solidFill>
                  <a:srgbClr val="5B6372"/>
                </a:solidFill>
                <a:latin typeface="Arial"/>
              </a:rPr>
              <a:t>–  Chart selection (Lab 11)</a:t>
            </a:r>
          </a:p>
          <a:p>
            <a:pPr>
              <a:spcAft>
                <a:spcPts val="1000"/>
              </a:spcAft>
            </a:pPr>
            <a:r>
              <a:rPr sz="1400" b="0">
                <a:solidFill>
                  <a:srgbClr val="5B6372"/>
                </a:solidFill>
                <a:latin typeface="Arial"/>
              </a:rPr>
              <a:t>–  KPI dashboard and validation (Lab 12)</a:t>
            </a:r>
          </a:p>
          <a:p>
            <a:pPr>
              <a:spcAft>
                <a:spcPts val="1000"/>
              </a:spcAft>
            </a:pPr>
            <a:r>
              <a:rPr sz="1400" b="0">
                <a:solidFill>
                  <a:srgbClr val="5B6372"/>
                </a:solidFill>
                <a:latin typeface="Arial"/>
              </a:rPr>
              <a:t>–  Report types and design principles</a:t>
            </a:r>
          </a:p>
          <a:p>
            <a:pPr>
              <a:spcAft>
                <a:spcPts val="1000"/>
              </a:spcAft>
            </a:pPr>
            <a:r>
              <a:rPr sz="1400" b="0">
                <a:solidFill>
                  <a:srgbClr val="5B6372"/>
                </a:solidFill>
                <a:latin typeface="Arial"/>
              </a:rPr>
              <a:t>–  Lunch · Digital Attendance (PM)</a:t>
            </a:r>
          </a:p>
        </p:txBody>
      </p:sp>
      <p:sp>
        <p:nvSpPr>
          <p:cNvPr id="12" name="TextBox 11"/>
          <p:cNvSpPr txBox="1"/>
          <p:nvPr/>
        </p:nvSpPr>
        <p:spPr>
          <a:xfrm>
            <a:off x="6583680" y="2468880"/>
            <a:ext cx="4617720" cy="3474720"/>
          </a:xfrm>
          <a:prstGeom prst="rect">
            <a:avLst/>
          </a:prstGeom>
          <a:noFill/>
        </p:spPr>
        <p:txBody>
          <a:bodyPr wrap="square">
            <a:spAutoFit/>
          </a:bodyPr>
          <a:lstStyle/>
          <a:p>
            <a:pPr>
              <a:spcAft>
                <a:spcPts val="1000"/>
              </a:spcAft>
            </a:pPr>
            <a:r>
              <a:rPr sz="1600" b="0">
                <a:solidFill>
                  <a:srgbClr val="161B26"/>
                </a:solidFill>
                <a:latin typeface="Arial"/>
              </a:rPr>
              <a:t>•  Day 5 — Data Governance, Quality, Controls and Final Assessment</a:t>
            </a:r>
          </a:p>
          <a:p>
            <a:pPr>
              <a:spcAft>
                <a:spcPts val="1000"/>
              </a:spcAft>
            </a:pPr>
            <a:r>
              <a:rPr sz="1400" b="0">
                <a:solidFill>
                  <a:srgbClr val="5B6372"/>
                </a:solidFill>
                <a:latin typeface="Arial"/>
              </a:rPr>
              <a:t>–  Domain 5: Governance, Quality, Controls</a:t>
            </a:r>
          </a:p>
          <a:p>
            <a:pPr>
              <a:spcAft>
                <a:spcPts val="1000"/>
              </a:spcAft>
            </a:pPr>
            <a:r>
              <a:rPr sz="1400" b="0">
                <a:solidFill>
                  <a:srgbClr val="5B6372"/>
                </a:solidFill>
                <a:latin typeface="Arial"/>
              </a:rPr>
              <a:t>–  Labs 13–15 · protect, assess risk, automate QA</a:t>
            </a:r>
          </a:p>
          <a:p>
            <a:pPr>
              <a:spcAft>
                <a:spcPts val="1000"/>
              </a:spcAft>
            </a:pPr>
            <a:r>
              <a:rPr sz="1400" b="0">
                <a:solidFill>
                  <a:srgbClr val="5B6372"/>
                </a:solidFill>
                <a:latin typeface="Arial"/>
              </a:rPr>
              <a:t>–  Revision across all five domains</a:t>
            </a:r>
          </a:p>
          <a:p>
            <a:pPr>
              <a:spcAft>
                <a:spcPts val="1000"/>
              </a:spcAft>
            </a:pPr>
            <a:r>
              <a:rPr sz="1400" b="0">
                <a:solidFill>
                  <a:srgbClr val="5B6372"/>
                </a:solidFill>
                <a:latin typeface="Arial"/>
              </a:rPr>
              <a:t>–  Course Feedback and TRAQOM Survey</a:t>
            </a:r>
          </a:p>
          <a:p>
            <a:pPr>
              <a:spcAft>
                <a:spcPts val="1000"/>
              </a:spcAft>
            </a:pPr>
            <a:r>
              <a:rPr sz="1400" b="0">
                <a:solidFill>
                  <a:srgbClr val="5B6372"/>
                </a:solidFill>
                <a:latin typeface="Arial"/>
              </a:rPr>
              <a:t>–  Digital Attendance (Assessment)</a:t>
            </a:r>
          </a:p>
          <a:p>
            <a:pPr>
              <a:spcAft>
                <a:spcPts val="1000"/>
              </a:spcAft>
            </a:pPr>
            <a:r>
              <a:rPr sz="1400" b="0">
                <a:solidFill>
                  <a:srgbClr val="5B6372"/>
                </a:solidFill>
                <a:latin typeface="Arial"/>
              </a:rPr>
              <a:t>–  Final Assessment 4:00–6:00 PM</a:t>
            </a:r>
          </a:p>
          <a:p>
            <a:pPr>
              <a:spcAft>
                <a:spcPts val="1000"/>
              </a:spcAft>
            </a:pPr>
            <a:r>
              <a:rPr sz="1400" b="0">
                <a:solidFill>
                  <a:srgbClr val="5B6372"/>
                </a:solidFill>
                <a:latin typeface="Arial"/>
              </a:rPr>
              <a:t>–  WA (1 hr) then PP (1 hr) · open book</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p:transition spd="fast" advClick="1">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TOOLS YOU'LL USE  ·  ALL BROWSER-BASED</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Your Lab Environment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Killercoda Ubuntu Playground</a:t>
            </a:r>
          </a:p>
          <a:p>
            <a:pPr algn="l">
              <a:spcAft>
                <a:spcPts val="300"/>
              </a:spcAft>
            </a:pPr>
            <a:r>
              <a:rPr sz="1100" b="0">
                <a:solidFill>
                  <a:srgbClr val="5B6372"/>
                </a:solidFill>
                <a:latin typeface="Arial"/>
              </a:rPr>
              <a:t>A free, browser-based Ubuntu terminal with Python 3, pandas and SQLite — no local install needed.  ·  https://killercoda.com/playgrounds/scenario/ubuntu</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RegexLab</a:t>
            </a:r>
          </a:p>
          <a:p>
            <a:pPr algn="l">
              <a:spcAft>
                <a:spcPts val="300"/>
              </a:spcAft>
            </a:pPr>
            <a:r>
              <a:rPr sz="1100" b="0">
                <a:solidFill>
                  <a:srgbClr val="5B6372"/>
                </a:solidFill>
                <a:latin typeface="Arial"/>
              </a:rPr>
              <a:t>Real-time regular-expression tester used to build and validate the parsing patterns that clean messy text fields.  ·  https://alfredang.github.io/regexgenerator/</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PCAP Analyzer</a:t>
            </a:r>
          </a:p>
          <a:p>
            <a:pPr algn="l">
              <a:spcAft>
                <a:spcPts val="300"/>
              </a:spcAft>
            </a:pPr>
            <a:r>
              <a:rPr sz="1100" b="0">
                <a:solidFill>
                  <a:srgbClr val="5B6372"/>
                </a:solidFill>
                <a:latin typeface="Arial"/>
              </a:rPr>
              <a:t>Browser-based packet-capture analyser — the course's worked example of machine/log data as a data source.  ·  https://alfredang.github.io/pcapanalyzer/</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IP Calculator</a:t>
            </a:r>
          </a:p>
          <a:p>
            <a:pPr algn="l">
              <a:spcAft>
                <a:spcPts val="300"/>
              </a:spcAft>
            </a:pPr>
            <a:r>
              <a:rPr sz="1100" b="0">
                <a:solidFill>
                  <a:srgbClr val="5B6372"/>
                </a:solidFill>
                <a:latin typeface="Arial"/>
              </a:rPr>
              <a:t>Subnet calculator used to derive structured numeric fields from raw network address data.  ·  https://alfredang.github.io/ipcalculator/</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500" b="1">
                <a:solidFill>
                  <a:srgbClr val="161B26"/>
                </a:solidFill>
                <a:latin typeface="Arial"/>
              </a:rPr>
              <a:t>Cybersecurity Threat Simulator</a:t>
            </a:r>
          </a:p>
          <a:p>
            <a:pPr algn="l">
              <a:spcAft>
                <a:spcPts val="300"/>
              </a:spcAft>
            </a:pPr>
            <a:r>
              <a:rPr sz="1100" b="0">
                <a:solidFill>
                  <a:srgbClr val="5B6372"/>
                </a:solidFill>
                <a:latin typeface="Arial"/>
              </a:rPr>
              <a:t>Risk-scoring and data-leakage simulator used in the governance domain to reason about classification and protection.  ·  https://alfredang.github.io/cybersecuritysimulator/</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p:transition spd="fast" advClick="1">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GITHUB  ·  ALL 15 LABS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Access the Hands-On Labs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37360"/>
            <a:ext cx="10634472" cy="7132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37360"/>
            <a:ext cx="100584" cy="7132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847088"/>
            <a:ext cx="10058400" cy="502920"/>
          </a:xfrm>
          <a:prstGeom prst="rect">
            <a:avLst/>
          </a:prstGeom>
          <a:noFill/>
        </p:spPr>
        <p:txBody>
          <a:bodyPr wrap="square">
            <a:spAutoFit/>
          </a:bodyPr>
          <a:lstStyle/>
          <a:p>
            <a:r>
              <a:rPr sz="1300">
                <a:solidFill>
                  <a:srgbClr val="5B6372"/>
                </a:solidFill>
                <a:latin typeface="Arial"/>
              </a:rPr>
              <a:t>Repository:  </a:t>
            </a:r>
            <a:r>
              <a:rPr sz="1400" b="1">
                <a:solidFill>
                  <a:srgbClr val="1F6FEB"/>
                </a:solidFill>
                <a:latin typeface="Arial"/>
                <a:hlinkClick r:id="rId2"/>
              </a:rPr>
              <a:t>https://github.com/tertiarycourses/TGS-2024049212-CompTIA-Certified-Data-Training</a:t>
            </a:r>
          </a:p>
        </p:txBody>
      </p:sp>
      <p:sp>
        <p:nvSpPr>
          <p:cNvPr id="10" name="Rectangle 9"/>
          <p:cNvSpPr/>
          <p:nvPr/>
        </p:nvSpPr>
        <p:spPr>
          <a:xfrm>
            <a:off x="777240" y="2743200"/>
            <a:ext cx="5056632" cy="2377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77240" y="2743200"/>
            <a:ext cx="5056632"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2944368"/>
            <a:ext cx="4572000" cy="365760"/>
          </a:xfrm>
          <a:prstGeom prst="rect">
            <a:avLst/>
          </a:prstGeom>
          <a:noFill/>
        </p:spPr>
        <p:txBody>
          <a:bodyPr wrap="square" anchor="t">
            <a:spAutoFit/>
          </a:bodyPr>
          <a:lstStyle/>
          <a:p>
            <a:pPr algn="l">
              <a:spcAft>
                <a:spcPts val="400"/>
              </a:spcAft>
            </a:pPr>
            <a:r>
              <a:rPr sz="1500" b="1">
                <a:solidFill>
                  <a:srgbClr val="1F6FEB"/>
                </a:solidFill>
                <a:latin typeface="Arial"/>
              </a:rPr>
              <a:t>OPTION A · CLONE</a:t>
            </a:r>
          </a:p>
        </p:txBody>
      </p:sp>
      <p:sp>
        <p:nvSpPr>
          <p:cNvPr id="13" name="TextBox 12"/>
          <p:cNvSpPr txBox="1"/>
          <p:nvPr/>
        </p:nvSpPr>
        <p:spPr>
          <a:xfrm>
            <a:off x="1051560" y="3401568"/>
            <a:ext cx="4572000" cy="457200"/>
          </a:xfrm>
          <a:prstGeom prst="rect">
            <a:avLst/>
          </a:prstGeom>
          <a:noFill/>
        </p:spPr>
        <p:txBody>
          <a:bodyPr wrap="square" anchor="t">
            <a:spAutoFit/>
          </a:bodyPr>
          <a:lstStyle/>
          <a:p>
            <a:pPr algn="l">
              <a:spcAft>
                <a:spcPts val="400"/>
              </a:spcAft>
            </a:pPr>
            <a:r>
              <a:rPr sz="1200" b="0">
                <a:solidFill>
                  <a:srgbClr val="161B26"/>
                </a:solidFill>
                <a:latin typeface="Arial"/>
              </a:rPr>
              <a:t>•  Open the Killercoda Ubuntu playground.</a:t>
            </a:r>
          </a:p>
        </p:txBody>
      </p:sp>
      <p:sp>
        <p:nvSpPr>
          <p:cNvPr id="14" name="TextBox 13"/>
          <p:cNvSpPr txBox="1"/>
          <p:nvPr/>
        </p:nvSpPr>
        <p:spPr>
          <a:xfrm>
            <a:off x="1051560" y="3904488"/>
            <a:ext cx="4572000" cy="457200"/>
          </a:xfrm>
          <a:prstGeom prst="rect">
            <a:avLst/>
          </a:prstGeom>
          <a:noFill/>
        </p:spPr>
        <p:txBody>
          <a:bodyPr wrap="square" anchor="t">
            <a:spAutoFit/>
          </a:bodyPr>
          <a:lstStyle/>
          <a:p>
            <a:pPr algn="l">
              <a:spcAft>
                <a:spcPts val="400"/>
              </a:spcAft>
            </a:pPr>
            <a:r>
              <a:rPr sz="1200" b="0">
                <a:solidFill>
                  <a:srgbClr val="161B26"/>
                </a:solidFill>
                <a:latin typeface="Arial"/>
              </a:rPr>
              <a:t>•  git clone https://github.com/tertiarycourses/TGS-2024049212-CompTIA-Certified-Data-Training.git</a:t>
            </a:r>
          </a:p>
        </p:txBody>
      </p:sp>
      <p:sp>
        <p:nvSpPr>
          <p:cNvPr id="15" name="TextBox 14"/>
          <p:cNvSpPr txBox="1"/>
          <p:nvPr/>
        </p:nvSpPr>
        <p:spPr>
          <a:xfrm>
            <a:off x="1051560" y="4407408"/>
            <a:ext cx="4572000" cy="457200"/>
          </a:xfrm>
          <a:prstGeom prst="rect">
            <a:avLst/>
          </a:prstGeom>
          <a:noFill/>
        </p:spPr>
        <p:txBody>
          <a:bodyPr wrap="square" anchor="t">
            <a:spAutoFit/>
          </a:bodyPr>
          <a:lstStyle/>
          <a:p>
            <a:pPr algn="l">
              <a:spcAft>
                <a:spcPts val="400"/>
              </a:spcAft>
            </a:pPr>
            <a:r>
              <a:rPr sz="1200" b="0">
                <a:solidFill>
                  <a:srgbClr val="161B26"/>
                </a:solidFill>
                <a:latin typeface="Arial"/>
              </a:rPr>
              <a:t>•  cd into the labs folder and start Lab 1.</a:t>
            </a:r>
          </a:p>
        </p:txBody>
      </p:sp>
      <p:sp>
        <p:nvSpPr>
          <p:cNvPr id="16" name="Rectangle 15"/>
          <p:cNvSpPr/>
          <p:nvPr/>
        </p:nvSpPr>
        <p:spPr>
          <a:xfrm>
            <a:off x="6355080" y="2743200"/>
            <a:ext cx="5056632" cy="2377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55080" y="2743200"/>
            <a:ext cx="5056632" cy="1097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29400" y="2944368"/>
            <a:ext cx="4572000" cy="365760"/>
          </a:xfrm>
          <a:prstGeom prst="rect">
            <a:avLst/>
          </a:prstGeom>
          <a:noFill/>
        </p:spPr>
        <p:txBody>
          <a:bodyPr wrap="square" anchor="t">
            <a:spAutoFit/>
          </a:bodyPr>
          <a:lstStyle/>
          <a:p>
            <a:pPr algn="l">
              <a:spcAft>
                <a:spcPts val="400"/>
              </a:spcAft>
            </a:pPr>
            <a:r>
              <a:rPr sz="1500" b="1">
                <a:solidFill>
                  <a:srgbClr val="10B981"/>
                </a:solidFill>
                <a:latin typeface="Arial"/>
              </a:rPr>
              <a:t>OPTION B · DOWNLOAD ZIP</a:t>
            </a:r>
          </a:p>
        </p:txBody>
      </p:sp>
      <p:sp>
        <p:nvSpPr>
          <p:cNvPr id="19" name="TextBox 18"/>
          <p:cNvSpPr txBox="1"/>
          <p:nvPr/>
        </p:nvSpPr>
        <p:spPr>
          <a:xfrm>
            <a:off x="6629400" y="3401568"/>
            <a:ext cx="4572000" cy="457200"/>
          </a:xfrm>
          <a:prstGeom prst="rect">
            <a:avLst/>
          </a:prstGeom>
          <a:noFill/>
        </p:spPr>
        <p:txBody>
          <a:bodyPr wrap="square" anchor="t">
            <a:spAutoFit/>
          </a:bodyPr>
          <a:lstStyle/>
          <a:p>
            <a:pPr algn="l">
              <a:spcAft>
                <a:spcPts val="400"/>
              </a:spcAft>
            </a:pPr>
            <a:r>
              <a:rPr sz="1200" b="0">
                <a:solidFill>
                  <a:srgbClr val="161B26"/>
                </a:solidFill>
                <a:latin typeface="Arial"/>
              </a:rPr>
              <a:t>•  Open the repository page on GitHub.</a:t>
            </a:r>
          </a:p>
        </p:txBody>
      </p:sp>
      <p:sp>
        <p:nvSpPr>
          <p:cNvPr id="20" name="TextBox 19"/>
          <p:cNvSpPr txBox="1"/>
          <p:nvPr/>
        </p:nvSpPr>
        <p:spPr>
          <a:xfrm>
            <a:off x="6629400" y="3904488"/>
            <a:ext cx="4572000" cy="457200"/>
          </a:xfrm>
          <a:prstGeom prst="rect">
            <a:avLst/>
          </a:prstGeom>
          <a:noFill/>
        </p:spPr>
        <p:txBody>
          <a:bodyPr wrap="square" anchor="t">
            <a:spAutoFit/>
          </a:bodyPr>
          <a:lstStyle/>
          <a:p>
            <a:pPr algn="l">
              <a:spcAft>
                <a:spcPts val="400"/>
              </a:spcAft>
            </a:pPr>
            <a:r>
              <a:rPr sz="1200" b="0">
                <a:solidFill>
                  <a:srgbClr val="161B26"/>
                </a:solidFill>
                <a:latin typeface="Arial"/>
              </a:rPr>
              <a:t>•  Click the green Code button → Download ZIP.</a:t>
            </a:r>
          </a:p>
        </p:txBody>
      </p:sp>
      <p:sp>
        <p:nvSpPr>
          <p:cNvPr id="21" name="TextBox 20"/>
          <p:cNvSpPr txBox="1"/>
          <p:nvPr/>
        </p:nvSpPr>
        <p:spPr>
          <a:xfrm>
            <a:off x="6629400" y="4407408"/>
            <a:ext cx="4572000" cy="457200"/>
          </a:xfrm>
          <a:prstGeom prst="rect">
            <a:avLst/>
          </a:prstGeom>
          <a:noFill/>
        </p:spPr>
        <p:txBody>
          <a:bodyPr wrap="square" anchor="t">
            <a:spAutoFit/>
          </a:bodyPr>
          <a:lstStyle/>
          <a:p>
            <a:pPr algn="l">
              <a:spcAft>
                <a:spcPts val="400"/>
              </a:spcAft>
            </a:pPr>
            <a:r>
              <a:rPr sz="1200" b="0">
                <a:solidFill>
                  <a:srgbClr val="161B26"/>
                </a:solidFill>
                <a:latin typeface="Arial"/>
              </a:rPr>
              <a:t>•  Unzip it and open the labs folder.</a:t>
            </a:r>
          </a:p>
        </p:txBody>
      </p:sp>
      <p:sp>
        <p:nvSpPr>
          <p:cNvPr id="22" name="Rectangle 21"/>
          <p:cNvSpPr/>
          <p:nvPr/>
        </p:nvSpPr>
        <p:spPr>
          <a:xfrm>
            <a:off x="777240" y="5394960"/>
            <a:ext cx="10634472" cy="868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394960"/>
            <a:ext cx="100584" cy="86868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97280" y="5504688"/>
            <a:ext cx="10058400" cy="292608"/>
          </a:xfrm>
          <a:prstGeom prst="rect">
            <a:avLst/>
          </a:prstGeom>
          <a:noFill/>
        </p:spPr>
        <p:txBody>
          <a:bodyPr wrap="square" anchor="t">
            <a:spAutoFit/>
          </a:bodyPr>
          <a:lstStyle/>
          <a:p>
            <a:pPr algn="l">
              <a:spcAft>
                <a:spcPts val="400"/>
              </a:spcAft>
            </a:pPr>
            <a:r>
              <a:rPr sz="1100" b="1">
                <a:solidFill>
                  <a:srgbClr val="10B981"/>
                </a:solidFill>
                <a:latin typeface="Arial"/>
              </a:rPr>
              <a:t>NO INSTALL NEEDED</a:t>
            </a:r>
          </a:p>
        </p:txBody>
      </p:sp>
      <p:sp>
        <p:nvSpPr>
          <p:cNvPr id="25" name="TextBox 24"/>
          <p:cNvSpPr txBox="1"/>
          <p:nvPr/>
        </p:nvSpPr>
        <p:spPr>
          <a:xfrm>
            <a:off x="1097280" y="5797296"/>
            <a:ext cx="10058400" cy="384048"/>
          </a:xfrm>
          <a:prstGeom prst="rect">
            <a:avLst/>
          </a:prstGeom>
          <a:noFill/>
        </p:spPr>
        <p:txBody>
          <a:bodyPr wrap="square" anchor="t">
            <a:spAutoFit/>
          </a:bodyPr>
          <a:lstStyle/>
          <a:p>
            <a:pPr algn="l">
              <a:spcAft>
                <a:spcPts val="400"/>
              </a:spcAft>
            </a:pPr>
            <a:r>
              <a:rPr sz="1200" b="0">
                <a:solidFill>
                  <a:srgbClr val="161B26"/>
                </a:solidFill>
                <a:latin typeface="Arial"/>
              </a:rPr>
              <a:t>Every lab runs free in the browser on the Killercoda Ubuntu playground — https://killercoda.com/playgrounds/scenario/ubuntu</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p:transition spd="fast" advClick="1">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BEFORE YOU START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Briefing for 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Clear your desk</a:t>
            </a:r>
          </a:p>
          <a:p>
            <a:pPr algn="l">
              <a:spcAft>
                <a:spcPts val="300"/>
              </a:spcAft>
            </a:pPr>
            <a:r>
              <a:rPr sz="1200" b="0">
                <a:solidFill>
                  <a:srgbClr val="5B6372"/>
                </a:solidFill>
                <a:latin typeface="Arial"/>
              </a:rPr>
              <a:t>Place phones and other materials under the table or on the floor.</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recording</a:t>
            </a:r>
          </a:p>
          <a:p>
            <a:pPr algn="l">
              <a:spcAft>
                <a:spcPts val="300"/>
              </a:spcAft>
            </a:pPr>
            <a:r>
              <a:rPr sz="1200" b="0">
                <a:solidFill>
                  <a:srgbClr val="5B6372"/>
                </a:solidFill>
                <a:latin typeface="Arial"/>
              </a:rPr>
              <a:t>No photos or recording of assessment scripts.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discussion</a:t>
            </a:r>
          </a:p>
          <a:p>
            <a:pPr algn="l">
              <a:spcAft>
                <a:spcPts val="300"/>
              </a:spcAft>
            </a:pPr>
            <a:r>
              <a:rPr sz="1200" b="0">
                <a:solidFill>
                  <a:srgbClr val="5B6372"/>
                </a:solidFill>
                <a:latin typeface="Arial"/>
              </a:rPr>
              <a:t>Work individually — no discussion during the assessment.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Black or blue pen</a:t>
            </a:r>
          </a:p>
          <a:p>
            <a:pPr algn="l">
              <a:spcAft>
                <a:spcPts val="300"/>
              </a:spcAft>
            </a:pPr>
            <a:r>
              <a:rPr sz="1200" b="0">
                <a:solidFill>
                  <a:srgbClr val="5B6372"/>
                </a:solidFill>
                <a:latin typeface="Arial"/>
              </a:rPr>
              <a:t>Use a black or blue pen for hard-copy assessments.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Don't · No correction fluid</a:t>
            </a:r>
          </a:p>
          <a:p>
            <a:pPr algn="l">
              <a:spcAft>
                <a:spcPts val="300"/>
              </a:spcAft>
            </a:pPr>
            <a:r>
              <a:rPr sz="1200" b="0">
                <a:solidFill>
                  <a:srgbClr val="5B6372"/>
                </a:solidFill>
                <a:latin typeface="Arial"/>
              </a:rPr>
              <a:t>No liquid paper or correction tape may be used.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Do · Stop on time</a:t>
            </a:r>
          </a:p>
          <a:p>
            <a:pPr algn="l">
              <a:spcAft>
                <a:spcPts val="300"/>
              </a:spcAft>
            </a:pPr>
            <a:r>
              <a:rPr sz="1200" b="0">
                <a:solidFill>
                  <a:srgbClr val="5B6372"/>
                </a:solidFill>
                <a:latin typeface="Arial"/>
              </a:rPr>
              <a:t>Assessment scripts are collected when the time is up.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p:transition spd="fast" advClick="1">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Written Assessment (WA)</a:t>
            </a:r>
          </a:p>
          <a:p>
            <a:pPr algn="l">
              <a:spcAft>
                <a:spcPts val="300"/>
              </a:spcAft>
            </a:pPr>
            <a:r>
              <a:rPr sz="1200" b="0">
                <a:solidFill>
                  <a:srgbClr val="5B6372"/>
                </a:solidFill>
                <a:latin typeface="Arial"/>
              </a:rPr>
              <a:t>Short-Answer Questions (SAQ) · 1 hour · individual · summative · open book.</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Practical Performance (PP)</a:t>
            </a:r>
          </a:p>
          <a:p>
            <a:pPr algn="l">
              <a:spcAft>
                <a:spcPts val="300"/>
              </a:spcAft>
            </a:pPr>
            <a:r>
              <a:rPr sz="1200" b="0">
                <a:solidFill>
                  <a:srgbClr val="5B6372"/>
                </a:solidFill>
                <a:latin typeface="Arial"/>
              </a:rPr>
              <a:t>Scenario-based hands-on data tasks · 1 hour · individual · summative · open book.</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Open book means</a:t>
            </a:r>
          </a:p>
          <a:p>
            <a:pPr algn="l">
              <a:spcAft>
                <a:spcPts val="300"/>
              </a:spcAft>
            </a:pPr>
            <a:r>
              <a:rPr sz="1200" b="0">
                <a:solidFill>
                  <a:srgbClr val="5B6372"/>
                </a:solidFill>
                <a:latin typeface="Arial"/>
              </a:rPr>
              <a:t>Course slides, the Learner Guide and other approved materials only.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Eligibility</a:t>
            </a:r>
          </a:p>
          <a:p>
            <a:pPr algn="l">
              <a:spcAft>
                <a:spcPts val="300"/>
              </a:spcAft>
            </a:pPr>
            <a:r>
              <a:rPr sz="1200" b="0">
                <a:solidFill>
                  <a:srgbClr val="5B6372"/>
                </a:solidFill>
                <a:latin typeface="Arial"/>
              </a:rPr>
              <a:t>A minimum of 75% attendance is required to be eligible for assessment and funding.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Result</a:t>
            </a:r>
          </a:p>
          <a:p>
            <a:pPr algn="l">
              <a:spcAft>
                <a:spcPts val="300"/>
              </a:spcAft>
            </a:pPr>
            <a:r>
              <a:rPr sz="1200" b="0">
                <a:solidFill>
                  <a:srgbClr val="5B6372"/>
                </a:solidFill>
                <a:latin typeface="Arial"/>
              </a:rPr>
              <a:t>You are assessed Competent (C) or Not Yet Competent (NYC) on each instrument.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Appeals</a:t>
            </a:r>
          </a:p>
          <a:p>
            <a:pPr algn="l">
              <a:spcAft>
                <a:spcPts val="300"/>
              </a:spcAft>
            </a:pPr>
            <a:r>
              <a:rPr sz="1200" b="0">
                <a:solidFill>
                  <a:srgbClr val="5B6372"/>
                </a:solidFill>
                <a:latin typeface="Arial"/>
              </a:rPr>
              <a:t>An appeal process is available if you wish to contest an assessment outcome.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p:transition spd="fast" advClick="1">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TRAQOM attendance</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Scan the QR on the LMS</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Assessment attendance</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Scan the SSG QR</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Sit WA then PP</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Open book · 1 hour each</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Submit on the LMS</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Upload your answers</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Sign the record</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Assessment Summary Record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REMEMBER</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All five steps are mandatory for WSQ funding — missing the TRAQOM digital attendance or the course feedback survey can invalidate your claim.</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WSQ FUNDING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Criteria for Funding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Attendance</a:t>
            </a:r>
          </a:p>
          <a:p>
            <a:pPr algn="l">
              <a:spcAft>
                <a:spcPts val="300"/>
              </a:spcAft>
            </a:pPr>
            <a:r>
              <a:rPr sz="1300" b="0">
                <a:solidFill>
                  <a:srgbClr val="5B6372"/>
                </a:solidFill>
                <a:latin typeface="Arial"/>
              </a:rPr>
              <a:t>A minimum attendance rate of 75%, based on the SSG Digital Attendance record.</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Assessment</a:t>
            </a:r>
          </a:p>
          <a:p>
            <a:pPr algn="l">
              <a:spcAft>
                <a:spcPts val="300"/>
              </a:spcAft>
            </a:pPr>
            <a:r>
              <a:rPr sz="1300" b="0">
                <a:solidFill>
                  <a:srgbClr val="5B6372"/>
                </a:solidFill>
                <a:latin typeface="Arial"/>
              </a:rPr>
              <a:t>Complete both assessment components and be assessed as 'Competent'.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Digital attendance</a:t>
            </a:r>
          </a:p>
          <a:p>
            <a:pPr algn="l">
              <a:spcAft>
                <a:spcPts val="300"/>
              </a:spcAft>
            </a:pPr>
            <a:r>
              <a:rPr sz="1300" b="0">
                <a:solidFill>
                  <a:srgbClr val="5B6372"/>
                </a:solidFill>
                <a:latin typeface="Arial"/>
              </a:rPr>
              <a:t>Scan the SSG QR code for AM, PM and Assessment on every training day.</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Course feedback</a:t>
            </a:r>
          </a:p>
          <a:p>
            <a:pPr algn="l">
              <a:spcAft>
                <a:spcPts val="300"/>
              </a:spcAft>
            </a:pPr>
            <a:r>
              <a:rPr sz="1300" b="0">
                <a:solidFill>
                  <a:srgbClr val="5B6372"/>
                </a:solidFill>
                <a:latin typeface="Arial"/>
              </a:rPr>
              <a:t>Complete the mandatory course feedback / TRAQOM survey on the LMS.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p:transition spd="fast" advClick="1">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DOMAIN 01  ·  20% OF THE EXAM</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Data Concepts and Environments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Database types · data structures · file extensions · data types · data sources · infrastructure · tools · AI concepts</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01</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p:transition spd="med" advClick="1">
    <p:push dir="l"/>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THIS DOMAIN COVERS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Domain 1 — Key Concepts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71907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71907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Schemas are designed first</a:t>
            </a:r>
          </a:p>
          <a:p>
            <a:pPr algn="l">
              <a:spcAft>
                <a:spcPts val="300"/>
              </a:spcAft>
            </a:pPr>
            <a:r>
              <a:rPr sz="1000" b="0">
                <a:solidFill>
                  <a:srgbClr val="5B6372"/>
                </a:solidFill>
                <a:latin typeface="Arial"/>
              </a:rPr>
              <a:t>A data schema describes both how data is organised and how tables relate to one another — it is designed before a single row is written.</a:t>
            </a:r>
          </a:p>
        </p:txBody>
      </p:sp>
      <p:sp>
        <p:nvSpPr>
          <p:cNvPr id="12" name="Rectangle 11"/>
          <p:cNvSpPr/>
          <p:nvPr/>
        </p:nvSpPr>
        <p:spPr>
          <a:xfrm>
            <a:off x="777240" y="244144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441448"/>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37744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37744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56946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Relational vs non-relational</a:t>
            </a:r>
          </a:p>
          <a:p>
            <a:pPr algn="l">
              <a:spcAft>
                <a:spcPts val="300"/>
              </a:spcAft>
            </a:pPr>
            <a:r>
              <a:rPr sz="1000" b="0">
                <a:solidFill>
                  <a:srgbClr val="5B6372"/>
                </a:solidFill>
                <a:latin typeface="Arial"/>
              </a:rPr>
              <a:t>Relational databases store data in linked tables and are queried with SQL; non-relational (NoSQL) stores trade fixed schemas for scale and flexibility.</a:t>
            </a:r>
          </a:p>
        </p:txBody>
      </p:sp>
      <p:sp>
        <p:nvSpPr>
          <p:cNvPr id="17" name="Rectangle 16"/>
          <p:cNvSpPr/>
          <p:nvPr/>
        </p:nvSpPr>
        <p:spPr>
          <a:xfrm>
            <a:off x="777240" y="3099816"/>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099816"/>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03580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0358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227832"/>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Normalise, then denormalise</a:t>
            </a:r>
          </a:p>
          <a:p>
            <a:pPr algn="l">
              <a:spcAft>
                <a:spcPts val="300"/>
              </a:spcAft>
            </a:pPr>
            <a:r>
              <a:rPr sz="1000" b="0">
                <a:solidFill>
                  <a:srgbClr val="5B6372"/>
                </a:solidFill>
                <a:latin typeface="Arial"/>
              </a:rPr>
              <a:t>Normalisation (1NF–5NF) removes redundancy; denormalisation deliberately re-introduces it to make analytical queries fast.</a:t>
            </a:r>
          </a:p>
        </p:txBody>
      </p:sp>
      <p:sp>
        <p:nvSpPr>
          <p:cNvPr id="22" name="Rectangle 21"/>
          <p:cNvSpPr/>
          <p:nvPr/>
        </p:nvSpPr>
        <p:spPr>
          <a:xfrm>
            <a:off x="777240" y="3758184"/>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3758184"/>
            <a:ext cx="91440" cy="42062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3886200"/>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OLTP vs OLAP</a:t>
            </a:r>
          </a:p>
          <a:p>
            <a:pPr algn="l">
              <a:spcAft>
                <a:spcPts val="300"/>
              </a:spcAft>
            </a:pPr>
            <a:r>
              <a:rPr sz="1000" b="0">
                <a:solidFill>
                  <a:srgbClr val="5B6372"/>
                </a:solidFill>
                <a:latin typeface="Arial"/>
              </a:rPr>
              <a:t>OLTP systems are built for many small real-time transactions; OLAP systems are built for long, complex analytical queries.</a:t>
            </a:r>
          </a:p>
        </p:txBody>
      </p:sp>
      <p:sp>
        <p:nvSpPr>
          <p:cNvPr id="27" name="Rectangle 26"/>
          <p:cNvSpPr/>
          <p:nvPr/>
        </p:nvSpPr>
        <p:spPr>
          <a:xfrm>
            <a:off x="777240" y="4416552"/>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416552"/>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35254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35254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544568"/>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Warehouse, mart, lake, lakehouse</a:t>
            </a:r>
          </a:p>
          <a:p>
            <a:pPr algn="l">
              <a:spcAft>
                <a:spcPts val="300"/>
              </a:spcAft>
            </a:pPr>
            <a:r>
              <a:rPr sz="1000" b="0">
                <a:solidFill>
                  <a:srgbClr val="5B6372"/>
                </a:solidFill>
                <a:latin typeface="Arial"/>
              </a:rPr>
              <a:t>Data warehouses, data marts, data lakes and lakehouses each hold data at a different level of structure, cost and query flexibility.</a:t>
            </a:r>
          </a:p>
        </p:txBody>
      </p:sp>
      <p:sp>
        <p:nvSpPr>
          <p:cNvPr id="32" name="Rectangle 31"/>
          <p:cNvSpPr/>
          <p:nvPr/>
        </p:nvSpPr>
        <p:spPr>
          <a:xfrm>
            <a:off x="777240" y="507492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074920"/>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272" y="501091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 y="501091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1764792" y="520293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Structure and file formats</a:t>
            </a:r>
          </a:p>
          <a:p>
            <a:pPr algn="l">
              <a:spcAft>
                <a:spcPts val="300"/>
              </a:spcAft>
            </a:pPr>
            <a:r>
              <a:rPr sz="1000" b="0">
                <a:solidFill>
                  <a:srgbClr val="5B6372"/>
                </a:solidFill>
                <a:latin typeface="Arial"/>
              </a:rPr>
              <a:t>Data is structured, semi-structured or unstructured, and is carried in file formats such as CSV, TSV, JSON, XML, XLSX and Parquet.</a:t>
            </a:r>
          </a:p>
        </p:txBody>
      </p:sp>
      <p:sp>
        <p:nvSpPr>
          <p:cNvPr id="37" name="Rectangle 36"/>
          <p:cNvSpPr/>
          <p:nvPr/>
        </p:nvSpPr>
        <p:spPr>
          <a:xfrm>
            <a:off x="777240" y="573328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733288"/>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66928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66928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86130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Cloud, containers and AI</a:t>
            </a:r>
          </a:p>
          <a:p>
            <a:pPr algn="l">
              <a:spcAft>
                <a:spcPts val="300"/>
              </a:spcAft>
            </a:pPr>
            <a:r>
              <a:rPr sz="1000" b="0">
                <a:solidFill>
                  <a:srgbClr val="5B6372"/>
                </a:solidFill>
                <a:latin typeface="Arial"/>
              </a:rPr>
              <a:t>Modern data platforms run on-premise, in the cloud or in containers, and AI/ML, NLP and RPA are now standard parts of the data toolchain.</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p:transition spd="fast" advClick="1">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DATA SCHEMAS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 schema is a plan, not an afterthought.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A data schema describes both the organisation of the data and the relationships between tables. Database engineers design the schema BEFORE they create the system — because changing it later means migrating every row.</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p:transition spd="fast" advClick="1">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DATABASE TYPES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Relational vs Non-Relational Databases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Characteristic</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Relational (SQL)</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Non-Relational (NoSQL)</a:t>
            </a:r>
          </a:p>
        </p:txBody>
      </p:sp>
      <p:sp>
        <p:nvSpPr>
          <p:cNvPr id="13" name="Rectangle 12"/>
          <p:cNvSpPr/>
          <p:nvPr/>
        </p:nvSpPr>
        <p:spPr>
          <a:xfrm>
            <a:off x="777240" y="2258568"/>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Structure</a:t>
            </a:r>
          </a:p>
        </p:txBody>
      </p:sp>
      <p:sp>
        <p:nvSpPr>
          <p:cNvPr id="15" name="Rectangle 14"/>
          <p:cNvSpPr/>
          <p:nvPr/>
        </p:nvSpPr>
        <p:spPr>
          <a:xfrm>
            <a:off x="3542202" y="2258568"/>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Tables of rows and columns</a:t>
            </a:r>
          </a:p>
        </p:txBody>
      </p:sp>
      <p:sp>
        <p:nvSpPr>
          <p:cNvPr id="17" name="Rectangle 16"/>
          <p:cNvSpPr/>
          <p:nvPr/>
        </p:nvSpPr>
        <p:spPr>
          <a:xfrm>
            <a:off x="7476957" y="2258568"/>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Documents, key-value, column or graph</a:t>
            </a:r>
          </a:p>
        </p:txBody>
      </p:sp>
      <p:sp>
        <p:nvSpPr>
          <p:cNvPr id="19" name="Rectangle 18"/>
          <p:cNvSpPr/>
          <p:nvPr/>
        </p:nvSpPr>
        <p:spPr>
          <a:xfrm>
            <a:off x="777240" y="2672660"/>
            <a:ext cx="2764962"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672660"/>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Schema</a:t>
            </a:r>
          </a:p>
        </p:txBody>
      </p:sp>
      <p:sp>
        <p:nvSpPr>
          <p:cNvPr id="21" name="Rectangle 20"/>
          <p:cNvSpPr/>
          <p:nvPr/>
        </p:nvSpPr>
        <p:spPr>
          <a:xfrm>
            <a:off x="3542202" y="2672660"/>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672660"/>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Fixed, defined before loading</a:t>
            </a:r>
          </a:p>
        </p:txBody>
      </p:sp>
      <p:sp>
        <p:nvSpPr>
          <p:cNvPr id="23" name="Rectangle 22"/>
          <p:cNvSpPr/>
          <p:nvPr/>
        </p:nvSpPr>
        <p:spPr>
          <a:xfrm>
            <a:off x="7476957" y="2672660"/>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672660"/>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Flexible, schema-on-read</a:t>
            </a:r>
          </a:p>
        </p:txBody>
      </p:sp>
      <p:sp>
        <p:nvSpPr>
          <p:cNvPr id="25" name="Rectangle 24"/>
          <p:cNvSpPr/>
          <p:nvPr/>
        </p:nvSpPr>
        <p:spPr>
          <a:xfrm>
            <a:off x="777240" y="3086752"/>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086752"/>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Query language</a:t>
            </a:r>
          </a:p>
        </p:txBody>
      </p:sp>
      <p:sp>
        <p:nvSpPr>
          <p:cNvPr id="27" name="Rectangle 26"/>
          <p:cNvSpPr/>
          <p:nvPr/>
        </p:nvSpPr>
        <p:spPr>
          <a:xfrm>
            <a:off x="3542202" y="3086752"/>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086752"/>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SQL — standard across vendors</a:t>
            </a:r>
          </a:p>
        </p:txBody>
      </p:sp>
      <p:sp>
        <p:nvSpPr>
          <p:cNvPr id="29" name="Rectangle 28"/>
          <p:cNvSpPr/>
          <p:nvPr/>
        </p:nvSpPr>
        <p:spPr>
          <a:xfrm>
            <a:off x="7476957" y="3086752"/>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086752"/>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Vendor APIs, GraphQL, MongoDB query</a:t>
            </a:r>
          </a:p>
        </p:txBody>
      </p:sp>
      <p:sp>
        <p:nvSpPr>
          <p:cNvPr id="31" name="Rectangle 30"/>
          <p:cNvSpPr/>
          <p:nvPr/>
        </p:nvSpPr>
        <p:spPr>
          <a:xfrm>
            <a:off x="777240" y="3500844"/>
            <a:ext cx="2764962"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500844"/>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Field limits</a:t>
            </a:r>
          </a:p>
        </p:txBody>
      </p:sp>
      <p:sp>
        <p:nvSpPr>
          <p:cNvPr id="33" name="Rectangle 32"/>
          <p:cNvSpPr/>
          <p:nvPr/>
        </p:nvSpPr>
        <p:spPr>
          <a:xfrm>
            <a:off x="3542202" y="3500844"/>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500844"/>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Typed, length-constrained fields</a:t>
            </a:r>
          </a:p>
        </p:txBody>
      </p:sp>
      <p:sp>
        <p:nvSpPr>
          <p:cNvPr id="35" name="Rectangle 34"/>
          <p:cNvSpPr/>
          <p:nvPr/>
        </p:nvSpPr>
        <p:spPr>
          <a:xfrm>
            <a:off x="7476957" y="3500844"/>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500844"/>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Store as much as you want per key</a:t>
            </a:r>
          </a:p>
        </p:txBody>
      </p:sp>
      <p:sp>
        <p:nvSpPr>
          <p:cNvPr id="37" name="Rectangle 36"/>
          <p:cNvSpPr/>
          <p:nvPr/>
        </p:nvSpPr>
        <p:spPr>
          <a:xfrm>
            <a:off x="777240" y="3914936"/>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3914936"/>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Scaling</a:t>
            </a:r>
          </a:p>
        </p:txBody>
      </p:sp>
      <p:sp>
        <p:nvSpPr>
          <p:cNvPr id="39" name="Rectangle 38"/>
          <p:cNvSpPr/>
          <p:nvPr/>
        </p:nvSpPr>
        <p:spPr>
          <a:xfrm>
            <a:off x="3542202" y="3914936"/>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3914936"/>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Vertical — a bigger server</a:t>
            </a:r>
          </a:p>
        </p:txBody>
      </p:sp>
      <p:sp>
        <p:nvSpPr>
          <p:cNvPr id="41" name="Rectangle 40"/>
          <p:cNvSpPr/>
          <p:nvPr/>
        </p:nvSpPr>
        <p:spPr>
          <a:xfrm>
            <a:off x="7476957" y="3914936"/>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3914936"/>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Horizontal — add more nodes</a:t>
            </a:r>
          </a:p>
        </p:txBody>
      </p:sp>
      <p:sp>
        <p:nvSpPr>
          <p:cNvPr id="43" name="Rectangle 42"/>
          <p:cNvSpPr/>
          <p:nvPr/>
        </p:nvSpPr>
        <p:spPr>
          <a:xfrm>
            <a:off x="777240" y="4329028"/>
            <a:ext cx="2764962"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329028"/>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Best for</a:t>
            </a:r>
          </a:p>
        </p:txBody>
      </p:sp>
      <p:sp>
        <p:nvSpPr>
          <p:cNvPr id="45" name="Rectangle 44"/>
          <p:cNvSpPr/>
          <p:nvPr/>
        </p:nvSpPr>
        <p:spPr>
          <a:xfrm>
            <a:off x="3542202" y="4329028"/>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329028"/>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Transactions, integrity, joins</a:t>
            </a:r>
          </a:p>
        </p:txBody>
      </p:sp>
      <p:sp>
        <p:nvSpPr>
          <p:cNvPr id="47" name="Rectangle 46"/>
          <p:cNvSpPr/>
          <p:nvPr/>
        </p:nvSpPr>
        <p:spPr>
          <a:xfrm>
            <a:off x="7476957" y="4329028"/>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329028"/>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Huge volume, varied or unstructured data</a:t>
            </a:r>
          </a:p>
        </p:txBody>
      </p:sp>
      <p:sp>
        <p:nvSpPr>
          <p:cNvPr id="49" name="Rectangle 48"/>
          <p:cNvSpPr/>
          <p:nvPr/>
        </p:nvSpPr>
        <p:spPr>
          <a:xfrm>
            <a:off x="777240" y="4743120"/>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05256" y="4743120"/>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Examples</a:t>
            </a:r>
          </a:p>
        </p:txBody>
      </p:sp>
      <p:sp>
        <p:nvSpPr>
          <p:cNvPr id="51" name="Rectangle 50"/>
          <p:cNvSpPr/>
          <p:nvPr/>
        </p:nvSpPr>
        <p:spPr>
          <a:xfrm>
            <a:off x="3542202" y="4743120"/>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670218" y="4743120"/>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MySQL, MariaDB, PostgreSQL, Aurora</a:t>
            </a:r>
          </a:p>
        </p:txBody>
      </p:sp>
      <p:sp>
        <p:nvSpPr>
          <p:cNvPr id="53" name="Rectangle 52"/>
          <p:cNvSpPr/>
          <p:nvPr/>
        </p:nvSpPr>
        <p:spPr>
          <a:xfrm>
            <a:off x="7476957" y="4743120"/>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604973" y="4743120"/>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MongoDB, Redis, Cassandra, Neo4j</a:t>
            </a:r>
          </a:p>
        </p:txBody>
      </p:sp>
      <p:sp>
        <p:nvSpPr>
          <p:cNvPr id="55" name="Rectangle 54"/>
          <p:cNvSpPr/>
          <p:nvPr/>
        </p:nvSpPr>
        <p:spPr>
          <a:xfrm>
            <a:off x="777240" y="5358380"/>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77240" y="5358380"/>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51560" y="5468108"/>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Remember for the exam: SQL = relational. NoSQL or GraphQL = non-relational.</a:t>
            </a:r>
          </a:p>
        </p:txBody>
      </p:sp>
      <p:sp>
        <p:nvSpPr>
          <p:cNvPr id="58" name="TextBox 5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59" name="TextBox 5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0" name="TextBox 5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p:transition spd="fast" advClick="1">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NoSQL FAMILIES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Four Non-Relational Database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Document-oriented</a:t>
            </a:r>
          </a:p>
          <a:p>
            <a:pPr algn="l">
              <a:spcAft>
                <a:spcPts val="300"/>
              </a:spcAft>
            </a:pPr>
            <a:r>
              <a:rPr sz="1200" b="0">
                <a:solidFill>
                  <a:srgbClr val="5B6372"/>
                </a:solidFill>
                <a:latin typeface="Arial"/>
              </a:rPr>
              <a:t>Stores each record as a self-describing XML or JSON document. Example: MongoDB, CouchDB.</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Key-value store</a:t>
            </a:r>
          </a:p>
          <a:p>
            <a:pPr algn="l">
              <a:spcAft>
                <a:spcPts val="300"/>
              </a:spcAft>
            </a:pPr>
            <a:r>
              <a:rPr sz="1200" b="0">
                <a:solidFill>
                  <a:srgbClr val="5B6372"/>
                </a:solidFill>
                <a:latin typeface="Arial"/>
              </a:rPr>
              <a:t>Stores each value against a unique key — the simplest and fastest model. Example: Redis, DynamoDB.</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Column-oriented</a:t>
            </a:r>
          </a:p>
          <a:p>
            <a:pPr algn="l">
              <a:spcAft>
                <a:spcPts val="300"/>
              </a:spcAft>
            </a:pPr>
            <a:r>
              <a:rPr sz="1200" b="0">
                <a:solidFill>
                  <a:srgbClr val="5B6372"/>
                </a:solidFill>
                <a:latin typeface="Arial"/>
              </a:rPr>
              <a:t>Stores data down columns instead of across rows, which makes analytical scans very fast. Example: Cassandra, HBase.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Graph store</a:t>
            </a:r>
          </a:p>
          <a:p>
            <a:pPr algn="l">
              <a:spcAft>
                <a:spcPts val="300"/>
              </a:spcAft>
            </a:pPr>
            <a:r>
              <a:rPr sz="1200" b="0">
                <a:solidFill>
                  <a:srgbClr val="5B6372"/>
                </a:solidFill>
                <a:latin typeface="Arial"/>
              </a:rPr>
              <a:t>Stores entities as nodes and relationships as edges, so linked queries are cheap. Example: Neo4j, Amazon Neptune.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p:transition spd="fast" advClick="1">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DATA NORMALIZATION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Normalisation — 1NF to 5NF</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1NF</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No repeating groups</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2NF</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No partial key deps</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3NF</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No transitive deps</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4NF</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No multi-valued deps</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5NF</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No join dependencies</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THE GOAL</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Normalisation removes redundancy so an update happens in exactly one place. Each form builds on the one before it.</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DESIGN DECISION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Should I Normalise or Denormalise?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Is this database serving transactions or analytics?</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NORMALISE  →  OLTP</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Many small writes, integrity matters most. Remove every redundancy so an update touches one row. This is your operational database.</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DENORMALISE  →  OLAP</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Few huge reads, speed matters most. Deliberately repeat data to avoid expensive joins. This is your warehouse, mart or reporting layer.</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Data warehousing, mining, analysis and visualization all work on deliberately denormalised data.</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p:transition spd="fast" advClick="1">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DATABASE RELATIONSHIPS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Keys and Relationships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Primary key</a:t>
            </a:r>
          </a:p>
          <a:p>
            <a:pPr algn="l">
              <a:spcAft>
                <a:spcPts val="300"/>
              </a:spcAft>
            </a:pPr>
            <a:r>
              <a:rPr sz="1200" b="0">
                <a:solidFill>
                  <a:srgbClr val="5B6372"/>
                </a:solidFill>
                <a:latin typeface="Arial"/>
              </a:rPr>
              <a:t>A unique identifier for a record that cannot contain duplicates or nulls. Every table needs one.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Foreign key</a:t>
            </a:r>
          </a:p>
          <a:p>
            <a:pPr algn="l">
              <a:spcAft>
                <a:spcPts val="300"/>
              </a:spcAft>
            </a:pPr>
            <a:r>
              <a:rPr sz="1200" b="0">
                <a:solidFill>
                  <a:srgbClr val="5B6372"/>
                </a:solidFill>
                <a:latin typeface="Arial"/>
              </a:rPr>
              <a:t>A primary key from one table referenced by another — this is what creates the relationship.</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One-to-one</a:t>
            </a:r>
          </a:p>
          <a:p>
            <a:pPr algn="l">
              <a:spcAft>
                <a:spcPts val="300"/>
              </a:spcAft>
            </a:pPr>
            <a:r>
              <a:rPr sz="1200" b="0">
                <a:solidFill>
                  <a:srgbClr val="5B6372"/>
                </a:solidFill>
                <a:latin typeface="Arial"/>
              </a:rPr>
              <a:t>One record relates to exactly one record in the other table (person ↔ passport).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One-to-many</a:t>
            </a:r>
          </a:p>
          <a:p>
            <a:pPr algn="l">
              <a:spcAft>
                <a:spcPts val="300"/>
              </a:spcAft>
            </a:pPr>
            <a:r>
              <a:rPr sz="1200" b="0">
                <a:solidFill>
                  <a:srgbClr val="5B6372"/>
                </a:solidFill>
                <a:latin typeface="Arial"/>
              </a:rPr>
              <a:t>One record relates to many records in another table (customer → many orders).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Many-to-many</a:t>
            </a:r>
          </a:p>
          <a:p>
            <a:pPr algn="l">
              <a:spcAft>
                <a:spcPts val="300"/>
              </a:spcAft>
            </a:pPr>
            <a:r>
              <a:rPr sz="1200" b="0">
                <a:solidFill>
                  <a:srgbClr val="5B6372"/>
                </a:solidFill>
                <a:latin typeface="Arial"/>
              </a:rPr>
              <a:t>Many records relate to many others, resolved with a junction table (students ↔ courses).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Referential integrity</a:t>
            </a:r>
          </a:p>
          <a:p>
            <a:pPr algn="l">
              <a:spcAft>
                <a:spcPts val="300"/>
              </a:spcAft>
            </a:pPr>
            <a:r>
              <a:rPr sz="1200" b="0">
                <a:solidFill>
                  <a:srgbClr val="5B6372"/>
                </a:solidFill>
                <a:latin typeface="Arial"/>
              </a:rPr>
              <a:t>Guarantees every foreign key value actually exists in the parent table — no orphans.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p:transition spd="fast" advClick="1">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REFERENTIAL INTEGRITY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Cascade your changes, or orphan your data.</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When a parent record is updated or deleted, ON UPDATE CASCADE and ON DELETE CASCADE push that change through every dependent record. Without them, deleting a customer leaves their orders pointing at nothing — the classic integrity failure you will build and break in Lab 1.</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p:transition spd="fast" advClick="1">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DATA SYSTEMS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OLTP vs OLAP — Two Different Jobs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Characteristic</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OLTP</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OLAP</a:t>
            </a:r>
          </a:p>
        </p:txBody>
      </p:sp>
      <p:sp>
        <p:nvSpPr>
          <p:cNvPr id="13" name="Rectangle 12"/>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Purpose</a:t>
            </a:r>
          </a:p>
        </p:txBody>
      </p:sp>
      <p:sp>
        <p:nvSpPr>
          <p:cNvPr id="15" name="Rectangle 14"/>
          <p:cNvSpPr/>
          <p:nvPr/>
        </p:nvSpPr>
        <p:spPr>
          <a:xfrm>
            <a:off x="3542202"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Run the business</a:t>
            </a:r>
          </a:p>
        </p:txBody>
      </p:sp>
      <p:sp>
        <p:nvSpPr>
          <p:cNvPr id="17" name="Rectangle 16"/>
          <p:cNvSpPr/>
          <p:nvPr/>
        </p:nvSpPr>
        <p:spPr>
          <a:xfrm>
            <a:off x="7476957"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Analyse the business</a:t>
            </a:r>
          </a:p>
        </p:txBody>
      </p:sp>
      <p:sp>
        <p:nvSpPr>
          <p:cNvPr id="19" name="Rectangle 18"/>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Transaction type</a:t>
            </a:r>
          </a:p>
        </p:txBody>
      </p:sp>
      <p:sp>
        <p:nvSpPr>
          <p:cNvPr id="21" name="Rectangle 20"/>
          <p:cNvSpPr/>
          <p:nvPr/>
        </p:nvSpPr>
        <p:spPr>
          <a:xfrm>
            <a:off x="3542202"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Insert, update, delete, small query</a:t>
            </a:r>
          </a:p>
        </p:txBody>
      </p:sp>
      <p:sp>
        <p:nvSpPr>
          <p:cNvPr id="23" name="Rectangle 22"/>
          <p:cNvSpPr/>
          <p:nvPr/>
        </p:nvSpPr>
        <p:spPr>
          <a:xfrm>
            <a:off x="7476957"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Long, complex analytical query</a:t>
            </a:r>
          </a:p>
        </p:txBody>
      </p:sp>
      <p:sp>
        <p:nvSpPr>
          <p:cNvPr id="25" name="Rectangle 24"/>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Volume per query</a:t>
            </a:r>
          </a:p>
        </p:txBody>
      </p:sp>
      <p:sp>
        <p:nvSpPr>
          <p:cNvPr id="27" name="Rectangle 26"/>
          <p:cNvSpPr/>
          <p:nvPr/>
        </p:nvSpPr>
        <p:spPr>
          <a:xfrm>
            <a:off x="3542202"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One or a few rows</a:t>
            </a:r>
          </a:p>
        </p:txBody>
      </p:sp>
      <p:sp>
        <p:nvSpPr>
          <p:cNvPr id="29" name="Rectangle 28"/>
          <p:cNvSpPr/>
          <p:nvPr/>
        </p:nvSpPr>
        <p:spPr>
          <a:xfrm>
            <a:off x="7476957"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Millions of rows</a:t>
            </a:r>
          </a:p>
        </p:txBody>
      </p:sp>
      <p:sp>
        <p:nvSpPr>
          <p:cNvPr id="31" name="Rectangle 30"/>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Users</a:t>
            </a:r>
          </a:p>
        </p:txBody>
      </p:sp>
      <p:sp>
        <p:nvSpPr>
          <p:cNvPr id="33" name="Rectangle 32"/>
          <p:cNvSpPr/>
          <p:nvPr/>
        </p:nvSpPr>
        <p:spPr>
          <a:xfrm>
            <a:off x="3542202"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Many concurrent operational users</a:t>
            </a:r>
          </a:p>
        </p:txBody>
      </p:sp>
      <p:sp>
        <p:nvSpPr>
          <p:cNvPr id="35" name="Rectangle 34"/>
          <p:cNvSpPr/>
          <p:nvPr/>
        </p:nvSpPr>
        <p:spPr>
          <a:xfrm>
            <a:off x="7476957"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Fewer analysts and reports</a:t>
            </a:r>
          </a:p>
        </p:txBody>
      </p:sp>
      <p:sp>
        <p:nvSpPr>
          <p:cNvPr id="37" name="Rectangle 3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Data model</a:t>
            </a:r>
          </a:p>
        </p:txBody>
      </p:sp>
      <p:sp>
        <p:nvSpPr>
          <p:cNvPr id="39" name="Rectangle 38"/>
          <p:cNvSpPr/>
          <p:nvPr/>
        </p:nvSpPr>
        <p:spPr>
          <a:xfrm>
            <a:off x="3542202"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Normalised (3NF)</a:t>
            </a:r>
          </a:p>
        </p:txBody>
      </p:sp>
      <p:sp>
        <p:nvSpPr>
          <p:cNvPr id="41" name="Rectangle 40"/>
          <p:cNvSpPr/>
          <p:nvPr/>
        </p:nvSpPr>
        <p:spPr>
          <a:xfrm>
            <a:off x="7476957"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Denormalised (star / snowflake)</a:t>
            </a:r>
          </a:p>
        </p:txBody>
      </p:sp>
      <p:sp>
        <p:nvSpPr>
          <p:cNvPr id="43" name="Rectangle 42"/>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Example</a:t>
            </a:r>
          </a:p>
        </p:txBody>
      </p:sp>
      <p:sp>
        <p:nvSpPr>
          <p:cNvPr id="45" name="Rectangle 44"/>
          <p:cNvSpPr/>
          <p:nvPr/>
        </p:nvSpPr>
        <p:spPr>
          <a:xfrm>
            <a:off x="3542202"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Point-of-sale, booking system</a:t>
            </a:r>
          </a:p>
        </p:txBody>
      </p:sp>
      <p:sp>
        <p:nvSpPr>
          <p:cNvPr id="47" name="Rectangle 46"/>
          <p:cNvSpPr/>
          <p:nvPr/>
        </p:nvSpPr>
        <p:spPr>
          <a:xfrm>
            <a:off x="7476957"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Data warehouse, BI dashboard</a:t>
            </a:r>
          </a:p>
        </p:txBody>
      </p:sp>
      <p:sp>
        <p:nvSpPr>
          <p:cNvPr id="49" name="Rectangle 48"/>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358384"/>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Choosing the wrong system is a classic cause of performance problems — a heavy analytical query on an OLTP database will lock up the business.</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p:transition spd="fast" advClick="1">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DATA WAREHOUSE ARCHITECTURE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From Source System to Insight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Source systems</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Clickstream, sales</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Ingest / ETL</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Extract, transform, load</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Data warehouse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Single source of truth</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Data marts</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Departmental subsets</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Reports &amp; BI</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The decision</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WHY IT MATTERS</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The warehouse combines many source systems into one consistent, efficient place — the single source of truth every report can agree on.</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WAREHOUSE SCHEMAS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Star vs Snowflake Schema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Aspect</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Star Schema</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Snowflake Schema</a:t>
            </a:r>
          </a:p>
        </p:txBody>
      </p:sp>
      <p:sp>
        <p:nvSpPr>
          <p:cNvPr id="13" name="Rectangle 12"/>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Shape</a:t>
            </a:r>
          </a:p>
        </p:txBody>
      </p:sp>
      <p:sp>
        <p:nvSpPr>
          <p:cNvPr id="15" name="Rectangle 14"/>
          <p:cNvSpPr/>
          <p:nvPr/>
        </p:nvSpPr>
        <p:spPr>
          <a:xfrm>
            <a:off x="3542202"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Fact table with one ring of dimensions</a:t>
            </a:r>
          </a:p>
        </p:txBody>
      </p:sp>
      <p:sp>
        <p:nvSpPr>
          <p:cNvPr id="17" name="Rectangle 16"/>
          <p:cNvSpPr/>
          <p:nvPr/>
        </p:nvSpPr>
        <p:spPr>
          <a:xfrm>
            <a:off x="7476957"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Dimensions branch into further dimensions</a:t>
            </a:r>
          </a:p>
        </p:txBody>
      </p:sp>
      <p:sp>
        <p:nvSpPr>
          <p:cNvPr id="19" name="Rectangle 18"/>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Dimension depth</a:t>
            </a:r>
          </a:p>
        </p:txBody>
      </p:sp>
      <p:sp>
        <p:nvSpPr>
          <p:cNvPr id="21" name="Rectangle 20"/>
          <p:cNvSpPr/>
          <p:nvPr/>
        </p:nvSpPr>
        <p:spPr>
          <a:xfrm>
            <a:off x="3542202"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One level — denormalised</a:t>
            </a:r>
          </a:p>
        </p:txBody>
      </p:sp>
      <p:sp>
        <p:nvSpPr>
          <p:cNvPr id="23" name="Rectangle 22"/>
          <p:cNvSpPr/>
          <p:nvPr/>
        </p:nvSpPr>
        <p:spPr>
          <a:xfrm>
            <a:off x="7476957"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Multiple levels — normalised</a:t>
            </a:r>
          </a:p>
        </p:txBody>
      </p:sp>
      <p:sp>
        <p:nvSpPr>
          <p:cNvPr id="25" name="Rectangle 24"/>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Joins per query</a:t>
            </a:r>
          </a:p>
        </p:txBody>
      </p:sp>
      <p:sp>
        <p:nvSpPr>
          <p:cNvPr id="27" name="Rectangle 26"/>
          <p:cNvSpPr/>
          <p:nvPr/>
        </p:nvSpPr>
        <p:spPr>
          <a:xfrm>
            <a:off x="3542202"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Fewer</a:t>
            </a:r>
          </a:p>
        </p:txBody>
      </p:sp>
      <p:sp>
        <p:nvSpPr>
          <p:cNvPr id="29" name="Rectangle 28"/>
          <p:cNvSpPr/>
          <p:nvPr/>
        </p:nvSpPr>
        <p:spPr>
          <a:xfrm>
            <a:off x="7476957"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More</a:t>
            </a:r>
          </a:p>
        </p:txBody>
      </p:sp>
      <p:sp>
        <p:nvSpPr>
          <p:cNvPr id="31" name="Rectangle 30"/>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Query speed</a:t>
            </a:r>
          </a:p>
        </p:txBody>
      </p:sp>
      <p:sp>
        <p:nvSpPr>
          <p:cNvPr id="33" name="Rectangle 32"/>
          <p:cNvSpPr/>
          <p:nvPr/>
        </p:nvSpPr>
        <p:spPr>
          <a:xfrm>
            <a:off x="3542202"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Faster</a:t>
            </a:r>
          </a:p>
        </p:txBody>
      </p:sp>
      <p:sp>
        <p:nvSpPr>
          <p:cNvPr id="35" name="Rectangle 34"/>
          <p:cNvSpPr/>
          <p:nvPr/>
        </p:nvSpPr>
        <p:spPr>
          <a:xfrm>
            <a:off x="7476957"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Slower</a:t>
            </a:r>
          </a:p>
        </p:txBody>
      </p:sp>
      <p:sp>
        <p:nvSpPr>
          <p:cNvPr id="37" name="Rectangle 3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Storage</a:t>
            </a:r>
          </a:p>
        </p:txBody>
      </p:sp>
      <p:sp>
        <p:nvSpPr>
          <p:cNvPr id="39" name="Rectangle 38"/>
          <p:cNvSpPr/>
          <p:nvPr/>
        </p:nvSpPr>
        <p:spPr>
          <a:xfrm>
            <a:off x="3542202"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More redundancy, more space</a:t>
            </a:r>
          </a:p>
        </p:txBody>
      </p:sp>
      <p:sp>
        <p:nvSpPr>
          <p:cNvPr id="41" name="Rectangle 40"/>
          <p:cNvSpPr/>
          <p:nvPr/>
        </p:nvSpPr>
        <p:spPr>
          <a:xfrm>
            <a:off x="7476957"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Less redundancy, less space</a:t>
            </a:r>
          </a:p>
        </p:txBody>
      </p:sp>
      <p:sp>
        <p:nvSpPr>
          <p:cNvPr id="43" name="Rectangle 42"/>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Maintenance</a:t>
            </a:r>
          </a:p>
        </p:txBody>
      </p:sp>
      <p:sp>
        <p:nvSpPr>
          <p:cNvPr id="45" name="Rectangle 44"/>
          <p:cNvSpPr/>
          <p:nvPr/>
        </p:nvSpPr>
        <p:spPr>
          <a:xfrm>
            <a:off x="3542202"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Simpler to query, more to update</a:t>
            </a:r>
          </a:p>
        </p:txBody>
      </p:sp>
      <p:sp>
        <p:nvSpPr>
          <p:cNvPr id="47" name="Rectangle 46"/>
          <p:cNvSpPr/>
          <p:nvPr/>
        </p:nvSpPr>
        <p:spPr>
          <a:xfrm>
            <a:off x="7476957"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Harder to query, easier to update</a:t>
            </a:r>
          </a:p>
        </p:txBody>
      </p:sp>
      <p:sp>
        <p:nvSpPr>
          <p:cNvPr id="49" name="Rectangle 48"/>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358384"/>
            <a:ext cx="100584"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7C3AED"/>
                </a:solidFill>
                <a:latin typeface="Arial"/>
              </a:rPr>
              <a:t>WHEN IT MATTERS  </a:t>
            </a:r>
            <a:r>
              <a:rPr sz="1200" b="0">
                <a:solidFill>
                  <a:srgbClr val="161B26"/>
                </a:solidFill>
                <a:latin typeface="Arial"/>
              </a:rPr>
              <a:t>A fact table holds the measures and the keys; a dimension table holds the descriptive attributes.</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p:transition spd="fast" advClick="1">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STORAGE ARCHITECTURES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Warehouse · Mart · Lake · Lakehouse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 warehouse</a:t>
            </a:r>
          </a:p>
          <a:p>
            <a:pPr algn="l">
              <a:spcAft>
                <a:spcPts val="300"/>
              </a:spcAft>
            </a:pPr>
            <a:r>
              <a:rPr sz="1200" b="0">
                <a:solidFill>
                  <a:srgbClr val="5B6372"/>
                </a:solidFill>
                <a:latin typeface="Arial"/>
              </a:rPr>
              <a:t>Structured, schema-on-write, single source of truth. Built for reliable, repeatable reporting.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 mart</a:t>
            </a:r>
          </a:p>
          <a:p>
            <a:pPr algn="l">
              <a:spcAft>
                <a:spcPts val="300"/>
              </a:spcAft>
            </a:pPr>
            <a:r>
              <a:rPr sz="1200" b="0">
                <a:solidFill>
                  <a:srgbClr val="5B6372"/>
                </a:solidFill>
                <a:latin typeface="Arial"/>
              </a:rPr>
              <a:t>A subset of the warehouse for one department, so their queries do not slow anyone else down.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 lake</a:t>
            </a:r>
          </a:p>
          <a:p>
            <a:pPr algn="l">
              <a:spcAft>
                <a:spcPts val="300"/>
              </a:spcAft>
            </a:pPr>
            <a:r>
              <a:rPr sz="1200" b="0">
                <a:solidFill>
                  <a:srgbClr val="5B6372"/>
                </a:solidFill>
                <a:latin typeface="Arial"/>
              </a:rPr>
              <a:t>A centralised repository holding structured AND unstructured data cheaply, schema-on-read.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Data lakehouse</a:t>
            </a:r>
          </a:p>
          <a:p>
            <a:pPr algn="l">
              <a:spcAft>
                <a:spcPts val="300"/>
              </a:spcAft>
            </a:pPr>
            <a:r>
              <a:rPr sz="1200" b="0">
                <a:solidFill>
                  <a:srgbClr val="5B6372"/>
                </a:solidFill>
                <a:latin typeface="Arial"/>
              </a:rPr>
              <a:t>Queries data in place on the lake using an added schema layer — lake economics, warehouse queries.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OLAP cube</a:t>
            </a:r>
          </a:p>
          <a:p>
            <a:pPr algn="l">
              <a:spcAft>
                <a:spcPts val="300"/>
              </a:spcAft>
            </a:pPr>
            <a:r>
              <a:rPr sz="1200" b="0">
                <a:solidFill>
                  <a:srgbClr val="5B6372"/>
                </a:solidFill>
                <a:latin typeface="Arial"/>
              </a:rPr>
              <a:t>A pre-aggregated multi-dimensional structure that answers expected queries almost instantly.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Choosing</a:t>
            </a:r>
          </a:p>
          <a:p>
            <a:pPr algn="l">
              <a:spcAft>
                <a:spcPts val="300"/>
              </a:spcAft>
            </a:pPr>
            <a:r>
              <a:rPr sz="1200" b="0">
                <a:solidFill>
                  <a:srgbClr val="5B6372"/>
                </a:solidFill>
                <a:latin typeface="Arial"/>
              </a:rPr>
              <a:t>Structured and well-understood → warehouse. Varied, raw and high-volume → lake or lakehouse.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p:transition spd="fast" advClick="1">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CHANGING DIMENSIONAL DATA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Slowly Changing Dimensions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The problem</a:t>
            </a:r>
          </a:p>
          <a:p>
            <a:pPr algn="l">
              <a:spcAft>
                <a:spcPts val="300"/>
              </a:spcAft>
            </a:pPr>
            <a:r>
              <a:rPr sz="1200" b="0">
                <a:solidFill>
                  <a:srgbClr val="5B6372"/>
                </a:solidFill>
                <a:latin typeface="Arial"/>
              </a:rPr>
              <a:t>A dimension table holds descriptive metadata — but names, addresses and categories change over time.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Type 1</a:t>
            </a:r>
          </a:p>
          <a:p>
            <a:pPr algn="l">
              <a:spcAft>
                <a:spcPts val="300"/>
              </a:spcAft>
            </a:pPr>
            <a:r>
              <a:rPr sz="1200" b="0">
                <a:solidFill>
                  <a:srgbClr val="5B6372"/>
                </a:solidFill>
                <a:latin typeface="Arial"/>
              </a:rPr>
              <a:t>Overwrite the old value. Simple, but the history is gone forever — you can never query the old name.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Type 2</a:t>
            </a:r>
          </a:p>
          <a:p>
            <a:pPr algn="l">
              <a:spcAft>
                <a:spcPts val="300"/>
              </a:spcAft>
            </a:pPr>
            <a:r>
              <a:rPr sz="1200" b="0">
                <a:solidFill>
                  <a:srgbClr val="5B6372"/>
                </a:solidFill>
                <a:latin typeface="Arial"/>
              </a:rPr>
              <a:t>Add a new row with effective dates. Keeps the COMPLETE history, at the cost of more rows.</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600" b="1">
                <a:solidFill>
                  <a:srgbClr val="161B26"/>
                </a:solidFill>
                <a:latin typeface="Arial"/>
              </a:rPr>
              <a:t>Type 3</a:t>
            </a:r>
          </a:p>
          <a:p>
            <a:pPr algn="l">
              <a:spcAft>
                <a:spcPts val="300"/>
              </a:spcAft>
            </a:pPr>
            <a:r>
              <a:rPr sz="1200" b="0">
                <a:solidFill>
                  <a:srgbClr val="5B6372"/>
                </a:solidFill>
                <a:latin typeface="Arial"/>
              </a:rPr>
              <a:t>Add a 'previous value' column. Keeps current and prior only — a compromise between Type 1 and Type 2.</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p:transition spd="fast" advClick="1">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TYPES AND CHARACTERISTICS OF DATA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Quantitative vs Qualitative Data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Quantitative (numeric)</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Qualitative (categorical)</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Definition</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Measured with numbers</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Grouped by a quality or category</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Sub-type 1</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Discrete — countable whole values (orders)</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Nominal — named, no order (city, colour)</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Sub-type 2</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Continuous — any value in a range (weight)</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Ordinal — ordered categories (small/medium/large)</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Maths allowed</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Full arithmetic — sum, mean, SD</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Counts and modes only</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Typical chart</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Histogram, line, scatter</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Bar chart, pie chart</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Getting this wrong is the root cause of nonsense analysis — you cannot take the mean of a postal code.</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p:transition spd="fast" advClick="1">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DATA TYPES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Data Field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Character / text / string</a:t>
            </a:r>
          </a:p>
          <a:p>
            <a:pPr algn="l">
              <a:spcAft>
                <a:spcPts val="300"/>
              </a:spcAft>
            </a:pPr>
            <a:r>
              <a:rPr sz="1200" b="0">
                <a:solidFill>
                  <a:srgbClr val="5B6372"/>
                </a:solidFill>
                <a:latin typeface="Arial"/>
              </a:rPr>
              <a:t>Alphanumeric. A number stored as text CANNOT be used in arithmetic until it is converted.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Numeric — integer</a:t>
            </a:r>
          </a:p>
          <a:p>
            <a:pPr algn="l">
              <a:spcAft>
                <a:spcPts val="300"/>
              </a:spcAft>
            </a:pPr>
            <a:r>
              <a:rPr sz="1200" b="0">
                <a:solidFill>
                  <a:srgbClr val="5B6372"/>
                </a:solidFill>
                <a:latin typeface="Arial"/>
              </a:rPr>
              <a:t>Whole numbers only. Use for counts, IDs and quantities.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Numeric — decimal / float</a:t>
            </a:r>
          </a:p>
          <a:p>
            <a:pPr algn="l">
              <a:spcAft>
                <a:spcPts val="300"/>
              </a:spcAft>
            </a:pPr>
            <a:r>
              <a:rPr sz="1200" b="0">
                <a:solidFill>
                  <a:srgbClr val="5B6372"/>
                </a:solidFill>
                <a:latin typeface="Arial"/>
              </a:rPr>
              <a:t>Fractional values. Beware floating-point rounding in financial calculations.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Currency</a:t>
            </a:r>
          </a:p>
          <a:p>
            <a:pPr algn="l">
              <a:spcAft>
                <a:spcPts val="300"/>
              </a:spcAft>
            </a:pPr>
            <a:r>
              <a:rPr sz="1200" b="0">
                <a:solidFill>
                  <a:srgbClr val="5B6372"/>
                </a:solidFill>
                <a:latin typeface="Arial"/>
              </a:rPr>
              <a:t>A special numeric type fixed at two decimal places, representing money.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Date / datetime</a:t>
            </a:r>
          </a:p>
          <a:p>
            <a:pPr algn="l">
              <a:spcAft>
                <a:spcPts val="300"/>
              </a:spcAft>
            </a:pPr>
            <a:r>
              <a:rPr sz="1200" b="0">
                <a:solidFill>
                  <a:srgbClr val="5B6372"/>
                </a:solidFill>
                <a:latin typeface="Arial"/>
              </a:rPr>
              <a:t>A calendar date, optionally with a time. Decide the format and the century convention up front.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Boolean</a:t>
            </a:r>
          </a:p>
          <a:p>
            <a:pPr algn="l">
              <a:spcAft>
                <a:spcPts val="300"/>
              </a:spcAft>
            </a:pPr>
            <a:r>
              <a:rPr sz="1200" b="0">
                <a:solidFill>
                  <a:srgbClr val="5B6372"/>
                </a:solidFill>
                <a:latin typeface="Arial"/>
              </a:rPr>
              <a:t>Exactly two values — true/false, yes/no, 1/0. The basis of all logical operations.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p:transition spd="fast" advClick="1">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CONVERTING DATA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Data is dynamic, not static.</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Just because a value was stored as text does not mean it must stay text. Converting a text field to an integer, decimal or date is a routine, expected part of preparation — and it is what makes calculation possible.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p:transition spd="fast" advClick="1">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DATA STRUCTURES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Structured · Semi-Structured · Unstructured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Structured</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Semi-structured</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Unstructured</a:t>
            </a:r>
          </a:p>
        </p:txBody>
      </p:sp>
      <p:sp>
        <p:nvSpPr>
          <p:cNvPr id="15" name="Rectangle 14"/>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Organisation</a:t>
            </a:r>
          </a:p>
        </p:txBody>
      </p:sp>
      <p:sp>
        <p:nvSpPr>
          <p:cNvPr id="17" name="Rectangle 16"/>
          <p:cNvSpPr/>
          <p:nvPr/>
        </p:nvSpPr>
        <p:spPr>
          <a:xfrm>
            <a:off x="354220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Fixed rows and columns</a:t>
            </a:r>
          </a:p>
        </p:txBody>
      </p:sp>
      <p:sp>
        <p:nvSpPr>
          <p:cNvPr id="19" name="Rectangle 18"/>
          <p:cNvSpPr/>
          <p:nvPr/>
        </p:nvSpPr>
        <p:spPr>
          <a:xfrm>
            <a:off x="616537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Self-describing tags/keys</a:t>
            </a:r>
          </a:p>
        </p:txBody>
      </p:sp>
      <p:sp>
        <p:nvSpPr>
          <p:cNvPr id="21" name="Rectangle 20"/>
          <p:cNvSpPr/>
          <p:nvPr/>
        </p:nvSpPr>
        <p:spPr>
          <a:xfrm>
            <a:off x="878854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None</a:t>
            </a:r>
          </a:p>
        </p:txBody>
      </p:sp>
      <p:sp>
        <p:nvSpPr>
          <p:cNvPr id="23" name="Rectangle 22"/>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Schema</a:t>
            </a:r>
          </a:p>
        </p:txBody>
      </p:sp>
      <p:sp>
        <p:nvSpPr>
          <p:cNvPr id="25" name="Rectangle 24"/>
          <p:cNvSpPr/>
          <p:nvPr/>
        </p:nvSpPr>
        <p:spPr>
          <a:xfrm>
            <a:off x="354220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Defined before loading</a:t>
            </a:r>
          </a:p>
        </p:txBody>
      </p:sp>
      <p:sp>
        <p:nvSpPr>
          <p:cNvPr id="27" name="Rectangle 26"/>
          <p:cNvSpPr/>
          <p:nvPr/>
        </p:nvSpPr>
        <p:spPr>
          <a:xfrm>
            <a:off x="616537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Carried inside the file</a:t>
            </a:r>
          </a:p>
        </p:txBody>
      </p:sp>
      <p:sp>
        <p:nvSpPr>
          <p:cNvPr id="29" name="Rectangle 28"/>
          <p:cNvSpPr/>
          <p:nvPr/>
        </p:nvSpPr>
        <p:spPr>
          <a:xfrm>
            <a:off x="878854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No schema at all</a:t>
            </a:r>
          </a:p>
        </p:txBody>
      </p:sp>
      <p:sp>
        <p:nvSpPr>
          <p:cNvPr id="31" name="Rectangle 30"/>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Examples</a:t>
            </a:r>
          </a:p>
        </p:txBody>
      </p:sp>
      <p:sp>
        <p:nvSpPr>
          <p:cNvPr id="33" name="Rectangle 32"/>
          <p:cNvSpPr/>
          <p:nvPr/>
        </p:nvSpPr>
        <p:spPr>
          <a:xfrm>
            <a:off x="354220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SQL tables, CSV</a:t>
            </a:r>
          </a:p>
        </p:txBody>
      </p:sp>
      <p:sp>
        <p:nvSpPr>
          <p:cNvPr id="35" name="Rectangle 34"/>
          <p:cNvSpPr/>
          <p:nvPr/>
        </p:nvSpPr>
        <p:spPr>
          <a:xfrm>
            <a:off x="616537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JSON, XML, HTML, e-mail</a:t>
            </a:r>
          </a:p>
        </p:txBody>
      </p:sp>
      <p:sp>
        <p:nvSpPr>
          <p:cNvPr id="37" name="Rectangle 36"/>
          <p:cNvSpPr/>
          <p:nvPr/>
        </p:nvSpPr>
        <p:spPr>
          <a:xfrm>
            <a:off x="878854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Text, images, audio, video</a:t>
            </a:r>
          </a:p>
        </p:txBody>
      </p:sp>
      <p:sp>
        <p:nvSpPr>
          <p:cNvPr id="39" name="Rectangle 38"/>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Storage</a:t>
            </a:r>
          </a:p>
        </p:txBody>
      </p:sp>
      <p:sp>
        <p:nvSpPr>
          <p:cNvPr id="41" name="Rectangle 40"/>
          <p:cNvSpPr/>
          <p:nvPr/>
        </p:nvSpPr>
        <p:spPr>
          <a:xfrm>
            <a:off x="354220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Relational database</a:t>
            </a:r>
          </a:p>
        </p:txBody>
      </p:sp>
      <p:sp>
        <p:nvSpPr>
          <p:cNvPr id="43" name="Rectangle 42"/>
          <p:cNvSpPr/>
          <p:nvPr/>
        </p:nvSpPr>
        <p:spPr>
          <a:xfrm>
            <a:off x="616537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Document store, lake</a:t>
            </a:r>
          </a:p>
        </p:txBody>
      </p:sp>
      <p:sp>
        <p:nvSpPr>
          <p:cNvPr id="45" name="Rectangle 44"/>
          <p:cNvSpPr/>
          <p:nvPr/>
        </p:nvSpPr>
        <p:spPr>
          <a:xfrm>
            <a:off x="878854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Blob (Azure) / Bucket (AWS)</a:t>
            </a:r>
          </a:p>
        </p:txBody>
      </p:sp>
      <p:sp>
        <p:nvSpPr>
          <p:cNvPr id="47" name="Rectangle 4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Query effort</a:t>
            </a:r>
          </a:p>
        </p:txBody>
      </p:sp>
      <p:sp>
        <p:nvSpPr>
          <p:cNvPr id="49" name="Rectangle 48"/>
          <p:cNvSpPr/>
          <p:nvPr/>
        </p:nvSpPr>
        <p:spPr>
          <a:xfrm>
            <a:off x="354220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Low — query directly</a:t>
            </a:r>
          </a:p>
        </p:txBody>
      </p:sp>
      <p:sp>
        <p:nvSpPr>
          <p:cNvPr id="51" name="Rectangle 50"/>
          <p:cNvSpPr/>
          <p:nvPr/>
        </p:nvSpPr>
        <p:spPr>
          <a:xfrm>
            <a:off x="616537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9338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Moderate — parse then query</a:t>
            </a:r>
          </a:p>
        </p:txBody>
      </p:sp>
      <p:sp>
        <p:nvSpPr>
          <p:cNvPr id="53" name="Rectangle 52"/>
          <p:cNvSpPr/>
          <p:nvPr/>
        </p:nvSpPr>
        <p:spPr>
          <a:xfrm>
            <a:off x="878854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1655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High — extract before you can query</a:t>
            </a:r>
          </a:p>
        </p:txBody>
      </p:sp>
      <p:sp>
        <p:nvSpPr>
          <p:cNvPr id="55" name="Rectangle 54"/>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77240" y="5358381"/>
            <a:ext cx="100584"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7C3AED"/>
                </a:solidFill>
                <a:latin typeface="Arial"/>
              </a:rPr>
              <a:t>WHEN IT MATTERS  </a:t>
            </a:r>
            <a:r>
              <a:rPr sz="1200" b="0">
                <a:solidFill>
                  <a:srgbClr val="161B26"/>
                </a:solidFill>
                <a:latin typeface="Arial"/>
              </a:rPr>
              <a:t>You measure this difference yourself in Lab 2 — the same record in all three forms.</a:t>
            </a:r>
          </a:p>
        </p:txBody>
      </p:sp>
      <p:sp>
        <p:nvSpPr>
          <p:cNvPr id="58" name="TextBox 5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59" name="TextBox 5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0" name="TextBox 5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p:transition spd="fast" advClick="1">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FILE EXTENSIONS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File Formats and Extensions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.CSV</a:t>
            </a:r>
          </a:p>
          <a:p>
            <a:pPr algn="l">
              <a:spcAft>
                <a:spcPts val="300"/>
              </a:spcAft>
            </a:pPr>
            <a:r>
              <a:rPr sz="1100" b="0">
                <a:solidFill>
                  <a:srgbClr val="5B6372"/>
                </a:solidFill>
                <a:latin typeface="Arial"/>
              </a:rPr>
              <a:t>Comma-separated values — the universal flat file. One record per line.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.TSV / .TAB</a:t>
            </a:r>
          </a:p>
          <a:p>
            <a:pPr algn="l">
              <a:spcAft>
                <a:spcPts val="300"/>
              </a:spcAft>
            </a:pPr>
            <a:r>
              <a:rPr sz="1100" b="0">
                <a:solidFill>
                  <a:srgbClr val="5B6372"/>
                </a:solidFill>
                <a:latin typeface="Arial"/>
              </a:rPr>
              <a:t>Tab-separated. Safer than CSV when the data itself contains commas.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.TXT</a:t>
            </a:r>
          </a:p>
          <a:p>
            <a:pPr algn="l">
              <a:spcAft>
                <a:spcPts val="300"/>
              </a:spcAft>
            </a:pPr>
            <a:r>
              <a:rPr sz="1100" b="0">
                <a:solidFill>
                  <a:srgbClr val="5B6372"/>
                </a:solidFill>
                <a:latin typeface="Arial"/>
              </a:rPr>
              <a:t>Plain text with any delimiter you choose — pipe, semicolon, fixed width.</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.JSON</a:t>
            </a:r>
          </a:p>
          <a:p>
            <a:pPr algn="l">
              <a:spcAft>
                <a:spcPts val="300"/>
              </a:spcAft>
            </a:pPr>
            <a:r>
              <a:rPr sz="1100" b="0">
                <a:solidFill>
                  <a:srgbClr val="5B6372"/>
                </a:solidFill>
                <a:latin typeface="Arial"/>
              </a:rPr>
              <a:t>JavaScript Object Notation. Self-describing, nestable, the de facto format for APIs.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.XML</a:t>
            </a:r>
          </a:p>
          <a:p>
            <a:pPr algn="l">
              <a:spcAft>
                <a:spcPts val="300"/>
              </a:spcAft>
            </a:pPr>
            <a:r>
              <a:rPr sz="1100" b="0">
                <a:solidFill>
                  <a:srgbClr val="5B6372"/>
                </a:solidFill>
                <a:latin typeface="Arial"/>
              </a:rPr>
              <a:t>Extensible Markup Language. Tag-based, built to TRANSFER data rather than display it.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.XLSX / .PARQUET</a:t>
            </a:r>
          </a:p>
          <a:p>
            <a:pPr algn="l">
              <a:spcAft>
                <a:spcPts val="300"/>
              </a:spcAft>
            </a:pPr>
            <a:r>
              <a:rPr sz="1100" b="0">
                <a:solidFill>
                  <a:srgbClr val="5B6372"/>
                </a:solidFill>
                <a:latin typeface="Arial"/>
              </a:rPr>
              <a:t>Spreadsheet workbook; and Parquet, a compressed columnar format built for analytics.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p:transition spd="fast" advClick="1">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DATA LANGUAGES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Data Languages and Markup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SQL</a:t>
            </a:r>
          </a:p>
          <a:p>
            <a:pPr algn="l">
              <a:spcAft>
                <a:spcPts val="300"/>
              </a:spcAft>
            </a:pPr>
            <a:r>
              <a:rPr sz="1200" b="0">
                <a:solidFill>
                  <a:srgbClr val="5B6372"/>
                </a:solidFill>
                <a:latin typeface="Arial"/>
              </a:rPr>
              <a:t>The structured query language. SELECT chooses fields, FROM chooses tables, WHERE filters rows.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HTML</a:t>
            </a:r>
          </a:p>
          <a:p>
            <a:pPr algn="l">
              <a:spcAft>
                <a:spcPts val="300"/>
              </a:spcAft>
            </a:pPr>
            <a:r>
              <a:rPr sz="1200" b="0">
                <a:solidFill>
                  <a:srgbClr val="5B6372"/>
                </a:solidFill>
                <a:latin typeface="Arial"/>
              </a:rPr>
              <a:t>Hypertext Markup Language — tags that tell a browser how to DISPLAY a page. Semi-structured.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XML</a:t>
            </a:r>
          </a:p>
          <a:p>
            <a:pPr algn="l">
              <a:spcAft>
                <a:spcPts val="300"/>
              </a:spcAft>
            </a:pPr>
            <a:r>
              <a:rPr sz="1200" b="0">
                <a:solidFill>
                  <a:srgbClr val="5B6372"/>
                </a:solidFill>
                <a:latin typeface="Arial"/>
              </a:rPr>
              <a:t>Similar tags to HTML, but the purpose is to TRANSFER data between systems, not display it.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JSON</a:t>
            </a:r>
          </a:p>
          <a:p>
            <a:pPr algn="l">
              <a:spcAft>
                <a:spcPts val="300"/>
              </a:spcAft>
            </a:pPr>
            <a:r>
              <a:rPr sz="1200" b="0">
                <a:solidFill>
                  <a:srgbClr val="5B6372"/>
                </a:solidFill>
                <a:latin typeface="Arial"/>
              </a:rPr>
              <a:t>Arrays and key-value objects — lighter than XML and native to JavaScript and web APIs.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Python</a:t>
            </a:r>
          </a:p>
          <a:p>
            <a:pPr algn="l">
              <a:spcAft>
                <a:spcPts val="300"/>
              </a:spcAft>
            </a:pPr>
            <a:r>
              <a:rPr sz="1200" b="0">
                <a:solidFill>
                  <a:srgbClr val="5B6372"/>
                </a:solidFill>
                <a:latin typeface="Arial"/>
              </a:rPr>
              <a:t>General-purpose language dominant in data preparation, analysis and machine learning.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a:t>
            </a:r>
          </a:p>
          <a:p>
            <a:pPr algn="l">
              <a:spcAft>
                <a:spcPts val="300"/>
              </a:spcAft>
            </a:pPr>
            <a:r>
              <a:rPr sz="1200" b="0">
                <a:solidFill>
                  <a:srgbClr val="5B6372"/>
                </a:solidFill>
                <a:latin typeface="Arial"/>
              </a:rPr>
              <a:t>A language built specifically for statistical computing and graphics.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p:transition spd="fast" advClick="1">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INFRASTRUCTURE CONCEPTS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Infrastructure — Where Data Lives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On-premise</a:t>
            </a:r>
          </a:p>
          <a:p>
            <a:pPr algn="l">
              <a:spcAft>
                <a:spcPts val="300"/>
              </a:spcAft>
            </a:pPr>
            <a:r>
              <a:rPr sz="1200" b="0">
                <a:solidFill>
                  <a:srgbClr val="5B6372"/>
                </a:solidFill>
                <a:latin typeface="Arial"/>
              </a:rPr>
              <a:t>Servers you own and run in your own facility. Maximum control, maximum capital cost.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Cloud</a:t>
            </a:r>
          </a:p>
          <a:p>
            <a:pPr algn="l">
              <a:spcAft>
                <a:spcPts val="300"/>
              </a:spcAft>
            </a:pPr>
            <a:r>
              <a:rPr sz="1200" b="0">
                <a:solidFill>
                  <a:srgbClr val="5B6372"/>
                </a:solidFill>
                <a:latin typeface="Arial"/>
              </a:rPr>
              <a:t>Infrastructure rented on demand from AWS, Azure or Google Cloud. Elastic and operational-cost based.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Hybrid</a:t>
            </a:r>
          </a:p>
          <a:p>
            <a:pPr algn="l">
              <a:spcAft>
                <a:spcPts val="300"/>
              </a:spcAft>
            </a:pPr>
            <a:r>
              <a:rPr sz="1200" b="0">
                <a:solidFill>
                  <a:srgbClr val="5B6372"/>
                </a:solidFill>
                <a:latin typeface="Arial"/>
              </a:rPr>
              <a:t>Sensitive data stays on-premise; burst analytical workloads run in the cloud.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Storage tiers</a:t>
            </a:r>
          </a:p>
          <a:p>
            <a:pPr algn="l">
              <a:spcAft>
                <a:spcPts val="300"/>
              </a:spcAft>
            </a:pPr>
            <a:r>
              <a:rPr sz="1200" b="0">
                <a:solidFill>
                  <a:srgbClr val="5B6372"/>
                </a:solidFill>
                <a:latin typeface="Arial"/>
              </a:rPr>
              <a:t>Hot storage for active data, cold and archive tiers for cheap long-term retention.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Containerisation</a:t>
            </a:r>
          </a:p>
          <a:p>
            <a:pPr algn="l">
              <a:spcAft>
                <a:spcPts val="300"/>
              </a:spcAft>
            </a:pPr>
            <a:r>
              <a:rPr sz="1200" b="0">
                <a:solidFill>
                  <a:srgbClr val="5B6372"/>
                </a:solidFill>
                <a:latin typeface="Arial"/>
              </a:rPr>
              <a:t>Docker packages an application with its dependencies so it runs identically anywhere.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Orchestration</a:t>
            </a:r>
          </a:p>
          <a:p>
            <a:pPr algn="l">
              <a:spcAft>
                <a:spcPts val="300"/>
              </a:spcAft>
            </a:pPr>
            <a:r>
              <a:rPr sz="1200" b="0">
                <a:solidFill>
                  <a:srgbClr val="5B6372"/>
                </a:solidFill>
                <a:latin typeface="Arial"/>
              </a:rPr>
              <a:t>Kubernetes schedules and scales those containers across a cluster automatically.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p:transition spd="fast" advClick="1">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AI CONCEPTS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AI Concepts in the Data Toolchain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Machine learning</a:t>
            </a:r>
          </a:p>
          <a:p>
            <a:pPr algn="l">
              <a:spcAft>
                <a:spcPts val="300"/>
              </a:spcAft>
            </a:pPr>
            <a:r>
              <a:rPr sz="1100" b="0">
                <a:solidFill>
                  <a:srgbClr val="5B6372"/>
                </a:solidFill>
                <a:latin typeface="Arial"/>
              </a:rPr>
              <a:t>Models learn patterns from historical data to classify or predict, rather than being explicitly programmed.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Supervised vs unsupervised</a:t>
            </a:r>
          </a:p>
          <a:p>
            <a:pPr algn="l">
              <a:spcAft>
                <a:spcPts val="300"/>
              </a:spcAft>
            </a:pPr>
            <a:r>
              <a:rPr sz="1100" b="0">
                <a:solidFill>
                  <a:srgbClr val="5B6372"/>
                </a:solidFill>
                <a:latin typeface="Arial"/>
              </a:rPr>
              <a:t>Supervised learns from labelled examples; unsupervised finds structure such as clusters in unlabelled data.</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Natural language processing</a:t>
            </a:r>
          </a:p>
          <a:p>
            <a:pPr algn="l">
              <a:spcAft>
                <a:spcPts val="300"/>
              </a:spcAft>
            </a:pPr>
            <a:r>
              <a:rPr sz="1100" b="0">
                <a:solidFill>
                  <a:srgbClr val="5B6372"/>
                </a:solidFill>
                <a:latin typeface="Arial"/>
              </a:rPr>
              <a:t>Lets systems parse, classify and generate human language — sentiment analysis, entity extraction, summarisation.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Large language models</a:t>
            </a:r>
          </a:p>
          <a:p>
            <a:pPr algn="l">
              <a:spcAft>
                <a:spcPts val="300"/>
              </a:spcAft>
            </a:pPr>
            <a:r>
              <a:rPr sz="1100" b="0">
                <a:solidFill>
                  <a:srgbClr val="5B6372"/>
                </a:solidFill>
                <a:latin typeface="Arial"/>
              </a:rPr>
              <a:t>NLP models trained at scale that generate text; increasingly used to draft queries and explain results.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Robotic process automation</a:t>
            </a:r>
          </a:p>
          <a:p>
            <a:pPr algn="l">
              <a:spcAft>
                <a:spcPts val="300"/>
              </a:spcAft>
            </a:pPr>
            <a:r>
              <a:rPr sz="1100" b="0">
                <a:solidFill>
                  <a:srgbClr val="5B6372"/>
                </a:solidFill>
                <a:latin typeface="Arial"/>
              </a:rPr>
              <a:t>Software robots that perform repetitive, rule-based data tasks — extraction, entry, reconciliation.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Where analysts meet AI</a:t>
            </a:r>
          </a:p>
          <a:p>
            <a:pPr algn="l">
              <a:spcAft>
                <a:spcPts val="300"/>
              </a:spcAft>
            </a:pPr>
            <a:r>
              <a:rPr sz="1100" b="0">
                <a:solidFill>
                  <a:srgbClr val="5B6372"/>
                </a:solidFill>
                <a:latin typeface="Arial"/>
              </a:rPr>
              <a:t>Most often in data preparation, anomaly detection, forecasting and automated report narratives.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p:transition spd="fast" advClick="1">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DATA SOURCES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Identifying Data Sources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Databases</a:t>
            </a:r>
          </a:p>
          <a:p>
            <a:pPr algn="l">
              <a:spcAft>
                <a:spcPts val="300"/>
              </a:spcAft>
            </a:pPr>
            <a:r>
              <a:rPr sz="1100" b="0">
                <a:solidFill>
                  <a:srgbClr val="5B6372"/>
                </a:solidFill>
                <a:latin typeface="Arial"/>
              </a:rPr>
              <a:t>Relational and NoSQL operational systems — usually the most reliable and best-documented source.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APIs</a:t>
            </a:r>
          </a:p>
          <a:p>
            <a:pPr algn="l">
              <a:spcAft>
                <a:spcPts val="300"/>
              </a:spcAft>
            </a:pPr>
            <a:r>
              <a:rPr sz="1100" b="0">
                <a:solidFill>
                  <a:srgbClr val="5B6372"/>
                </a:solidFill>
                <a:latin typeface="Arial"/>
              </a:rPr>
              <a:t>A defined request/response contract between systems. Pull model polls; push model notifies on change.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Website data</a:t>
            </a:r>
          </a:p>
          <a:p>
            <a:pPr algn="l">
              <a:spcAft>
                <a:spcPts val="300"/>
              </a:spcAft>
            </a:pPr>
            <a:r>
              <a:rPr sz="1100" b="0">
                <a:solidFill>
                  <a:srgbClr val="5B6372"/>
                </a:solidFill>
                <a:latin typeface="Arial"/>
              </a:rPr>
              <a:t>Web scraping with Selenium, BeautifulSoup or Scrapy. Fragile, and you must have permission.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Files</a:t>
            </a:r>
          </a:p>
          <a:p>
            <a:pPr algn="l">
              <a:spcAft>
                <a:spcPts val="300"/>
              </a:spcAft>
            </a:pPr>
            <a:r>
              <a:rPr sz="1100" b="0">
                <a:solidFill>
                  <a:srgbClr val="5B6372"/>
                </a:solidFill>
                <a:latin typeface="Arial"/>
              </a:rPr>
              <a:t>CSV, Excel, JSON and XML extracts, often the practical reality of inter-company data exchange.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Logs &amp; machine data</a:t>
            </a:r>
          </a:p>
          <a:p>
            <a:pPr algn="l">
              <a:spcAft>
                <a:spcPts val="300"/>
              </a:spcAft>
            </a:pPr>
            <a:r>
              <a:rPr sz="1100" b="0">
                <a:solidFill>
                  <a:srgbClr val="5B6372"/>
                </a:solidFill>
                <a:latin typeface="Arial"/>
              </a:rPr>
              <a:t>Server, application and device telemetry — high volume, and the basis of predictive maintenance.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Repositories</a:t>
            </a:r>
          </a:p>
          <a:p>
            <a:pPr algn="l">
              <a:spcAft>
                <a:spcPts val="300"/>
              </a:spcAft>
            </a:pPr>
            <a:r>
              <a:rPr sz="1100" b="0">
                <a:solidFill>
                  <a:srgbClr val="5B6372"/>
                </a:solidFill>
                <a:latin typeface="Arial"/>
              </a:rPr>
              <a:t>Public and licensed datasets: data.gov, Kaggle, Pew Research, GeoPostcodes, Singapore's data.gov.sg.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p:transition spd="fast" advClick="1">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LAB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Lab 1 — Build a Relational Schema and Prove Referential Integrity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Explain data concepts: database types, data structures and data types (Domain 1); LO1 / K4 / A1.</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design and build a small three-table sales schema in SQLite, declare the primary and foreign keys, and then deliberately attack it with an orphan record and a cascading delete so you can see referential integrity doing its job.</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normalised 3NF SQLite database (customers, products, orders) with enforced foreign keys, plus evidence of a rejected orphan insert.</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Killercoda Ubuntu, SQLite 3, SQL DDL/DML</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Attack 1 fails with 'FOREIGN KEY constraint failed' and attack 2 removes order 100 automatically. The final join returns one row (Ravi · USB-C Hub · 1 · 59.0).</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p:transition spd="fast" advClick="1">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LAB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Open the Killercoda Ubuntu playground in you</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1 of 12</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Create the customers table with a primary ke</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4 of 12</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Insert reference data into the two dimension</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7 of 12</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ATTACK 1</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10 of 12</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Run a join across all three tables to confir</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12 of 12</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normalised 3NF SQLite database (customers, products, orders) with enforced foreign keys, plus evidence of a rejected orphan insert.</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LAB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1 — Build a Relational Schema and Prove Referential Integrity — Procedure 1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Open the Killercoda Ubuntu playground in your browser and confirm SQLite is available.</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0"/>
              </a:spcAft>
            </a:pPr>
            <a:r>
              <a:rPr sz="1050" b="0">
                <a:solidFill>
                  <a:srgbClr val="9CDCFE"/>
                </a:solidFill>
                <a:latin typeface="Arial"/>
              </a:rPr>
              <a:t>$ sqlite3 --version</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Create the lab folder and open a new database file.</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0"/>
              </a:spcAft>
            </a:pPr>
            <a:r>
              <a:rPr sz="1050" b="0">
                <a:solidFill>
                  <a:srgbClr val="9CDCFE"/>
                </a:solidFill>
                <a:latin typeface="Arial"/>
              </a:rPr>
              <a:t>$ mkdir -p ~/dataplus/lab1 &amp;&amp; cd ~/dataplus/lab1 &amp;&amp; sqlite3 sales.db</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1481328" y="4023360"/>
            <a:ext cx="9692640" cy="365760"/>
          </a:xfrm>
          <a:prstGeom prst="rect">
            <a:avLst/>
          </a:prstGeom>
          <a:noFill/>
        </p:spPr>
        <p:txBody>
          <a:bodyPr wrap="square" anchor="t">
            <a:spAutoFit/>
          </a:bodyPr>
          <a:lstStyle/>
          <a:p>
            <a:pPr algn="l">
              <a:spcAft>
                <a:spcPts val="400"/>
              </a:spcAft>
            </a:pPr>
            <a:r>
              <a:rPr sz="1050" b="1">
                <a:solidFill>
                  <a:srgbClr val="161B26"/>
                </a:solidFill>
                <a:latin typeface="Arial"/>
              </a:rPr>
              <a:t>Turn foreign-key enforcement ON — SQLite leaves it off by default, which is the single most common cause of orphaned rows.</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0"/>
              </a:spcAft>
            </a:pPr>
            <a:r>
              <a:rPr sz="1050" b="0">
                <a:solidFill>
                  <a:srgbClr val="9CDCFE"/>
                </a:solidFill>
                <a:latin typeface="Arial"/>
              </a:rPr>
              <a:t>$ PRAGMA foreign_keys = ON;</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p:transition spd="fast" advClick="1">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LAB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1 — Build a Relational Schema and Prove Referential Integrity — Procedure 2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Create the customers table with a primary key and typed columns (INTEGER, TEXT, DATE).</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0"/>
              </a:spcAft>
            </a:pPr>
            <a:r>
              <a:rPr sz="900" b="0">
                <a:solidFill>
                  <a:srgbClr val="9CDCFE"/>
                </a:solidFill>
                <a:latin typeface="Arial"/>
              </a:rPr>
              <a:t>$ CREATE TABLE customers (customer_id INTEGER PRIMARY KEY, first_name TEXT NOT NULL, last_name TEXT NOT NULL, email TEXT</a:t>
            </a:r>
          </a:p>
          <a:p>
            <a:pPr algn="l">
              <a:spcAft>
                <a:spcPts val="0"/>
              </a:spcAft>
            </a:pPr>
            <a:r>
              <a:rPr sz="900" b="0">
                <a:solidFill>
                  <a:srgbClr val="9CDCFE"/>
                </a:solidFill>
                <a:latin typeface="Arial"/>
              </a:rPr>
              <a:t>   UNIQUE, joined DATE);</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Create the products table — note REAL for currency and the CHECK constraint enforcing domain integrity.</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0"/>
              </a:spcAft>
            </a:pPr>
            <a:r>
              <a:rPr sz="1050" b="0">
                <a:solidFill>
                  <a:srgbClr val="9CDCFE"/>
                </a:solidFill>
                <a:latin typeface="Arial"/>
              </a:rPr>
              <a:t>$ CREATE TABLE products (product_id INTEGER PRIMARY KEY, name TEXT NOT NULL, unit_price REAL CHECK (unit_price &gt;= 0));</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25" name="TextBox 24"/>
          <p:cNvSpPr txBox="1"/>
          <p:nvPr/>
        </p:nvSpPr>
        <p:spPr>
          <a:xfrm>
            <a:off x="1481328" y="4023360"/>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Create the orders fact table carrying TWO foreign keys with ON DELETE CASCADE.</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0"/>
              </a:spcAft>
            </a:pPr>
            <a:r>
              <a:rPr sz="900" b="0">
                <a:solidFill>
                  <a:srgbClr val="9CDCFE"/>
                </a:solidFill>
                <a:latin typeface="Arial"/>
              </a:rPr>
              <a:t>$ CREATE TABLE orders (order_id INTEGER PRIMARY KEY, customer_id INTEGER REFERENCES customers(customer_id) ON DELETE</a:t>
            </a:r>
          </a:p>
          <a:p>
            <a:pPr algn="l">
              <a:spcAft>
                <a:spcPts val="0"/>
              </a:spcAft>
            </a:pPr>
            <a:r>
              <a:rPr sz="900" b="0">
                <a:solidFill>
                  <a:srgbClr val="9CDCFE"/>
                </a:solidFill>
                <a:latin typeface="Arial"/>
              </a:rPr>
              <a:t>   CASCADE, product_id INTEGER REFERENCES products(product_id), qty INTEGER NOT NULL, order_date DATE);</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p:transition spd="fast" advClick="1">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LAB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1 — Build a Relational Schema and Prove Referential Integrity — Procedure 3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Insert reference data into the two dimension tables.</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0"/>
              </a:spcAft>
            </a:pPr>
            <a:r>
              <a:rPr sz="900" b="0">
                <a:solidFill>
                  <a:srgbClr val="9CDCFE"/>
                </a:solidFill>
                <a:latin typeface="Arial"/>
              </a:rPr>
              <a:t>$ INSERT INTO customers VALUES</a:t>
            </a:r>
          </a:p>
          <a:p>
            <a:pPr algn="l">
              <a:spcAft>
                <a:spcPts val="0"/>
              </a:spcAft>
            </a:pPr>
            <a:r>
              <a:rPr sz="900" b="0">
                <a:solidFill>
                  <a:srgbClr val="9CDCFE"/>
                </a:solidFill>
                <a:latin typeface="Arial"/>
              </a:rPr>
              <a:t>   (1,'Mei','Tan','mei.tan@example.sg','2025-01-14'),(2,'Ravi','Kumar','ravi.k@example.sg','2025-02-03');</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Insert the product rows.</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0"/>
              </a:spcAft>
            </a:pPr>
            <a:r>
              <a:rPr sz="1050" b="0">
                <a:solidFill>
                  <a:srgbClr val="9CDCFE"/>
                </a:solidFill>
                <a:latin typeface="Arial"/>
              </a:rPr>
              <a:t>$ INSERT INTO products VALUES (10,'Wireless Mouse',24.90),(11,'USB-C Hub',59.00);</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25" name="TextBox 24"/>
          <p:cNvSpPr txBox="1"/>
          <p:nvPr/>
        </p:nvSpPr>
        <p:spPr>
          <a:xfrm>
            <a:off x="1481328" y="4023360"/>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Insert valid orders that respect both foreign keys.</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0"/>
              </a:spcAft>
            </a:pPr>
            <a:r>
              <a:rPr sz="1050" b="0">
                <a:solidFill>
                  <a:srgbClr val="9CDCFE"/>
                </a:solidFill>
                <a:latin typeface="Arial"/>
              </a:rPr>
              <a:t>$ INSERT INTO orders VALUES (100,1,10,2,'2025-03-01'),(101,2,11,1,'2025-03-02');</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p:transition spd="fast" advClick="1">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LAB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1 — Build a Relational Schema and Prove Referential Integrity — Procedure 4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ATTACK 1 — try to insert an order for a customer who does not exist. This MUST be rejected.</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0"/>
              </a:spcAft>
            </a:pPr>
            <a:r>
              <a:rPr sz="1050" b="0">
                <a:solidFill>
                  <a:srgbClr val="9CDCFE"/>
                </a:solidFill>
                <a:latin typeface="Arial"/>
              </a:rPr>
              <a:t>$ INSERT INTO orders VALUES (102,999,10,1,'2025-03-03');</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11</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ATTACK 2 — delete customer 1 and watch the cascade remove their orders, leaving nothing orphaned.</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0"/>
              </a:spcAft>
            </a:pPr>
            <a:r>
              <a:rPr sz="1050" b="0">
                <a:solidFill>
                  <a:srgbClr val="9CDCFE"/>
                </a:solidFill>
                <a:latin typeface="Arial"/>
              </a:rPr>
              <a:t>$ DELETE FROM customers WHERE customer_id = 1; SELECT * FROM orders;</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12</a:t>
            </a:r>
          </a:p>
        </p:txBody>
      </p:sp>
      <p:sp>
        <p:nvSpPr>
          <p:cNvPr id="25" name="TextBox 24"/>
          <p:cNvSpPr txBox="1"/>
          <p:nvPr/>
        </p:nvSpPr>
        <p:spPr>
          <a:xfrm>
            <a:off x="1481328" y="4023360"/>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Run a join across all three tables to confirm the schema answers a real business question.</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0"/>
              </a:spcAft>
            </a:pPr>
            <a:r>
              <a:rPr sz="900" b="0">
                <a:solidFill>
                  <a:srgbClr val="9CDCFE"/>
                </a:solidFill>
                <a:latin typeface="Arial"/>
              </a:rPr>
              <a:t>$ SELECT c.first_name, p.name, o.qty, o.qty*p.unit_price AS line_total FROM orders o JOIN customers c ON</a:t>
            </a:r>
          </a:p>
          <a:p>
            <a:pPr algn="l">
              <a:spcAft>
                <a:spcPts val="0"/>
              </a:spcAft>
            </a:pPr>
            <a:r>
              <a:rPr sz="900" b="0">
                <a:solidFill>
                  <a:srgbClr val="9CDCFE"/>
                </a:solidFill>
                <a:latin typeface="Arial"/>
              </a:rPr>
              <a:t>   c.customer_id=o.customer_id JOIN products p ON p.product_id=o.product_id;</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p:transition spd="fast" advClick="1">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LAB 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1 — Verify Your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Attack 1 fails with 'FOREIGN KEY constraint failed' and attack 2 removes order 100 automatically. The final join returns one row (Ravi · USB-C Hub · 1 · 59.0).</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orphan insert SUCCEEDED</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You forgot PRAGMA foreign_keys = ON. It resets on every new connection — re-run it after reopening sqlite3.</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 such table' error</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You are in a different database file. Run .databases inside sqlite3 to confirm you opened sales.db.</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cascade did not fire</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ON DELETE CASCADE only works with foreign keys enforced. Re-check the PRAGMA, then re-create the orders table.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p:transition spd="fast" advClick="1">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LAB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Lab 2 — Compare Structured, Semi-Structured and Unstructured Data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Explain data concepts: data structures, file extensions and data types; identify data sources (Domain 1); LO1 / K4.</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create the same customer record three ways — as a CSV row, as a JSON document and as free text — then measure how much work each format takes to query. This is the exam's structured vs semi-structured vs unstructured distinction, made concrete.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Three files (customers.csv, customers.json, notes.txt) plus a Python script that queries each and reports the effort required.</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Killercoda Ubuntu, Python 3, csv and json modules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CSV and JSON both total 329.5. The JSON also returns ['vip','repeat'] — a field the CSV cannot represent. The regex over notes.txt returns extra noise, proving unstructured data needs parsing before analysis.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p:transition spd="fast" advClick="1">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LAB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Create the lab folder</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1 of 8</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Write the SEMI-STRUCTURED version</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3 of 8</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Query the CSV</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5 of 8</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Try to query the unstructured text</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7 of 8</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Compare the file sizes and record what each</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8 of 8</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Three files (customers.csv, customers.json, notes.txt) plus a Python script that queries each and reports the effort required.</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LAB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2 — Compare Structured, Semi-Structured and Unstructured Data — Procedure 1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Create the lab folder.</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0"/>
              </a:spcAft>
            </a:pPr>
            <a:r>
              <a:rPr sz="1050" b="0">
                <a:solidFill>
                  <a:srgbClr val="9CDCFE"/>
                </a:solidFill>
                <a:latin typeface="Arial"/>
              </a:rPr>
              <a:t>$ mkdir -p ~/dataplus/lab2 &amp;&amp; cd ~/dataplus/lab2</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Write the STRUCTURED version — a delimited CSV with a fixed header and one record per line.</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0"/>
              </a:spcAft>
            </a:pPr>
            <a:r>
              <a:rPr sz="1050" b="0">
                <a:solidFill>
                  <a:srgbClr val="9CDCFE"/>
                </a:solidFill>
                <a:latin typeface="Arial"/>
              </a:rPr>
              <a:t>$ printf 'customer_id,name,city,spend\n1,Mei Tan,Singapore,240.50\n2,Ravi Kumar,Jurong,89.00\n' &gt; customers.csv</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1481328" y="4023360"/>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Write the SEMI-STRUCTURED version — JSON, which is self-describing and allows nested and ragged fields.</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0"/>
              </a:spcAft>
            </a:pPr>
            <a:r>
              <a:rPr sz="780" b="0">
                <a:solidFill>
                  <a:srgbClr val="9CDCFE"/>
                </a:solidFill>
                <a:latin typeface="Arial"/>
              </a:rPr>
              <a:t>$ printf '[{"customer_id":1,"name":"Mei</a:t>
            </a:r>
          </a:p>
          <a:p>
            <a:pPr algn="l">
              <a:spcAft>
                <a:spcPts val="0"/>
              </a:spcAft>
            </a:pPr>
            <a:r>
              <a:rPr sz="780" b="0">
                <a:solidFill>
                  <a:srgbClr val="9CDCFE"/>
                </a:solidFill>
                <a:latin typeface="Arial"/>
              </a:rPr>
              <a:t>   Tan","city":"Singapore","spend":240.50,"tags":["vip","repeat"]},{"customer_id":2,"name":"Ravi</a:t>
            </a:r>
          </a:p>
          <a:p>
            <a:pPr algn="l">
              <a:spcAft>
                <a:spcPts val="0"/>
              </a:spcAft>
            </a:pPr>
            <a:r>
              <a:rPr sz="780" b="0">
                <a:solidFill>
                  <a:srgbClr val="9CDCFE"/>
                </a:solidFill>
                <a:latin typeface="Arial"/>
              </a:rPr>
              <a:t>   Kumar","city":"Jurong","spend":89.00}]' &gt; customers.json</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p:transition spd="fast" advClick="1">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LAB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2 — Compare Structured, Semi-Structured and Unstructured Data — Procedure 2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Write the UNSTRUCTURED version — the same facts buried in prose, with no schema at all.</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0"/>
              </a:spcAft>
            </a:pPr>
            <a:r>
              <a:rPr sz="900" b="0">
                <a:solidFill>
                  <a:srgbClr val="9CDCFE"/>
                </a:solidFill>
                <a:latin typeface="Arial"/>
              </a:rPr>
              <a:t>$ printf 'Mei Tan from Singapore spent about $240.50 with us this quarter. Ravi Kumar (Jurong) spent 89 dollars.\n' &gt;</a:t>
            </a:r>
          </a:p>
          <a:p>
            <a:pPr algn="l">
              <a:spcAft>
                <a:spcPts val="0"/>
              </a:spcAft>
            </a:pPr>
            <a:r>
              <a:rPr sz="900" b="0">
                <a:solidFill>
                  <a:srgbClr val="9CDCFE"/>
                </a:solidFill>
                <a:latin typeface="Arial"/>
              </a:rPr>
              <a:t>   notes.txt</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Query the CSV — three lines of code, because the structure is guaranteed.</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0"/>
              </a:spcAft>
            </a:pPr>
            <a:r>
              <a:rPr sz="1050" b="0">
                <a:solidFill>
                  <a:srgbClr val="9CDCFE"/>
                </a:solidFill>
                <a:latin typeface="Arial"/>
              </a:rPr>
              <a:t>$ python3 -c "import csv;print(sum(float(r['spend']) for r in csv.DictReader(open('customers.csv'))))"</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25" name="TextBox 24"/>
          <p:cNvSpPr txBox="1"/>
          <p:nvPr/>
        </p:nvSpPr>
        <p:spPr>
          <a:xfrm>
            <a:off x="1481328" y="4023360"/>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Query the JSON — still easy, and it carries the extra 'tags' field the CSV could not hold.</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0"/>
              </a:spcAft>
            </a:pPr>
            <a:r>
              <a:rPr sz="1050" b="0">
                <a:solidFill>
                  <a:srgbClr val="9CDCFE"/>
                </a:solidFill>
                <a:latin typeface="Arial"/>
              </a:rPr>
              <a:t>$ python3 -c "import json;d=json.load(open('customers.json'));print(sum(r['spend'] for r in d));print(d[0].get('tags'))"</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p:transition spd="fast" advClick="1">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LAB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2 — Compare Structured, Semi-Structured and Unstructured Data — Procedure 3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Try to query the unstructured text — you need a regular expression, and it is fragile.</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0"/>
              </a:spcAft>
            </a:pPr>
            <a:r>
              <a:rPr sz="1050" b="0">
                <a:solidFill>
                  <a:srgbClr val="9CDCFE"/>
                </a:solidFill>
                <a:latin typeface="Arial"/>
              </a:rPr>
              <a:t>$ python3 -c "import re;t=open('notes.txt').read();print(re.findall(r'[$]?([0-9]+(?:[.][0-9]{2})?)\s*(?:dollars)?',t))"</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Compare the file sizes and record what each format cost you in query effort.</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0"/>
              </a:spcAft>
            </a:pPr>
            <a:r>
              <a:rPr sz="1050" b="0">
                <a:solidFill>
                  <a:srgbClr val="9CDCFE"/>
                </a:solidFill>
                <a:latin typeface="Arial"/>
              </a:rPr>
              <a:t>$ ls -l customers.csv customers.json notes.txt</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p:transition spd="fast" advClick="1">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LAB 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2 — Verify Your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CSV and JSON both total 329.5. The JSON also returns ['vip','repeat'] — a field the CSV cannot represent. The regex over notes.txt returns extra noise, proving unstructured data needs parsing before analysis.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JSONDecodeError</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shell ate a quote. Re-run the printf line exactly, or use nano customers.json and paste the JSON in.</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regex returns '240.50' and '89' plus junk</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That is the expected lesson — unstructured text has no guarantees. Tighten the pattern in RegexLab.</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KeyError: 'spend'</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Your CSV header row is missing or misspelled. Run head -1 customers.csv to check it.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p:transition spd="fast" advClick="1">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LAB 3</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Lab 3 — Profile Machine/Log Data as a Data Source (PCAP Analyzer)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3</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Identify data sources: logs, machine data and repositories; recognise infrastructure concepts (Domain 1); LO1 / A1.</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Machine-generated data is one of the exam's named data sources, and it never arrives analysis-ready. You load a packet capture into the browser-based PCAP Analyzer, read the statistics it derives, and translate what you see into the data-analyst vocabulary of records, fields, dimensions and measures.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completed data-source profile of a machine-data feed: record count, field inventory, dimensions vs measures, and three analytical questions it can answer.</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PCAP Analyzer (https://alfredang.github.io/pcapanalyzer/), any .pcap/.pcapng sample</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 can state the record count and average packet size, classify at least five fields as dimension or measure, and explain why Protocol Distribution is a frequency table rather than a raw record list.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p:transition spd="fast" advClick="1">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LAB 3</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3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Open the PCAP Analyzer in your browser</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1 of 8</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Drag the</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3 of 8</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Open the Protocol Distribution panel</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5 of 8</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Click any single packet to inspect its field</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7 of 8</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Write down three business questions this fee</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8 of 8</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completed data-source profile of a machine-data feed: record count, field inventory, dimensions vs measures, and three analytical questions it can answer.</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LAB 3</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3 — Profile Machine/Log Data as a Data Source (PCAP Analyzer) — Procedure 1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55648"/>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Open the PCAP Analyzer in your browser. Everything is parsed locally — nothing is uploaded.</a:t>
            </a:r>
          </a:p>
        </p:txBody>
      </p:sp>
      <p:sp>
        <p:nvSpPr>
          <p:cNvPr id="12" name="Rectangle 11"/>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Generate a small capture on Killercoda if you do not have one, then download it to your machine.</a:t>
            </a:r>
          </a:p>
        </p:txBody>
      </p:sp>
      <p:sp>
        <p:nvSpPr>
          <p:cNvPr id="17" name="Rectangle 16"/>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27632" y="3273552"/>
            <a:ext cx="9326880" cy="530352"/>
          </a:xfrm>
          <a:prstGeom prst="rect">
            <a:avLst/>
          </a:prstGeom>
          <a:noFill/>
        </p:spPr>
        <p:txBody>
          <a:bodyPr wrap="square" anchor="ctr">
            <a:spAutoFit/>
          </a:bodyPr>
          <a:lstStyle/>
          <a:p>
            <a:pPr algn="l">
              <a:spcAft>
                <a:spcPts val="0"/>
              </a:spcAft>
            </a:pPr>
            <a:r>
              <a:rPr sz="1050" b="0">
                <a:solidFill>
                  <a:srgbClr val="9CDCFE"/>
                </a:solidFill>
                <a:latin typeface="Arial"/>
              </a:rPr>
              <a:t>$ sudo tcpdump -i any -c 200 -w ~/sample.pcap 2&gt;/dev/null || echo 'use the sample capture supplied by your trainer'</a:t>
            </a:r>
          </a:p>
        </p:txBody>
      </p:sp>
      <p:sp>
        <p:nvSpPr>
          <p:cNvPr id="19" name="Rectangle 18"/>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3" name="TextBox 22"/>
          <p:cNvSpPr txBox="1"/>
          <p:nvPr/>
        </p:nvSpPr>
        <p:spPr>
          <a:xfrm>
            <a:off x="1481328" y="3986784"/>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Drag the .pcap file onto the drop zone and wait for the four summary statistics to appear.</a:t>
            </a:r>
          </a:p>
        </p:txBody>
      </p:sp>
      <p:sp>
        <p:nvSpPr>
          <p:cNvPr id="24" name="Rectangle 23"/>
          <p:cNvSpPr/>
          <p:nvPr/>
        </p:nvSpPr>
        <p:spPr>
          <a:xfrm>
            <a:off x="777240" y="5102352"/>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77240" y="5102352"/>
            <a:ext cx="82296" cy="10241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69264" y="5431536"/>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9264" y="543153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8" name="TextBox 27"/>
          <p:cNvSpPr txBox="1"/>
          <p:nvPr/>
        </p:nvSpPr>
        <p:spPr>
          <a:xfrm>
            <a:off x="1481328" y="5102352"/>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Record the four derived MEASURES: packet count, total bytes, capture duration and average packet size.</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p:transition spd="fast" advClick="1">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LAB 3</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3 — Profile Machine/Log Data as a Data Source (PCAP Analyzer) — Procedure 2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1" name="TextBox 10"/>
          <p:cNvSpPr txBox="1"/>
          <p:nvPr/>
        </p:nvSpPr>
        <p:spPr>
          <a:xfrm>
            <a:off x="1481328" y="1755648"/>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Open the Protocol Distribution panel — this is a categorical frequency table, exactly like a GROUP BY.</a:t>
            </a:r>
          </a:p>
        </p:txBody>
      </p:sp>
      <p:sp>
        <p:nvSpPr>
          <p:cNvPr id="12" name="Rectangle 11"/>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6" name="TextBox 15"/>
          <p:cNvSpPr txBox="1"/>
          <p:nvPr/>
        </p:nvSpPr>
        <p:spPr>
          <a:xfrm>
            <a:off x="1481328" y="2871216"/>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Open Top Talkers and Top Conversations — these are aggregations over a source/destination DIMENSION.</a:t>
            </a:r>
          </a:p>
        </p:txBody>
      </p:sp>
      <p:sp>
        <p:nvSpPr>
          <p:cNvPr id="17" name="Rectangle 16"/>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21" name="TextBox 20"/>
          <p:cNvSpPr txBox="1"/>
          <p:nvPr/>
        </p:nvSpPr>
        <p:spPr>
          <a:xfrm>
            <a:off x="1481328" y="3986784"/>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Click any single packet to inspect its fields, and list which are dimensions (IP, protocol) and which are measures (length).</a:t>
            </a:r>
          </a:p>
        </p:txBody>
      </p:sp>
      <p:sp>
        <p:nvSpPr>
          <p:cNvPr id="22" name="Rectangle 21"/>
          <p:cNvSpPr/>
          <p:nvPr/>
        </p:nvSpPr>
        <p:spPr>
          <a:xfrm>
            <a:off x="777240" y="5102352"/>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102352"/>
            <a:ext cx="82296" cy="10241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69264" y="5431536"/>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9264" y="543153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26" name="TextBox 25"/>
          <p:cNvSpPr txBox="1"/>
          <p:nvPr/>
        </p:nvSpPr>
        <p:spPr>
          <a:xfrm>
            <a:off x="1481328" y="5102352"/>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Write down three business questions this feed could answer, and one it cannot — noting what extra data you would need.</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p:transition spd="fast" advClick="1">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01  ·  LAB 3</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3 — Verify Your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 can state the record count and average packet size, classify at least five fields as dimension or measure, and explain why Protocol Distribution is a frequency table rather than a raw record list.</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file will not load</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analyser accepts .pcap and .pcapng only. Confirm the extension, and that the file is not zero bytes (ls -l).</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tcpdump: permission denied</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Prefix with sudo on Killercoda. If it is still blocked, use the sample capture your trainer provides.</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statistics look empty</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 capture with zero packets produces zero rows. Re-capture with a larger -c value while browsing in another tab.</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p:transition spd="fast" advClick="1">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01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Data Concepts and Environments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71907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71907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Schemas</a:t>
            </a:r>
          </a:p>
          <a:p>
            <a:pPr algn="l">
              <a:spcAft>
                <a:spcPts val="300"/>
              </a:spcAft>
            </a:pPr>
            <a:r>
              <a:rPr sz="1000" b="0">
                <a:solidFill>
                  <a:srgbClr val="5B6372"/>
                </a:solidFill>
                <a:latin typeface="Arial"/>
              </a:rPr>
              <a:t>Schemas define both organisation and relationships, and are designed before the system is built.</a:t>
            </a:r>
          </a:p>
        </p:txBody>
      </p:sp>
      <p:sp>
        <p:nvSpPr>
          <p:cNvPr id="12" name="Rectangle 11"/>
          <p:cNvSpPr/>
          <p:nvPr/>
        </p:nvSpPr>
        <p:spPr>
          <a:xfrm>
            <a:off x="777240" y="244144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441448"/>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37744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37744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56946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Relational vs NoSQL</a:t>
            </a:r>
          </a:p>
          <a:p>
            <a:pPr algn="l">
              <a:spcAft>
                <a:spcPts val="300"/>
              </a:spcAft>
            </a:pPr>
            <a:r>
              <a:rPr sz="1000" b="0">
                <a:solidFill>
                  <a:srgbClr val="5B6372"/>
                </a:solidFill>
                <a:latin typeface="Arial"/>
              </a:rPr>
              <a:t>Relational databases use SQL and fixed tables; non-relational stores trade schema for scale and flexibility.</a:t>
            </a:r>
          </a:p>
        </p:txBody>
      </p:sp>
      <p:sp>
        <p:nvSpPr>
          <p:cNvPr id="17" name="Rectangle 16"/>
          <p:cNvSpPr/>
          <p:nvPr/>
        </p:nvSpPr>
        <p:spPr>
          <a:xfrm>
            <a:off x="777240" y="3099816"/>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099816"/>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03580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0358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227832"/>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Normalisation</a:t>
            </a:r>
          </a:p>
          <a:p>
            <a:pPr algn="l">
              <a:spcAft>
                <a:spcPts val="300"/>
              </a:spcAft>
            </a:pPr>
            <a:r>
              <a:rPr sz="1000" b="0">
                <a:solidFill>
                  <a:srgbClr val="5B6372"/>
                </a:solidFill>
                <a:latin typeface="Arial"/>
              </a:rPr>
              <a:t>Normalisation removes redundancy for OLTP; denormalisation restores it for fast OLAP analysis.</a:t>
            </a:r>
          </a:p>
        </p:txBody>
      </p:sp>
      <p:sp>
        <p:nvSpPr>
          <p:cNvPr id="22" name="Rectangle 21"/>
          <p:cNvSpPr/>
          <p:nvPr/>
        </p:nvSpPr>
        <p:spPr>
          <a:xfrm>
            <a:off x="777240" y="3758184"/>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3758184"/>
            <a:ext cx="91440" cy="42062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3886200"/>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Keys &amp; integrity</a:t>
            </a:r>
          </a:p>
          <a:p>
            <a:pPr algn="l">
              <a:spcAft>
                <a:spcPts val="300"/>
              </a:spcAft>
            </a:pPr>
            <a:r>
              <a:rPr sz="1000" b="0">
                <a:solidFill>
                  <a:srgbClr val="5B6372"/>
                </a:solidFill>
                <a:latin typeface="Arial"/>
              </a:rPr>
              <a:t>Primary and foreign keys plus referential integrity are what stop your data becoming orphaned.</a:t>
            </a:r>
          </a:p>
        </p:txBody>
      </p:sp>
      <p:sp>
        <p:nvSpPr>
          <p:cNvPr id="27" name="Rectangle 26"/>
          <p:cNvSpPr/>
          <p:nvPr/>
        </p:nvSpPr>
        <p:spPr>
          <a:xfrm>
            <a:off x="777240" y="4416552"/>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416552"/>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35254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35254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544568"/>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Storage architectures</a:t>
            </a:r>
          </a:p>
          <a:p>
            <a:pPr algn="l">
              <a:spcAft>
                <a:spcPts val="300"/>
              </a:spcAft>
            </a:pPr>
            <a:r>
              <a:rPr sz="1000" b="0">
                <a:solidFill>
                  <a:srgbClr val="5B6372"/>
                </a:solidFill>
                <a:latin typeface="Arial"/>
              </a:rPr>
              <a:t>Warehouses, marts, lakes and lakehouses trade structure, cost and query flexibility against each other.</a:t>
            </a:r>
          </a:p>
        </p:txBody>
      </p:sp>
      <p:sp>
        <p:nvSpPr>
          <p:cNvPr id="32" name="Rectangle 31"/>
          <p:cNvSpPr/>
          <p:nvPr/>
        </p:nvSpPr>
        <p:spPr>
          <a:xfrm>
            <a:off x="777240" y="507492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074920"/>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272" y="501091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 y="501091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1764792" y="520293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Structure &amp; formats</a:t>
            </a:r>
          </a:p>
          <a:p>
            <a:pPr algn="l">
              <a:spcAft>
                <a:spcPts val="300"/>
              </a:spcAft>
            </a:pPr>
            <a:r>
              <a:rPr sz="1000" b="0">
                <a:solidFill>
                  <a:srgbClr val="5B6372"/>
                </a:solidFill>
                <a:latin typeface="Arial"/>
              </a:rPr>
              <a:t>Data is structured, semi-structured or unstructured, and arrives in CSV, JSON, XML, XLSX or Parquet.</a:t>
            </a:r>
          </a:p>
        </p:txBody>
      </p:sp>
      <p:sp>
        <p:nvSpPr>
          <p:cNvPr id="37" name="Rectangle 36"/>
          <p:cNvSpPr/>
          <p:nvPr/>
        </p:nvSpPr>
        <p:spPr>
          <a:xfrm>
            <a:off x="777240" y="573328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733288"/>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66928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66928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86130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Infrastructure &amp; AI</a:t>
            </a:r>
          </a:p>
          <a:p>
            <a:pPr algn="l">
              <a:spcAft>
                <a:spcPts val="300"/>
              </a:spcAft>
            </a:pPr>
            <a:r>
              <a:rPr sz="1000" b="0">
                <a:solidFill>
                  <a:srgbClr val="5B6372"/>
                </a:solidFill>
                <a:latin typeface="Arial"/>
              </a:rPr>
              <a:t>Infrastructure may be on-premise, cloud, hybrid or containerised — and AI/NLP/RPA are now part of the toolchain.</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p:transition spd="fast" advClick="1">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F59E0B"/>
                </a:solidFill>
                <a:latin typeface="Arial"/>
              </a:rPr>
              <a:t>1 hour</a:t>
            </a:r>
          </a:p>
        </p:txBody>
      </p:sp>
    </p:spTree>
  </p:cSld>
  <p:clrMapOvr>
    <a:masterClrMapping/>
  </p:clrMapOvr>
  <p:transition spd="fast" advClick="1">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DOMAIN 02  ·  22% OF THE EXAM</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Data Acquisition and Preparation</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Data integration · queries · exploration · missing values · duplication · outliers · cleansing · parsing · formatting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02</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p:transition spd="med" advClick="1">
    <p:push dir="l"/>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THIS DOMAIN COVERS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Domain 2 — Key Concepts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71907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71907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ETL vs ELT</a:t>
            </a:r>
          </a:p>
          <a:p>
            <a:pPr algn="l">
              <a:spcAft>
                <a:spcPts val="300"/>
              </a:spcAft>
            </a:pPr>
            <a:r>
              <a:rPr sz="1000" b="0">
                <a:solidFill>
                  <a:srgbClr val="5B6372"/>
                </a:solidFill>
                <a:latin typeface="Arial"/>
              </a:rPr>
              <a:t>ETL transforms data before it lands in the warehouse; ELT loads it raw into a lake and transforms it later, on demand.</a:t>
            </a:r>
          </a:p>
        </p:txBody>
      </p:sp>
      <p:sp>
        <p:nvSpPr>
          <p:cNvPr id="12" name="Rectangle 11"/>
          <p:cNvSpPr/>
          <p:nvPr/>
        </p:nvSpPr>
        <p:spPr>
          <a:xfrm>
            <a:off x="777240" y="244144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441448"/>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37744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37744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56946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Where data comes from</a:t>
            </a:r>
          </a:p>
          <a:p>
            <a:pPr algn="l">
              <a:spcAft>
                <a:spcPts val="300"/>
              </a:spcAft>
            </a:pPr>
            <a:r>
              <a:rPr sz="1000" b="0">
                <a:solidFill>
                  <a:srgbClr val="5B6372"/>
                </a:solidFill>
                <a:latin typeface="Arial"/>
              </a:rPr>
              <a:t>Data can be acquired from databases, APIs, web scraping, machine and log data, public repositories, surveys and sampling.</a:t>
            </a:r>
          </a:p>
        </p:txBody>
      </p:sp>
      <p:sp>
        <p:nvSpPr>
          <p:cNvPr id="17" name="Rectangle 16"/>
          <p:cNvSpPr/>
          <p:nvPr/>
        </p:nvSpPr>
        <p:spPr>
          <a:xfrm>
            <a:off x="777240" y="3099816"/>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099816"/>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03580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0358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227832"/>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Profile before you trust</a:t>
            </a:r>
          </a:p>
          <a:p>
            <a:pPr algn="l">
              <a:spcAft>
                <a:spcPts val="300"/>
              </a:spcAft>
            </a:pPr>
            <a:r>
              <a:rPr sz="1000" b="0">
                <a:solidFill>
                  <a:srgbClr val="5B6372"/>
                </a:solidFill>
                <a:latin typeface="Arial"/>
              </a:rPr>
              <a:t>Data profiling is the disciplined first pass: identify the source, the field names and types, the keys, and what the data actually contains.</a:t>
            </a:r>
          </a:p>
        </p:txBody>
      </p:sp>
      <p:sp>
        <p:nvSpPr>
          <p:cNvPr id="22" name="Rectangle 21"/>
          <p:cNvSpPr/>
          <p:nvPr/>
        </p:nvSpPr>
        <p:spPr>
          <a:xfrm>
            <a:off x="777240" y="3758184"/>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3758184"/>
            <a:ext cx="91440" cy="42062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3886200"/>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The four defect classes</a:t>
            </a:r>
          </a:p>
          <a:p>
            <a:pPr algn="l">
              <a:spcAft>
                <a:spcPts val="300"/>
              </a:spcAft>
            </a:pPr>
            <a:r>
              <a:rPr sz="1000" b="0">
                <a:solidFill>
                  <a:srgbClr val="5B6372"/>
                </a:solidFill>
                <a:latin typeface="Arial"/>
              </a:rPr>
              <a:t>The four recurring data-quality defects are missing values (NULL), duplicated or redundant records, invalid values, and outliers.</a:t>
            </a:r>
          </a:p>
        </p:txBody>
      </p:sp>
      <p:sp>
        <p:nvSpPr>
          <p:cNvPr id="27" name="Rectangle 26"/>
          <p:cNvSpPr/>
          <p:nvPr/>
        </p:nvSpPr>
        <p:spPr>
          <a:xfrm>
            <a:off x="777240" y="4416552"/>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416552"/>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35254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35254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544568"/>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Cleansing techniques</a:t>
            </a:r>
          </a:p>
          <a:p>
            <a:pPr algn="l">
              <a:spcAft>
                <a:spcPts val="300"/>
              </a:spcAft>
            </a:pPr>
            <a:r>
              <a:rPr sz="1000" b="0">
                <a:solidFill>
                  <a:srgbClr val="5B6372"/>
                </a:solidFill>
                <a:latin typeface="Arial"/>
              </a:rPr>
              <a:t>Cleansing techniques include filtering or imputing NULLs, deduplication, trimming invisible characters, and correcting data types.</a:t>
            </a:r>
          </a:p>
        </p:txBody>
      </p:sp>
      <p:sp>
        <p:nvSpPr>
          <p:cNvPr id="32" name="Rectangle 31"/>
          <p:cNvSpPr/>
          <p:nvPr/>
        </p:nvSpPr>
        <p:spPr>
          <a:xfrm>
            <a:off x="777240" y="507492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074920"/>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272" y="501091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 y="501091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1764792" y="520293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Manipulation techniques</a:t>
            </a:r>
          </a:p>
          <a:p>
            <a:pPr algn="l">
              <a:spcAft>
                <a:spcPts val="300"/>
              </a:spcAft>
            </a:pPr>
            <a:r>
              <a:rPr sz="1000" b="0">
                <a:solidFill>
                  <a:srgbClr val="5B6372"/>
                </a:solidFill>
                <a:latin typeface="Arial"/>
              </a:rPr>
              <a:t>Data manipulation covers recoding, derived variables, imputation, aggregation, transposing, appending, merging and parsing.</a:t>
            </a:r>
          </a:p>
        </p:txBody>
      </p:sp>
      <p:sp>
        <p:nvSpPr>
          <p:cNvPr id="37" name="Rectangle 36"/>
          <p:cNvSpPr/>
          <p:nvPr/>
        </p:nvSpPr>
        <p:spPr>
          <a:xfrm>
            <a:off x="777240" y="573328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733288"/>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66928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66928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86130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Joins, filters and indexes</a:t>
            </a:r>
          </a:p>
          <a:p>
            <a:pPr algn="l">
              <a:spcAft>
                <a:spcPts val="300"/>
              </a:spcAft>
            </a:pPr>
            <a:r>
              <a:rPr sz="1000" b="0">
                <a:solidFill>
                  <a:srgbClr val="5B6372"/>
                </a:solidFill>
                <a:latin typeface="Arial"/>
              </a:rPr>
              <a:t>SQL joins (inner, left, right, full), filters, subqueries, indexes and execution plans are how analysts combine and optimise datasets.</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p:transition spd="fast" advClick="1">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DATA ACQUISITION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ETL Pipeline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Extract</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Pull from the source</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Transform</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Clean, convert, conform</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Load</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Write to the warehouse</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Validate</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Reconcile the counts</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Schedule</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Repeat on a cadence</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THE RULE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In ETL the data is transformed BEFORE it lands — so what arrives in the warehouse is already conformed and trustworthy.</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INTEGRATION METHODS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ETL vs ELT — When to Use Which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Aspect</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ETL</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ELT</a:t>
            </a:r>
          </a:p>
        </p:txBody>
      </p:sp>
      <p:sp>
        <p:nvSpPr>
          <p:cNvPr id="13" name="Rectangle 12"/>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Order</a:t>
            </a:r>
          </a:p>
        </p:txBody>
      </p:sp>
      <p:sp>
        <p:nvSpPr>
          <p:cNvPr id="15" name="Rectangle 14"/>
          <p:cNvSpPr/>
          <p:nvPr/>
        </p:nvSpPr>
        <p:spPr>
          <a:xfrm>
            <a:off x="3542202"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Extract → Transform → Load</a:t>
            </a:r>
          </a:p>
        </p:txBody>
      </p:sp>
      <p:sp>
        <p:nvSpPr>
          <p:cNvPr id="17" name="Rectangle 16"/>
          <p:cNvSpPr/>
          <p:nvPr/>
        </p:nvSpPr>
        <p:spPr>
          <a:xfrm>
            <a:off x="7476957"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Extract → Load → Transform</a:t>
            </a:r>
          </a:p>
        </p:txBody>
      </p:sp>
      <p:sp>
        <p:nvSpPr>
          <p:cNvPr id="19" name="Rectangle 18"/>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Transform runs</a:t>
            </a:r>
          </a:p>
        </p:txBody>
      </p:sp>
      <p:sp>
        <p:nvSpPr>
          <p:cNvPr id="21" name="Rectangle 20"/>
          <p:cNvSpPr/>
          <p:nvPr/>
        </p:nvSpPr>
        <p:spPr>
          <a:xfrm>
            <a:off x="3542202"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In a staging/processing layer</a:t>
            </a:r>
          </a:p>
        </p:txBody>
      </p:sp>
      <p:sp>
        <p:nvSpPr>
          <p:cNvPr id="23" name="Rectangle 22"/>
          <p:cNvSpPr/>
          <p:nvPr/>
        </p:nvSpPr>
        <p:spPr>
          <a:xfrm>
            <a:off x="7476957"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Inside the target platform</a:t>
            </a:r>
          </a:p>
        </p:txBody>
      </p:sp>
      <p:sp>
        <p:nvSpPr>
          <p:cNvPr id="25" name="Rectangle 24"/>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Target</a:t>
            </a:r>
          </a:p>
        </p:txBody>
      </p:sp>
      <p:sp>
        <p:nvSpPr>
          <p:cNvPr id="27" name="Rectangle 26"/>
          <p:cNvSpPr/>
          <p:nvPr/>
        </p:nvSpPr>
        <p:spPr>
          <a:xfrm>
            <a:off x="3542202"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Data warehouse</a:t>
            </a:r>
          </a:p>
        </p:txBody>
      </p:sp>
      <p:sp>
        <p:nvSpPr>
          <p:cNvPr id="29" name="Rectangle 28"/>
          <p:cNvSpPr/>
          <p:nvPr/>
        </p:nvSpPr>
        <p:spPr>
          <a:xfrm>
            <a:off x="7476957"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Data lake / lakehouse / cloud warehouse</a:t>
            </a:r>
          </a:p>
        </p:txBody>
      </p:sp>
      <p:sp>
        <p:nvSpPr>
          <p:cNvPr id="31" name="Rectangle 30"/>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Schema</a:t>
            </a:r>
          </a:p>
        </p:txBody>
      </p:sp>
      <p:sp>
        <p:nvSpPr>
          <p:cNvPr id="33" name="Rectangle 32"/>
          <p:cNvSpPr/>
          <p:nvPr/>
        </p:nvSpPr>
        <p:spPr>
          <a:xfrm>
            <a:off x="3542202"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Schema-on-write, decided up front</a:t>
            </a:r>
          </a:p>
        </p:txBody>
      </p:sp>
      <p:sp>
        <p:nvSpPr>
          <p:cNvPr id="35" name="Rectangle 34"/>
          <p:cNvSpPr/>
          <p:nvPr/>
        </p:nvSpPr>
        <p:spPr>
          <a:xfrm>
            <a:off x="7476957"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Schema-on-read, decided at query time</a:t>
            </a:r>
          </a:p>
        </p:txBody>
      </p:sp>
      <p:sp>
        <p:nvSpPr>
          <p:cNvPr id="37" name="Rectangle 3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Best when</a:t>
            </a:r>
          </a:p>
        </p:txBody>
      </p:sp>
      <p:sp>
        <p:nvSpPr>
          <p:cNvPr id="39" name="Rectangle 38"/>
          <p:cNvSpPr/>
          <p:nvPr/>
        </p:nvSpPr>
        <p:spPr>
          <a:xfrm>
            <a:off x="3542202"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Requirements are stable and known</a:t>
            </a:r>
          </a:p>
        </p:txBody>
      </p:sp>
      <p:sp>
        <p:nvSpPr>
          <p:cNvPr id="41" name="Rectangle 40"/>
          <p:cNvSpPr/>
          <p:nvPr/>
        </p:nvSpPr>
        <p:spPr>
          <a:xfrm>
            <a:off x="7476957"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You want to keep raw data for future, unknown uses</a:t>
            </a:r>
          </a:p>
        </p:txBody>
      </p:sp>
      <p:sp>
        <p:nvSpPr>
          <p:cNvPr id="43" name="Rectangle 42"/>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Trade-off</a:t>
            </a:r>
          </a:p>
        </p:txBody>
      </p:sp>
      <p:sp>
        <p:nvSpPr>
          <p:cNvPr id="45" name="Rectangle 44"/>
          <p:cNvSpPr/>
          <p:nvPr/>
        </p:nvSpPr>
        <p:spPr>
          <a:xfrm>
            <a:off x="3542202"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Clean on arrival, less flexible</a:t>
            </a:r>
          </a:p>
        </p:txBody>
      </p:sp>
      <p:sp>
        <p:nvSpPr>
          <p:cNvPr id="47" name="Rectangle 46"/>
          <p:cNvSpPr/>
          <p:nvPr/>
        </p:nvSpPr>
        <p:spPr>
          <a:xfrm>
            <a:off x="7476957"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Flexible, but transformation debt accumulates</a:t>
            </a:r>
          </a:p>
        </p:txBody>
      </p:sp>
      <p:sp>
        <p:nvSpPr>
          <p:cNvPr id="49" name="Rectangle 48"/>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358384"/>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Use ELT when you are landing into a data lake — hold the raw data and transform it when the question is known.</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p:transition spd="fast" advClick="1">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LOADING DATA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Loading Strategies and Frequency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Full load</a:t>
            </a:r>
          </a:p>
          <a:p>
            <a:pPr algn="l">
              <a:spcAft>
                <a:spcPts val="300"/>
              </a:spcAft>
            </a:pPr>
            <a:r>
              <a:rPr sz="1200" b="0">
                <a:solidFill>
                  <a:srgbClr val="5B6372"/>
                </a:solidFill>
                <a:latin typeface="Arial"/>
              </a:rPr>
              <a:t>Every row is loaded every time. Simple and self-correcting, but slow and expensive at scale.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Delta / incremental load</a:t>
            </a:r>
          </a:p>
          <a:p>
            <a:pPr algn="l">
              <a:spcAft>
                <a:spcPts val="300"/>
              </a:spcAft>
            </a:pPr>
            <a:r>
              <a:rPr sz="1200" b="0">
                <a:solidFill>
                  <a:srgbClr val="5B6372"/>
                </a:solidFill>
                <a:latin typeface="Arial"/>
              </a:rPr>
              <a:t>Only new or changed records since the last run. Fast, but you must track the watermark reliably.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Batch processing</a:t>
            </a:r>
          </a:p>
          <a:p>
            <a:pPr algn="l">
              <a:spcAft>
                <a:spcPts val="300"/>
              </a:spcAft>
            </a:pPr>
            <a:r>
              <a:rPr sz="1200" b="0">
                <a:solidFill>
                  <a:srgbClr val="5B6372"/>
                </a:solidFill>
                <a:latin typeface="Arial"/>
              </a:rPr>
              <a:t>Large volumes processed on a schedule — nightly, hourly. The default for reporting.</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Real-time / streaming</a:t>
            </a:r>
          </a:p>
          <a:p>
            <a:pPr algn="l">
              <a:spcAft>
                <a:spcPts val="300"/>
              </a:spcAft>
            </a:pPr>
            <a:r>
              <a:rPr sz="1200" b="0">
                <a:solidFill>
                  <a:srgbClr val="5B6372"/>
                </a:solidFill>
                <a:latin typeface="Arial"/>
              </a:rPr>
              <a:t>Records processed as they arrive. Needed when the decision cannot wait for the batch.</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Transaction processing</a:t>
            </a:r>
          </a:p>
          <a:p>
            <a:pPr algn="l">
              <a:spcAft>
                <a:spcPts val="300"/>
              </a:spcAft>
            </a:pPr>
            <a:r>
              <a:rPr sz="1200" b="0">
                <a:solidFill>
                  <a:srgbClr val="5B6372"/>
                </a:solidFill>
                <a:latin typeface="Arial"/>
              </a:rPr>
              <a:t>Large volumes of individual transactions handled synchronously as they occur.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Distributed processing</a:t>
            </a:r>
          </a:p>
          <a:p>
            <a:pPr algn="l">
              <a:spcAft>
                <a:spcPts val="300"/>
              </a:spcAft>
            </a:pPr>
            <a:r>
              <a:rPr sz="1200" b="0">
                <a:solidFill>
                  <a:srgbClr val="5B6372"/>
                </a:solidFill>
                <a:latin typeface="Arial"/>
              </a:rPr>
              <a:t>Very large datasets split across many servers so they can be processed in parallel.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p:transition spd="fast" advClick="1">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APPLICATION PROGRAMMING INTERFACES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API Pull vs Push</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Aspect</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Pull model</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Push model</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Who initiates</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Your system requests the data</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source notifies you when data changes</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Timing</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On your schedule — polling</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On the source's event — webhook</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Freshness</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As fresh as your polling interval</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Near real-time</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Cost</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Wasted calls when nothing changed</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Efficient, but needs a listener endpoint</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Failure mode</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You miss changes between polls</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 missed notification is lost unless retried</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Understanding the FREQUENCY of change in the source is what tells you which model you need.</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p:transition spd="fast" advClick="1">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WHERE THE DATA COMES FROM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Acquisition Methods and Their Risks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Database query</a:t>
            </a:r>
          </a:p>
          <a:p>
            <a:pPr algn="l">
              <a:spcAft>
                <a:spcPts val="300"/>
              </a:spcAft>
            </a:pPr>
            <a:r>
              <a:rPr sz="1100" b="0">
                <a:solidFill>
                  <a:srgbClr val="5B6372"/>
                </a:solidFill>
                <a:latin typeface="Arial"/>
              </a:rPr>
              <a:t>Most reliable — typed, documented, joinable. Use it whenever the source offers it.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API</a:t>
            </a:r>
          </a:p>
          <a:p>
            <a:pPr algn="l">
              <a:spcAft>
                <a:spcPts val="300"/>
              </a:spcAft>
            </a:pPr>
            <a:r>
              <a:rPr sz="1100" b="0">
                <a:solidFill>
                  <a:srgbClr val="5B6372"/>
                </a:solidFill>
                <a:latin typeface="Arial"/>
              </a:rPr>
              <a:t>A defined contract, usually JSON over HTTPS. Watch rate limits, pagination and authentication.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Web scraping</a:t>
            </a:r>
          </a:p>
          <a:p>
            <a:pPr algn="l">
              <a:spcAft>
                <a:spcPts val="300"/>
              </a:spcAft>
            </a:pPr>
            <a:r>
              <a:rPr sz="1100" b="0">
                <a:solidFill>
                  <a:srgbClr val="5B6372"/>
                </a:solidFill>
                <a:latin typeface="Arial"/>
              </a:rPr>
              <a:t>Selenium, BeautifulSoup, Scrapy. FRAGILE — a layout change breaks it — and you must have permission.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Public repositories</a:t>
            </a:r>
          </a:p>
          <a:p>
            <a:pPr algn="l">
              <a:spcAft>
                <a:spcPts val="300"/>
              </a:spcAft>
            </a:pPr>
            <a:r>
              <a:rPr sz="1100" b="0">
                <a:solidFill>
                  <a:srgbClr val="5B6372"/>
                </a:solidFill>
                <a:latin typeface="Arial"/>
              </a:rPr>
              <a:t>data.gov.sg, data.gov, Kaggle, Pew Research, GeoPostcodes. Check the licence and the currency of the data.</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Survey data</a:t>
            </a:r>
          </a:p>
          <a:p>
            <a:pPr algn="l">
              <a:spcAft>
                <a:spcPts val="300"/>
              </a:spcAft>
            </a:pPr>
            <a:r>
              <a:rPr sz="1100" b="0">
                <a:solidFill>
                  <a:srgbClr val="5B6372"/>
                </a:solidFill>
                <a:latin typeface="Arial"/>
              </a:rPr>
              <a:t>Bias is the enemy. Cover the whole range of responses; use a Likert scale for shades of opinion.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Sampling &amp; observation</a:t>
            </a:r>
          </a:p>
          <a:p>
            <a:pPr algn="l">
              <a:spcAft>
                <a:spcPts val="300"/>
              </a:spcAft>
            </a:pPr>
            <a:r>
              <a:rPr sz="1100" b="0">
                <a:solidFill>
                  <a:srgbClr val="5B6372"/>
                </a:solidFill>
                <a:latin typeface="Arial"/>
              </a:rPr>
              <a:t>Random, systematic or stratified sampling reduces volume — but a biased sample invalidates everything downstream.</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p:transition spd="fast" advClick="1">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DATA PROFILING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Profile before you trust. Always.</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Data profiling is the disciplined first pass over any new dataset: identify the source, the field names and types, the keys, the row count and what the values actually contain. Skipping it is how a wrong number reaches the board.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p:transition spd="fast" advClick="1">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DATA EXPLORATION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Data Profiling Procedure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Identify the source</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Where did this come from?</a:t>
            </a:r>
          </a:p>
        </p:txBody>
      </p:sp>
      <p:cxnSp>
        <p:nvCxnSpPr>
          <p:cNvPr id="13" name="Connector 12"/>
          <p:cNvCxnSpPr/>
          <p:nvPr/>
        </p:nvCxnSpPr>
        <p:spPr>
          <a:xfrm>
            <a:off x="2651760"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Inventory the fields</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Names and data types</a:t>
            </a:r>
          </a:p>
        </p:txBody>
      </p:sp>
      <p:cxnSp>
        <p:nvCxnSpPr>
          <p:cNvPr id="20" name="Connector 19"/>
          <p:cNvCxnSpPr/>
          <p:nvPr/>
        </p:nvCxnSpPr>
        <p:spPr>
          <a:xfrm>
            <a:off x="4855464"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Find the keys</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Primary, natural, foreign</a:t>
            </a:r>
          </a:p>
        </p:txBody>
      </p:sp>
      <p:cxnSp>
        <p:nvCxnSpPr>
          <p:cNvPr id="27" name="Connector 26"/>
          <p:cNvCxnSpPr/>
          <p:nvPr/>
        </p:nvCxnSpPr>
        <p:spPr>
          <a:xfrm>
            <a:off x="7059168"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Quantify defects</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Nulls, dupes, outliers</a:t>
            </a:r>
          </a:p>
        </p:txBody>
      </p:sp>
      <p:cxnSp>
        <p:nvCxnSpPr>
          <p:cNvPr id="34" name="Connector 33"/>
          <p:cNvCxnSpPr/>
          <p:nvPr/>
        </p:nvCxnSpPr>
        <p:spPr>
          <a:xfrm>
            <a:off x="9262872"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Document it</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Record what you found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7C3AED"/>
                </a:solidFill>
                <a:latin typeface="Arial"/>
              </a:rPr>
              <a:t>THE OUTPUT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written profile that says how bad the data is BEFORE you clean it — your baseline for measuring the cleaning.</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DATA EXPLORATION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Four Defect Classes You Must Find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Missing values (NULL)</a:t>
            </a:r>
          </a:p>
          <a:p>
            <a:pPr algn="l">
              <a:spcAft>
                <a:spcPts val="300"/>
              </a:spcAft>
            </a:pPr>
            <a:r>
              <a:rPr sz="1100" b="0">
                <a:solidFill>
                  <a:srgbClr val="5B6372"/>
                </a:solidFill>
                <a:latin typeface="Arial"/>
              </a:rPr>
              <a:t>Blank, NULL or N/A. Causes: not applicable, never collected, mismatched fields, incomplete survey.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Duplicated data</a:t>
            </a:r>
          </a:p>
          <a:p>
            <a:pPr algn="l">
              <a:spcAft>
                <a:spcPts val="300"/>
              </a:spcAft>
            </a:pPr>
            <a:r>
              <a:rPr sz="1100" b="0">
                <a:solidFill>
                  <a:srgbClr val="5B6372"/>
                </a:solidFill>
                <a:latin typeface="Arial"/>
              </a:rPr>
              <a:t>The same record repeated within one dataset. Inflates every count, sum and average.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Redundant data</a:t>
            </a:r>
          </a:p>
          <a:p>
            <a:pPr algn="l">
              <a:spcAft>
                <a:spcPts val="300"/>
              </a:spcAft>
            </a:pPr>
            <a:r>
              <a:rPr sz="1100" b="0">
                <a:solidFill>
                  <a:srgbClr val="5B6372"/>
                </a:solidFill>
                <a:latin typeface="Arial"/>
              </a:rPr>
              <a:t>Identical data stored in multiple places. Not always wrong — but it must be reconciled.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Invalid data</a:t>
            </a:r>
          </a:p>
          <a:p>
            <a:pPr algn="l">
              <a:spcAft>
                <a:spcPts val="300"/>
              </a:spcAft>
            </a:pPr>
            <a:r>
              <a:rPr sz="1100" b="0">
                <a:solidFill>
                  <a:srgbClr val="5B6372"/>
                </a:solidFill>
                <a:latin typeface="Arial"/>
              </a:rPr>
              <a:t>Wrong type, hard-coded values, invisible/non-printable ASCII characters, leading and trailing spaces.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Outliers</a:t>
            </a:r>
          </a:p>
          <a:p>
            <a:pPr algn="l">
              <a:spcAft>
                <a:spcPts val="300"/>
              </a:spcAft>
            </a:pPr>
            <a:r>
              <a:rPr sz="1100" b="0">
                <a:solidFill>
                  <a:srgbClr val="5B6372"/>
                </a:solidFill>
                <a:latin typeface="Arial"/>
              </a:rPr>
              <a:t>Values far outside the normal distance from the rest. May be an error — or the most important signal.</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Specification failures</a:t>
            </a:r>
          </a:p>
          <a:p>
            <a:pPr algn="l">
              <a:spcAft>
                <a:spcPts val="300"/>
              </a:spcAft>
            </a:pPr>
            <a:r>
              <a:rPr sz="1100" b="0">
                <a:solidFill>
                  <a:srgbClr val="5B6372"/>
                </a:solidFill>
                <a:latin typeface="Arial"/>
              </a:rPr>
              <a:t>Data that does not meet the type or quality the schema requires — usually a wrong data type.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p:transition spd="fast" advClick="1">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HANDLING MISSING VALUES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 Value Is Missing. What Do I Do?</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Is the value missing at random, or does the missingness itself mean something?</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MISSING AT RANDOM</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Impute it — substitute the mean, median or a modelled estimate — or filter the row out. Document the choice and the count.</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MEANINGFUL MISSING</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Keep it as NULL and treat it as a category. 'No answer' may be your most interesting finding — imputing it destroys that signal.</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Whichever you choose, never silently drop rows — always report how many records the decision affected.</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p:transition spd="fast" advClick="1">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DATA TRANSFORMATION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Data Manipulation Techniques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Recoding</a:t>
            </a:r>
          </a:p>
          <a:p>
            <a:pPr algn="l">
              <a:spcAft>
                <a:spcPts val="300"/>
              </a:spcAft>
            </a:pPr>
            <a:r>
              <a:rPr sz="1100" b="0">
                <a:solidFill>
                  <a:srgbClr val="5B6372"/>
                </a:solidFill>
                <a:latin typeface="Arial"/>
              </a:rPr>
              <a:t>Transforming values from one form to another — e.g. banding ages into groups. Decide: overwrite or new column?</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Derived variables</a:t>
            </a:r>
          </a:p>
          <a:p>
            <a:pPr algn="l">
              <a:spcAft>
                <a:spcPts val="300"/>
              </a:spcAft>
            </a:pPr>
            <a:r>
              <a:rPr sz="1100" b="0">
                <a:solidFill>
                  <a:srgbClr val="5B6372"/>
                </a:solidFill>
                <a:latin typeface="Arial"/>
              </a:rPr>
              <a:t>A new data point computed from existing fields. Store it (fast reads) or recompute it (saves space).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Imputation</a:t>
            </a:r>
          </a:p>
          <a:p>
            <a:pPr algn="l">
              <a:spcAft>
                <a:spcPts val="300"/>
              </a:spcAft>
            </a:pPr>
            <a:r>
              <a:rPr sz="1100" b="0">
                <a:solidFill>
                  <a:srgbClr val="5B6372"/>
                </a:solidFill>
                <a:latin typeface="Arial"/>
              </a:rPr>
              <a:t>Substituting a missing value with an estimate — mean, median, last-known or modelled.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Aggregation &amp; reduction</a:t>
            </a:r>
          </a:p>
          <a:p>
            <a:pPr algn="l">
              <a:spcAft>
                <a:spcPts val="300"/>
              </a:spcAft>
            </a:pPr>
            <a:r>
              <a:rPr sz="1100" b="0">
                <a:solidFill>
                  <a:srgbClr val="5B6372"/>
                </a:solidFill>
                <a:latin typeface="Arial"/>
              </a:rPr>
              <a:t>Summarising to a coarser grain, or sampling down. Beware introducing bias when you sample.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Transposing / unpivoting</a:t>
            </a:r>
          </a:p>
          <a:p>
            <a:pPr algn="l">
              <a:spcAft>
                <a:spcPts val="300"/>
              </a:spcAft>
            </a:pPr>
            <a:r>
              <a:rPr sz="1100" b="0">
                <a:solidFill>
                  <a:srgbClr val="5B6372"/>
                </a:solidFill>
                <a:latin typeface="Arial"/>
              </a:rPr>
              <a:t>Rotating rows into columns or columns into rows so the shape suits the analysis.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Appending &amp; merging</a:t>
            </a:r>
          </a:p>
          <a:p>
            <a:pPr algn="l">
              <a:spcAft>
                <a:spcPts val="300"/>
              </a:spcAft>
            </a:pPr>
            <a:r>
              <a:rPr sz="1100" b="0">
                <a:solidFill>
                  <a:srgbClr val="5B6372"/>
                </a:solidFill>
                <a:latin typeface="Arial"/>
              </a:rPr>
              <a:t>Inline append discards the originals; intermediate append keeps them and creates a new combined set.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p:transition spd="fast" advClick="1">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PARSING STRINGS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Parsing a Messy Field with a Regular Expression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One source column holds a name, an e-mail and a phone number. You validate the pattern in RegexLab, then apply it in pandas.</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6A9955"/>
                </a:solidFill>
                <a:latin typeface="Consolas"/>
              </a:rPr>
              <a:t># the raw value</a:t>
            </a:r>
          </a:p>
          <a:p>
            <a:pPr>
              <a:spcAft>
                <a:spcPts val="200"/>
              </a:spcAft>
            </a:pPr>
            <a:r>
              <a:rPr sz="1100">
                <a:solidFill>
                  <a:srgbClr val="9CDCFE"/>
                </a:solidFill>
                <a:latin typeface="Consolas"/>
              </a:rPr>
              <a:t>'Mei Tan &lt;mei.tan@example.sg&gt; +65 9123 4567'</a:t>
            </a:r>
          </a:p>
          <a:p>
            <a:pPr>
              <a:spcAft>
                <a:spcPts val="200"/>
              </a:spcAft>
            </a:pPr>
            <a:r>
              <a:rPr sz="1100">
                <a:solidFill>
                  <a:srgbClr val="9CDCFE"/>
                </a:solidFill>
                <a:latin typeface="Consolas"/>
              </a:rPr>
              <a:t/>
            </a:r>
          </a:p>
          <a:p>
            <a:pPr>
              <a:spcAft>
                <a:spcPts val="200"/>
              </a:spcAft>
            </a:pPr>
            <a:r>
              <a:rPr sz="1100">
                <a:solidFill>
                  <a:srgbClr val="6A9955"/>
                </a:solidFill>
                <a:latin typeface="Consolas"/>
              </a:rPr>
              <a:t># validated in RegexLab first, then applied:</a:t>
            </a:r>
          </a:p>
          <a:p>
            <a:pPr>
              <a:spcAft>
                <a:spcPts val="200"/>
              </a:spcAft>
            </a:pPr>
            <a:r>
              <a:rPr sz="1100">
                <a:solidFill>
                  <a:srgbClr val="D4D4D4"/>
                </a:solidFill>
                <a:latin typeface="Consolas"/>
              </a:rPr>
              <a:t>d['name']  = d.contact.str.extract(</a:t>
            </a:r>
          </a:p>
          <a:p>
            <a:pPr>
              <a:spcAft>
                <a:spcPts val="200"/>
              </a:spcAft>
            </a:pPr>
            <a:r>
              <a:rPr sz="1100">
                <a:solidFill>
                  <a:srgbClr val="9CDCFE"/>
                </a:solidFill>
                <a:latin typeface="Consolas"/>
              </a:rPr>
              <a:t>    r'^([A-Za-z ]+?)\s*&lt;')</a:t>
            </a:r>
          </a:p>
          <a:p>
            <a:pPr>
              <a:spcAft>
                <a:spcPts val="200"/>
              </a:spcAft>
            </a:pPr>
            <a:r>
              <a:rPr sz="1100">
                <a:solidFill>
                  <a:srgbClr val="D4D4D4"/>
                </a:solidFill>
                <a:latin typeface="Consolas"/>
              </a:rPr>
              <a:t>d['email'] = d.contact.str.extract(</a:t>
            </a:r>
          </a:p>
          <a:p>
            <a:pPr>
              <a:spcAft>
                <a:spcPts val="200"/>
              </a:spcAft>
            </a:pPr>
            <a:r>
              <a:rPr sz="1100">
                <a:solidFill>
                  <a:srgbClr val="9CDCFE"/>
                </a:solidFill>
                <a:latin typeface="Consolas"/>
              </a:rPr>
              <a:t>    r'([\w.%+-]+@[\w.-]+\.[A-Za-z]{2,})')</a:t>
            </a:r>
          </a:p>
          <a:p>
            <a:pPr>
              <a:spcAft>
                <a:spcPts val="200"/>
              </a:spcAft>
            </a:pPr>
            <a:r>
              <a:rPr sz="1100">
                <a:solidFill>
                  <a:srgbClr val="D4D4D4"/>
                </a:solidFill>
                <a:latin typeface="Consolas"/>
              </a:rPr>
              <a:t>d['phone'] = d.contact.str.extract(</a:t>
            </a:r>
          </a:p>
          <a:p>
            <a:pPr>
              <a:spcAft>
                <a:spcPts val="200"/>
              </a:spcAft>
            </a:pPr>
            <a:r>
              <a:rPr sz="1100">
                <a:solidFill>
                  <a:srgbClr val="9CDCFE"/>
                </a:solidFill>
                <a:latin typeface="Consolas"/>
              </a:rPr>
              <a:t>    r'((?:\+65 ?)?[689]\d{3} ?\d{4})')</a:t>
            </a:r>
          </a:p>
          <a:p>
            <a:pPr>
              <a:spcAft>
                <a:spcPts val="200"/>
              </a:spcAft>
            </a:pPr>
            <a:r>
              <a:rPr sz="1100">
                <a:solidFill>
                  <a:srgbClr val="9CDCFE"/>
                </a:solidFill>
                <a:latin typeface="Consolas"/>
              </a:rPr>
              <a:t/>
            </a:r>
          </a:p>
          <a:p>
            <a:pPr>
              <a:spcAft>
                <a:spcPts val="200"/>
              </a:spcAft>
            </a:pPr>
            <a:r>
              <a:rPr sz="1100">
                <a:solidFill>
                  <a:srgbClr val="6A9955"/>
                </a:solidFill>
                <a:latin typeface="Consolas"/>
              </a:rPr>
              <a:t># then normalise the phone format</a:t>
            </a:r>
          </a:p>
          <a:p>
            <a:pPr>
              <a:spcAft>
                <a:spcPts val="200"/>
              </a:spcAft>
            </a:pPr>
            <a:r>
              <a:rPr sz="1100">
                <a:solidFill>
                  <a:srgbClr val="D4D4D4"/>
                </a:solidFill>
                <a:latin typeface="Consolas"/>
              </a:rPr>
              <a:t>d['phone'] = (d.phone.str</a:t>
            </a:r>
          </a:p>
          <a:p>
            <a:pPr>
              <a:spcAft>
                <a:spcPts val="200"/>
              </a:spcAft>
            </a:pPr>
            <a:r>
              <a:rPr sz="1100">
                <a:solidFill>
                  <a:srgbClr val="D4D4D4"/>
                </a:solidFill>
                <a:latin typeface="Consolas"/>
              </a:rPr>
              <a:t>    .replace(r'[^0-9]', '', regex=True)</a:t>
            </a:r>
          </a:p>
          <a:p>
            <a:pPr>
              <a:spcAft>
                <a:spcPts val="200"/>
              </a:spcAft>
            </a:pPr>
            <a:r>
              <a:rPr sz="1100">
                <a:solidFill>
                  <a:srgbClr val="9CDCFE"/>
                </a:solidFill>
                <a:latin typeface="Consolas"/>
              </a:rPr>
              <a:t>    .str[-8:])</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^([A-Za-z ]+?)\s*&lt;</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Anchored at the start; lazy match up to the first angle bracket gives the name.</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[\w.%+-]+@[\w.-]+</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The standard e-mail shape — local part, @, domain, then a 2+ letter TLD.</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[689]\d{3} ?\d{4}</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A Singapore mobile or landline: 8 digits starting 6, 8 or 9, optional +65 and spaces.</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57800"/>
            <a:ext cx="4005072" cy="292608"/>
          </a:xfrm>
          <a:prstGeom prst="rect">
            <a:avLst/>
          </a:prstGeom>
          <a:noFill/>
        </p:spPr>
        <p:txBody>
          <a:bodyPr wrap="square" anchor="t">
            <a:spAutoFit/>
          </a:bodyPr>
          <a:lstStyle/>
          <a:p>
            <a:pPr algn="l">
              <a:spcAft>
                <a:spcPts val="400"/>
              </a:spcAft>
            </a:pPr>
            <a:r>
              <a:rPr sz="1200" b="1">
                <a:solidFill>
                  <a:srgbClr val="F59E0B"/>
                </a:solidFill>
                <a:latin typeface="Arial"/>
              </a:rPr>
              <a:t>Capturing group required</a:t>
            </a:r>
          </a:p>
        </p:txBody>
      </p:sp>
      <p:sp>
        <p:nvSpPr>
          <p:cNvPr id="25" name="TextBox 24"/>
          <p:cNvSpPr txBox="1"/>
          <p:nvPr/>
        </p:nvSpPr>
        <p:spPr>
          <a:xfrm>
            <a:off x="7232904" y="555040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pandas .str.extract returns the GROUP — without parentheses it returns NaN.</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p:transition spd="fast" advClick="1">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DATA MANIPULATION FUNCTIONS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Text, Date and Logical Functions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Parsing &amp; delimiters</a:t>
            </a:r>
          </a:p>
          <a:p>
            <a:pPr algn="l">
              <a:spcAft>
                <a:spcPts val="300"/>
              </a:spcAft>
            </a:pPr>
            <a:r>
              <a:rPr sz="1100" b="0">
                <a:solidFill>
                  <a:srgbClr val="5B6372"/>
                </a:solidFill>
                <a:latin typeface="Arial"/>
              </a:rPr>
              <a:t>Split text on spaces, commas, periods, pipes or tabs — the power of a delimiter is limited by the source data.</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Date functions</a:t>
            </a:r>
          </a:p>
          <a:p>
            <a:pPr algn="l">
              <a:spcAft>
                <a:spcPts val="300"/>
              </a:spcAft>
            </a:pPr>
            <a:r>
              <a:rPr sz="1100" b="0">
                <a:solidFill>
                  <a:srgbClr val="5B6372"/>
                </a:solidFill>
                <a:latin typeface="Arial"/>
              </a:rPr>
              <a:t>NOW() and TODAY() return the current moment; DATEDIFF() gives the interval between two dates.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Business-day functions</a:t>
            </a:r>
          </a:p>
          <a:p>
            <a:pPr algn="l">
              <a:spcAft>
                <a:spcPts val="300"/>
              </a:spcAft>
            </a:pPr>
            <a:r>
              <a:rPr sz="1100" b="0">
                <a:solidFill>
                  <a:srgbClr val="5B6372"/>
                </a:solidFill>
                <a:latin typeface="Arial"/>
              </a:rPr>
              <a:t>NETWORKDAYS() counts working days (but not public holidays); WEEKDAY(), WEEKNUM(), MONTH() extract parts.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Conditional logic</a:t>
            </a:r>
          </a:p>
          <a:p>
            <a:pPr algn="l">
              <a:spcAft>
                <a:spcPts val="300"/>
              </a:spcAft>
            </a:pPr>
            <a:r>
              <a:rPr sz="1100" b="0">
                <a:solidFill>
                  <a:srgbClr val="5B6372"/>
                </a:solidFill>
                <a:latin typeface="Arial"/>
              </a:rPr>
              <a:t>IF() tests a condition; ISNULL() substitutes a value when the expression is null.</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AND vs OR</a:t>
            </a:r>
          </a:p>
          <a:p>
            <a:pPr algn="l">
              <a:spcAft>
                <a:spcPts val="300"/>
              </a:spcAft>
            </a:pPr>
            <a:r>
              <a:rPr sz="1100" b="0">
                <a:solidFill>
                  <a:srgbClr val="5B6372"/>
                </a:solidFill>
                <a:latin typeface="Arial"/>
              </a:rPr>
              <a:t>AND requires BOTH conditions true; OR requires EITHER to be true. Getting this backwards silently changes your filter.</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Aggregations</a:t>
            </a:r>
          </a:p>
          <a:p>
            <a:pPr algn="l">
              <a:spcAft>
                <a:spcPts val="300"/>
              </a:spcAft>
            </a:pPr>
            <a:r>
              <a:rPr sz="1100" b="0">
                <a:solidFill>
                  <a:srgbClr val="5B6372"/>
                </a:solidFill>
                <a:latin typeface="Arial"/>
              </a:rPr>
              <a:t>SUM, COUNT, DISTINCT COUNT, AVERAGE, MIN, MAX — DISTINCT COUNT counts each value only once.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p:transition spd="fast" advClick="1">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QUERYING AND COMBINING DATA</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SQL Join Types — What Each One Keeps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Join type</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Keeps</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Typical use</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INNER JOIN</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Only rows matching in BOTH tables</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Confirmed transactions with a known customer</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LEFT OUTER JOIN</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All left rows + matches from the right</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All customers, including those with no orders</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RIGHT OUTER JOIN</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All right rows + matches from the left</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All orders, including orphans with no customer</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FULL OUTER JOIN</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Every row from both sides</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Reconciling two systems to find what each is missing</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CROSS JOIN</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Every combination of both tables</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Generating a complete date × product grid</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The silent killer: an INNER JOIN drops unmatched rows without warning. Always reconcile your record count before and after.</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p:transition spd="fast" advClick="1">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QUERY PERFORMANCE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Query Optimisation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Filtering</a:t>
            </a:r>
          </a:p>
          <a:p>
            <a:pPr algn="l">
              <a:spcAft>
                <a:spcPts val="300"/>
              </a:spcAft>
            </a:pPr>
            <a:r>
              <a:rPr sz="1200" b="0">
                <a:solidFill>
                  <a:srgbClr val="5B6372"/>
                </a:solidFill>
                <a:latin typeface="Arial"/>
              </a:rPr>
              <a:t>WHERE restricts the result to a subset — and cuts the work the database must do.</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Indexing</a:t>
            </a:r>
          </a:p>
          <a:p>
            <a:pPr algn="l">
              <a:spcAft>
                <a:spcPts val="300"/>
              </a:spcAft>
            </a:pPr>
            <a:r>
              <a:rPr sz="1200" b="0">
                <a:solidFill>
                  <a:srgbClr val="5B6372"/>
                </a:solidFill>
                <a:latin typeface="Arial"/>
              </a:rPr>
              <a:t>An index speeds up lookups on a column, but costs space, build time and maintenance on every write.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Parameterisation</a:t>
            </a:r>
          </a:p>
          <a:p>
            <a:pPr algn="l">
              <a:spcAft>
                <a:spcPts val="300"/>
              </a:spcAft>
            </a:pPr>
            <a:r>
              <a:rPr sz="1200" b="0">
                <a:solidFill>
                  <a:srgbClr val="5B6372"/>
                </a:solidFill>
                <a:latin typeface="Arial"/>
              </a:rPr>
              <a:t>Replace hard-coded values with parameters so one query serves many cases — and resists SQL injection.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Temporary tables</a:t>
            </a:r>
          </a:p>
          <a:p>
            <a:pPr algn="l">
              <a:spcAft>
                <a:spcPts val="300"/>
              </a:spcAft>
            </a:pPr>
            <a:r>
              <a:rPr sz="1200" b="0">
                <a:solidFill>
                  <a:srgbClr val="5B6372"/>
                </a:solidFill>
                <a:latin typeface="Arial"/>
              </a:rPr>
              <a:t>Hold an intermediate result in memory. Faster, and much easier to reason about than a giant nested query.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Subqueries</a:t>
            </a:r>
          </a:p>
          <a:p>
            <a:pPr algn="l">
              <a:spcAft>
                <a:spcPts val="300"/>
              </a:spcAft>
            </a:pPr>
            <a:r>
              <a:rPr sz="1200" b="0">
                <a:solidFill>
                  <a:srgbClr val="5B6372"/>
                </a:solidFill>
                <a:latin typeface="Arial"/>
              </a:rPr>
              <a:t>A query nested inside another. Readable, but often slower than the equivalent join.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Execution plan</a:t>
            </a:r>
          </a:p>
          <a:p>
            <a:pPr algn="l">
              <a:spcAft>
                <a:spcPts val="300"/>
              </a:spcAft>
            </a:pPr>
            <a:r>
              <a:rPr sz="1200" b="0">
                <a:solidFill>
                  <a:srgbClr val="5B6372"/>
                </a:solidFill>
                <a:latin typeface="Arial"/>
              </a:rPr>
              <a:t>The database's own visual explanation of how it will run your query — read it to find the slow step.</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p:transition spd="fast" advClick="1">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4</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4 — Explore a Dirty Dataset: Missing Values, Duplicates and Outliers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4</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Perform data exploration: find missing values, duplication, redundancy or outliers (Domain 2); LO2 / K1 / A2.</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are handed a deliberately dirty sales extract and must profile it before trusting a single number. You quantify every defect class the exam names — nulls, duplicates, redundancy and outliers — and produce a data-quality report that says how bad the data is BEFORE you clean it.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data-quality profile report quantifying null counts per column, duplicate rows, and outliers detected by z-score.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Killercoda Ubuntu, Python 3, pandas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profile reports 7 rows, 1 null city, 1 null spend, 1 null order_date, 1 duplicate row, and one extreme outlier (99999.00). The mean spend (~16720) is wildly above the median (~240.50) — proof the outlier is distorting it.</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p:transition spd="fast" advClick="1">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4</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4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Create the lab folder and install pandas if</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1 of 8</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Load it and look at the shape and dtypes fir</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3 of 8</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Count DUPLICATE rows and show which ones the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5 of 8</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Get the descriptive summary and note how bad</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7 of 8</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Write the profile report to a file so the cl</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8 of 8</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data-quality profile report quantifying null counts per column, duplicate rows, and outliers detected by z-score.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4</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4 — Explore a Dirty Dataset: Missing Values, Duplicates and Outliers — Procedure 1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Create the lab folder and install pandas if it is not already present.</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0"/>
              </a:spcAft>
            </a:pPr>
            <a:r>
              <a:rPr sz="1050" b="0">
                <a:solidFill>
                  <a:srgbClr val="9CDCFE"/>
                </a:solidFill>
                <a:latin typeface="Arial"/>
              </a:rPr>
              <a:t>$ mkdir -p ~/dataplus/lab4 &amp;&amp; cd ~/dataplus/lab4 &amp;&amp; pip3 install pandas --quiet</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Create the dirty dataset — note the blank cells, the repeated row, and the 99999 spend.</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0"/>
              </a:spcAft>
            </a:pPr>
            <a:r>
              <a:rPr sz="1050" b="0">
                <a:solidFill>
                  <a:srgbClr val="9CDCFE"/>
                </a:solidFill>
                <a:latin typeface="Arial"/>
              </a:rPr>
              <a:t>$ cat &gt; sales_dirty.csv &lt;&lt;'EOF'   # full script in the Learner Guide / lab README</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1481328" y="4023360"/>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Load it and look at the shape and dtypes first — always know how many records you started with.</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0"/>
              </a:spcAft>
            </a:pPr>
            <a:r>
              <a:rPr sz="1050" b="0">
                <a:solidFill>
                  <a:srgbClr val="9CDCFE"/>
                </a:solidFill>
                <a:latin typeface="Arial"/>
              </a:rPr>
              <a:t>$ python3 -c "import pandas as pd;d=pd.read_csv('sales_dirty.csv');print(d.shape);print(d.dtypes)"</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p:transition spd="fast" advClick="1">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4</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4 — Explore a Dirty Dataset: Missing Values, Duplicates and Outliers — Procedure 2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Count MISSING VALUES per column — the exam's first exploration task.</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0"/>
              </a:spcAft>
            </a:pPr>
            <a:r>
              <a:rPr sz="1050" b="0">
                <a:solidFill>
                  <a:srgbClr val="9CDCFE"/>
                </a:solidFill>
                <a:latin typeface="Arial"/>
              </a:rPr>
              <a:t>$ python3 -c "import pandas as pd;d=pd.read_csv('sales_dirty.csv');print(d.isnull().sum())"</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Count DUPLICATE rows and show which ones they are.</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0"/>
              </a:spcAft>
            </a:pPr>
            <a:r>
              <a:rPr sz="640" b="0">
                <a:solidFill>
                  <a:srgbClr val="9CDCFE"/>
                </a:solidFill>
                <a:latin typeface="Arial"/>
              </a:rPr>
              <a:t>$ python3 -c "import pandas as pd;</a:t>
            </a:r>
          </a:p>
          <a:p>
            <a:pPr algn="l">
              <a:spcAft>
                <a:spcPts val="0"/>
              </a:spcAft>
            </a:pPr>
            <a:r>
              <a:rPr sz="640" b="0">
                <a:solidFill>
                  <a:srgbClr val="9CDCFE"/>
                </a:solidFill>
                <a:latin typeface="Arial"/>
              </a:rPr>
              <a:t>   d=pd.read_csv('sales_dirty.csv');</a:t>
            </a:r>
          </a:p>
          <a:p>
            <a:pPr algn="l">
              <a:spcAft>
                <a:spcPts val="0"/>
              </a:spcAft>
            </a:pPr>
            <a:r>
              <a:rPr sz="640" b="0">
                <a:solidFill>
                  <a:srgbClr val="9CDCFE"/>
                </a:solidFill>
                <a:latin typeface="Arial"/>
              </a:rPr>
              <a:t>   print('dupes:',d.duplicated().sum());</a:t>
            </a:r>
          </a:p>
          <a:p>
            <a:pPr algn="l">
              <a:spcAft>
                <a:spcPts val="0"/>
              </a:spcAft>
            </a:pPr>
            <a:r>
              <a:rPr sz="640" b="0">
                <a:solidFill>
                  <a:srgbClr val="9CDCFE"/>
                </a:solidFill>
                <a:latin typeface="Arial"/>
              </a:rPr>
              <a:t>   print(d[d.duplicated(keep=False)])"</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25" name="TextBox 24"/>
          <p:cNvSpPr txBox="1"/>
          <p:nvPr/>
        </p:nvSpPr>
        <p:spPr>
          <a:xfrm>
            <a:off x="1481328" y="4023360"/>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Detect OUTLIERS with a z-score — any |z| above 3 is the standard flag.</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0"/>
              </a:spcAft>
            </a:pPr>
            <a:r>
              <a:rPr sz="640" b="0">
                <a:solidFill>
                  <a:srgbClr val="9CDCFE"/>
                </a:solidFill>
                <a:latin typeface="Arial"/>
              </a:rPr>
              <a:t>$ python3 -c "import pandas as pd;</a:t>
            </a:r>
          </a:p>
          <a:p>
            <a:pPr algn="l">
              <a:spcAft>
                <a:spcPts val="0"/>
              </a:spcAft>
            </a:pPr>
            <a:r>
              <a:rPr sz="640" b="0">
                <a:solidFill>
                  <a:srgbClr val="9CDCFE"/>
                </a:solidFill>
                <a:latin typeface="Arial"/>
              </a:rPr>
              <a:t>   d=pd.read_csv('sales_dirty.csv');</a:t>
            </a:r>
          </a:p>
          <a:p>
            <a:pPr algn="l">
              <a:spcAft>
                <a:spcPts val="0"/>
              </a:spcAft>
            </a:pPr>
            <a:r>
              <a:rPr sz="640" b="0">
                <a:solidFill>
                  <a:srgbClr val="9CDCFE"/>
                </a:solidFill>
                <a:latin typeface="Arial"/>
              </a:rPr>
              <a:t>   s=d['spend'].dropna();</a:t>
            </a:r>
          </a:p>
          <a:p>
            <a:pPr algn="l">
              <a:spcAft>
                <a:spcPts val="0"/>
              </a:spcAft>
            </a:pPr>
            <a:r>
              <a:rPr sz="640" b="0">
                <a:solidFill>
                  <a:srgbClr val="9CDCFE"/>
                </a:solidFill>
                <a:latin typeface="Arial"/>
              </a:rPr>
              <a:t>   z=(s-s.mean())/s.std();</a:t>
            </a:r>
          </a:p>
          <a:p>
            <a:pPr algn="l">
              <a:spcAft>
                <a:spcPts val="0"/>
              </a:spcAft>
            </a:pPr>
            <a:r>
              <a:rPr sz="640" b="0">
                <a:solidFill>
                  <a:srgbClr val="9CDCFE"/>
                </a:solidFill>
                <a:latin typeface="Arial"/>
              </a:rPr>
              <a:t>   print(d.loc[z[abs(z)&gt;1.5].index])"</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p:transition spd="fast" advClick="1">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4</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4 — Explore a Dirty Dataset: Missing Values, Duplicates and Outliers — Procedure 3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Get the descriptive summary and note how badly the 99999 distorts the mean versus the median.</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0"/>
              </a:spcAft>
            </a:pPr>
            <a:r>
              <a:rPr sz="640" b="0">
                <a:solidFill>
                  <a:srgbClr val="9CDCFE"/>
                </a:solidFill>
                <a:latin typeface="Arial"/>
              </a:rPr>
              <a:t>$ python3 -c "import pandas as pd;</a:t>
            </a:r>
          </a:p>
          <a:p>
            <a:pPr algn="l">
              <a:spcAft>
                <a:spcPts val="0"/>
              </a:spcAft>
            </a:pPr>
            <a:r>
              <a:rPr sz="640" b="0">
                <a:solidFill>
                  <a:srgbClr val="9CDCFE"/>
                </a:solidFill>
                <a:latin typeface="Arial"/>
              </a:rPr>
              <a:t>   d=pd.read_csv('sales_dirty.csv');</a:t>
            </a:r>
          </a:p>
          <a:p>
            <a:pPr algn="l">
              <a:spcAft>
                <a:spcPts val="0"/>
              </a:spcAft>
            </a:pPr>
            <a:r>
              <a:rPr sz="640" b="0">
                <a:solidFill>
                  <a:srgbClr val="9CDCFE"/>
                </a:solidFill>
                <a:latin typeface="Arial"/>
              </a:rPr>
              <a:t>   print(d['spend'].describe());</a:t>
            </a:r>
          </a:p>
          <a:p>
            <a:pPr algn="l">
              <a:spcAft>
                <a:spcPts val="0"/>
              </a:spcAft>
            </a:pPr>
            <a:r>
              <a:rPr sz="640" b="0">
                <a:solidFill>
                  <a:srgbClr val="9CDCFE"/>
                </a:solidFill>
                <a:latin typeface="Arial"/>
              </a:rPr>
              <a:t>   print('median',d['spend'].median())"</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Write the profile report to a file so the cleaning lab can be measured against it.</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0"/>
              </a:spcAft>
            </a:pPr>
            <a:r>
              <a:rPr sz="780" b="0">
                <a:solidFill>
                  <a:srgbClr val="9CDCFE"/>
                </a:solidFill>
                <a:latin typeface="Arial"/>
              </a:rPr>
              <a:t>$ python3 -c "import pandas as</a:t>
            </a:r>
          </a:p>
          <a:p>
            <a:pPr algn="l">
              <a:spcAft>
                <a:spcPts val="0"/>
              </a:spcAft>
            </a:pPr>
            <a:r>
              <a:rPr sz="780" b="0">
                <a:solidFill>
                  <a:srgbClr val="9CDCFE"/>
                </a:solidFill>
                <a:latin typeface="Arial"/>
              </a:rPr>
              <a:t>   pd;d=pd.read_csv('sales_dirty.csv');open('profile.txt','w').write(str(d.isnull().sum())+'\ndupes:</a:t>
            </a:r>
          </a:p>
          <a:p>
            <a:pPr algn="l">
              <a:spcAft>
                <a:spcPts val="0"/>
              </a:spcAft>
            </a:pPr>
            <a:r>
              <a:rPr sz="780" b="0">
                <a:solidFill>
                  <a:srgbClr val="9CDCFE"/>
                </a:solidFill>
                <a:latin typeface="Arial"/>
              </a:rPr>
              <a:t>   '+str(d.duplicated().sum())+'\nmean: '+str(d.spend.mean())+'\nmedian: '+str(d.spend.median()))" &amp;&amp; cat profile.txt</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p:transition spd="fast" advClick="1">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4</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4 — Verify Your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profile reports 7 rows, 1 null city, 1 null spend, 1 null order_date, 1 duplicate row, and one extreme outlier (99999.00). The mean spend (~16720) is wildly above the median (~240.50) — proof the outlier is distorting it.</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 pandas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pip3 install pandas. On Killercoda add --break-system-packages if pip refuses.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heredoc pasted as one line</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Paste the cat &gt; ... &lt;&lt;'EOF' block line by line, or use nano sales_dirty.csv instead.</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z-score flags nothing</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With only 6 values the standard deviation is huge. That is why the lab uses a 1.5 threshold — explain this effect in your report.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p:transition spd="fast" advClick="1">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Lab 5 — Build Parsing Patterns in RegexLab and Apply Them</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5</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Apply data transformation: cleansing, parsing and formatting data (Domain 2); LO2 / K1.</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Real source fields arrive as one messy string — 'Mei Tan &lt;mei.tan@example.sg&gt; +65 9123 4567'. You use RegexLab to build and validate the extraction patterns interactively, then apply the proven patterns in pandas to split one dirty column into three clean, typed fields.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Three validated regex patterns (name, email, phone) and a cleaned CSV with the single contact column parsed into three columns.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RegexLab (https://alfredang.github.io/regexgenerator/), Killercoda Ubuntu, Python 3, pandas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contacts_clean.csv holds three rows with name, email and an 8-digit phone each — 91234567, 81234567 and 61000613. No angle brackets, no +65 prefixes, no leftover spaces.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p:transition spd="fast" advClick="1">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5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Open RegexLab in your browser and clear the</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1 of 10</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Build the EMAIL pattern and watch the match</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3 of 10</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Use the Substitution panel to confirm your p</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6 of 10</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Apply the SAME patterns you validated in Reg</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8 of 10</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Save the cleaned, parsed output</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10 of 10</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Three validated regex patterns (name, email, phone) and a cleaned CSV with the single contact column parsed into three columns.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5 — Build Parsing Patterns in RegexLab and Apply Them — Procedure 1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55648"/>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Open RegexLab in your browser and clear the sample test string.</a:t>
            </a:r>
          </a:p>
        </p:txBody>
      </p:sp>
      <p:sp>
        <p:nvSpPr>
          <p:cNvPr id="12" name="Rectangle 11"/>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871216"/>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Paste these three messy contact records into the Test String box:  Mei Tan &lt;mei.tan@example.sg&gt; +65 9123 4567</a:t>
            </a:r>
          </a:p>
        </p:txBody>
      </p:sp>
      <p:sp>
        <p:nvSpPr>
          <p:cNvPr id="17" name="Rectangle 16"/>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81328" y="4023360"/>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Build the EMAIL pattern and watch the match count update live. Confirm it matches all three records.</a:t>
            </a:r>
          </a:p>
        </p:txBody>
      </p:sp>
      <p:sp>
        <p:nvSpPr>
          <p:cNvPr id="22" name="Rectangle 21"/>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627632" y="4389120"/>
            <a:ext cx="9326880" cy="530352"/>
          </a:xfrm>
          <a:prstGeom prst="rect">
            <a:avLst/>
          </a:prstGeom>
          <a:noFill/>
        </p:spPr>
        <p:txBody>
          <a:bodyPr wrap="square" anchor="ctr">
            <a:spAutoFit/>
          </a:bodyPr>
          <a:lstStyle/>
          <a:p>
            <a:pPr algn="l">
              <a:spcAft>
                <a:spcPts val="0"/>
              </a:spcAft>
            </a:pPr>
            <a:r>
              <a:rPr sz="1050" b="0">
                <a:solidFill>
                  <a:srgbClr val="9CDCFE"/>
                </a:solidFill>
                <a:latin typeface="Arial"/>
              </a:rPr>
              <a:t>$ [a-zA-Z0-9._%+-]+@[a-zA-Z0-9.-]+\.[a-zA-Z]{2,}</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p:transition spd="fast" advClick="1">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5 — Build Parsing Patterns in RegexLab and Apply Them — Procedure 2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Build the SINGAPORE PHONE pattern — 8 digits starting 6, 8 or 9, with optional +65 and spaces.</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0"/>
              </a:spcAft>
            </a:pPr>
            <a:r>
              <a:rPr sz="1050" b="0">
                <a:solidFill>
                  <a:srgbClr val="9CDCFE"/>
                </a:solidFill>
                <a:latin typeface="Arial"/>
              </a:rPr>
              <a:t>$ (?:\+65[ ]?)?[689][0-9]{3}[ ]?[0-9]{4}</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Build the NAME pattern — everything before the first angle bracket, trimmed.</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0"/>
              </a:spcAft>
            </a:pPr>
            <a:r>
              <a:rPr sz="1050" b="0">
                <a:solidFill>
                  <a:srgbClr val="9CDCFE"/>
                </a:solidFill>
                <a:latin typeface="Arial"/>
              </a:rPr>
              <a:t>$ ^([A-Za-z ]+?)\s*&lt;</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25" name="TextBox 24"/>
          <p:cNvSpPr txBox="1"/>
          <p:nvPr/>
        </p:nvSpPr>
        <p:spPr>
          <a:xfrm>
            <a:off x="1481328" y="3986784"/>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Use the Substitution panel to confirm your pattern replaces cleanly before you trust it in code.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p:transition spd="fast" advClick="1">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5 — Build Parsing Patterns in RegexLab and Apply Them — Procedure 3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Switch to Killercoda and create the messy source file.</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0"/>
              </a:spcAft>
            </a:pPr>
            <a:r>
              <a:rPr sz="900" b="0">
                <a:solidFill>
                  <a:srgbClr val="9CDCFE"/>
                </a:solidFill>
                <a:latin typeface="Arial"/>
              </a:rPr>
              <a:t>$ mkdir -p ~/dataplus/lab5 &amp;&amp; cd ~/dataplus/lab5 &amp;&amp; cat &gt; contacts.csv &lt;&lt;'EOF'   # full script in the Learner Guide /</a:t>
            </a:r>
          </a:p>
          <a:p>
            <a:pPr algn="l">
              <a:spcAft>
                <a:spcPts val="0"/>
              </a:spcAft>
            </a:pPr>
            <a:r>
              <a:rPr sz="900" b="0">
                <a:solidFill>
                  <a:srgbClr val="9CDCFE"/>
                </a:solidFill>
                <a:latin typeface="Arial"/>
              </a:rPr>
              <a:t>   lab README</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Apply the SAME patterns you validated in RegexLab, using pandas str.extract.</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0"/>
              </a:spcAft>
            </a:pPr>
            <a:r>
              <a:rPr sz="640" b="0">
                <a:solidFill>
                  <a:srgbClr val="9CDCFE"/>
                </a:solidFill>
                <a:latin typeface="Arial"/>
              </a:rPr>
              <a:t>$ python3 -c "import pandas as pd;</a:t>
            </a:r>
          </a:p>
          <a:p>
            <a:pPr algn="l">
              <a:spcAft>
                <a:spcPts val="0"/>
              </a:spcAft>
            </a:pPr>
            <a:r>
              <a:rPr sz="640" b="0">
                <a:solidFill>
                  <a:srgbClr val="9CDCFE"/>
                </a:solidFill>
                <a:latin typeface="Arial"/>
              </a:rPr>
              <a:t>   d=pd.read_csv('contacts.csv');</a:t>
            </a:r>
          </a:p>
          <a:p>
            <a:pPr algn="l">
              <a:spcAft>
                <a:spcPts val="0"/>
              </a:spcAft>
            </a:pPr>
            <a:r>
              <a:rPr sz="640" b="0">
                <a:solidFill>
                  <a:srgbClr val="9CDCFE"/>
                </a:solidFill>
                <a:latin typeface="Arial"/>
              </a:rPr>
              <a:t>   d['name']=d.contact.str.extract(r'^([A-Za-z ]+?)\s*&lt;');</a:t>
            </a:r>
          </a:p>
          <a:p>
            <a:pPr algn="l">
              <a:spcAft>
                <a:spcPts val="0"/>
              </a:spcAft>
            </a:pPr>
            <a:r>
              <a:rPr sz="640" b="0">
                <a:solidFill>
                  <a:srgbClr val="9CDCFE"/>
                </a:solidFill>
                <a:latin typeface="Arial"/>
              </a:rPr>
              <a:t>   d['email']=d.contact.str.extract(r'([a-zA-Z0-9._%+-]+@[a-zA-Z0-9.-]+\.[a-zA-Z]{2,})');</a:t>
            </a:r>
          </a:p>
          <a:p>
            <a:pPr algn="l">
              <a:spcAft>
                <a:spcPts val="0"/>
              </a:spcAft>
            </a:pPr>
            <a:r>
              <a:rPr sz="640" b="0">
                <a:solidFill>
                  <a:srgbClr val="9CDCFE"/>
                </a:solidFill>
                <a:latin typeface="Arial"/>
              </a:rPr>
              <a:t>   d['phone']=d.contact.str.extract(r'((?:\+65 ?)?[689][0-9]{3} ?[0-9]{4})');</a:t>
            </a:r>
          </a:p>
          <a:p>
            <a:pPr algn="l">
              <a:spcAft>
                <a:spcPts val="0"/>
              </a:spcAft>
            </a:pPr>
            <a:r>
              <a:rPr sz="640" b="0">
                <a:solidFill>
                  <a:srgbClr val="9CDCFE"/>
                </a:solidFill>
                <a:latin typeface="Arial"/>
              </a:rPr>
              <a:t>   print(d[['id','name','email','phone']])"</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25" name="TextBox 24"/>
          <p:cNvSpPr txBox="1"/>
          <p:nvPr/>
        </p:nvSpPr>
        <p:spPr>
          <a:xfrm>
            <a:off x="1481328" y="4023360"/>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Normalise the phone format — strip +65 and spaces so every value has the same shape.</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0"/>
              </a:spcAft>
            </a:pPr>
            <a:r>
              <a:rPr sz="640" b="0">
                <a:solidFill>
                  <a:srgbClr val="9CDCFE"/>
                </a:solidFill>
                <a:latin typeface="Arial"/>
              </a:rPr>
              <a:t>$ python3 -c "import pandas as pd,re;</a:t>
            </a:r>
          </a:p>
          <a:p>
            <a:pPr algn="l">
              <a:spcAft>
                <a:spcPts val="0"/>
              </a:spcAft>
            </a:pPr>
            <a:r>
              <a:rPr sz="640" b="0">
                <a:solidFill>
                  <a:srgbClr val="9CDCFE"/>
                </a:solidFill>
                <a:latin typeface="Arial"/>
              </a:rPr>
              <a:t>   d=pd.read_csv('contacts.csv');</a:t>
            </a:r>
          </a:p>
          <a:p>
            <a:pPr algn="l">
              <a:spcAft>
                <a:spcPts val="0"/>
              </a:spcAft>
            </a:pPr>
            <a:r>
              <a:rPr sz="640" b="0">
                <a:solidFill>
                  <a:srgbClr val="9CDCFE"/>
                </a:solidFill>
                <a:latin typeface="Arial"/>
              </a:rPr>
              <a:t>   d['phone']=d.contact.str.extract(r'((?:\+65 ?)?[689][0-9]{3} ?[0-9]{4})')[0].str.replace(r'[^0-9]','',regex=True).str[-8:];</a:t>
            </a:r>
          </a:p>
          <a:p>
            <a:pPr algn="l">
              <a:spcAft>
                <a:spcPts val="0"/>
              </a:spcAft>
            </a:pPr>
            <a:r>
              <a:rPr sz="640" b="0">
                <a:solidFill>
                  <a:srgbClr val="9CDCFE"/>
                </a:solidFill>
                <a:latin typeface="Arial"/>
              </a:rPr>
              <a:t>   print(d[['id','phone']])"</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p:transition spd="fast" advClick="1">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5 — Build Parsing Patterns in RegexLab and Apply Them — Procedure 4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Save the cleaned, parsed output.</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0"/>
              </a:spcAft>
            </a:pPr>
            <a:r>
              <a:rPr sz="640" b="0">
                <a:solidFill>
                  <a:srgbClr val="9CDCFE"/>
                </a:solidFill>
                <a:latin typeface="Arial"/>
              </a:rPr>
              <a:t>$ python3 -c "import pandas as pd;d=pd.read_csv('contacts.csv');d['name']=d.contact.str.extract(r'^([A-Za-z</a:t>
            </a:r>
          </a:p>
          <a:p>
            <a:pPr algn="l">
              <a:spcAft>
                <a:spcPts val="0"/>
              </a:spcAft>
            </a:pPr>
            <a:r>
              <a:rPr sz="640" b="0">
                <a:solidFill>
                  <a:srgbClr val="9CDCFE"/>
                </a:solidFill>
                <a:latin typeface="Arial"/>
              </a:rPr>
              <a:t>   ]+?)\s*&lt;');d['email']=d.contact.str.extract(r'([a-zA-Z0-9._%+-]+@[a-zA-Z0-9.-]+\.[a-zA-Z]{2,})</a:t>
            </a:r>
          </a:p>
          <a:p>
            <a:pPr algn="l">
              <a:spcAft>
                <a:spcPts val="0"/>
              </a:spcAft>
            </a:pPr>
            <a:r>
              <a:rPr sz="640" b="0">
                <a:solidFill>
                  <a:srgbClr val="9CDCFE"/>
                </a:solidFill>
                <a:latin typeface="Arial"/>
              </a:rPr>
              <a:t>   ');d['phone']=d.contact.str.extract(r'((?:\+65 ?)?[689][0-9]{3}</a:t>
            </a:r>
          </a:p>
          <a:p>
            <a:pPr algn="l">
              <a:spcAft>
                <a:spcPts val="0"/>
              </a:spcAft>
            </a:pPr>
            <a:r>
              <a:rPr sz="640" b="0">
                <a:solidFill>
                  <a:srgbClr val="9CDCFE"/>
                </a:solidFill>
                <a:latin typeface="Arial"/>
              </a:rPr>
              <a:t>   ?[0-9]{4})')[0].str.replace(r'[^0-9]','',regex=True).str[-8:];d[['id','name','email','phone']].to_csv('contacts_clean.</a:t>
            </a:r>
          </a:p>
          <a:p>
            <a:pPr algn="l">
              <a:spcAft>
                <a:spcPts val="0"/>
              </a:spcAft>
            </a:pPr>
            <a:r>
              <a:rPr sz="640" b="0">
                <a:solidFill>
                  <a:srgbClr val="9CDCFE"/>
                </a:solidFill>
                <a:latin typeface="Arial"/>
              </a:rPr>
              <a:t>   csv',index=False)" &amp;&amp; cat contacts_clean.csv</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p:transition spd="fast" advClick="1">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5 — Verify Your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contacts_clean.csv holds three rows with name, email and an 8-digit phone each — 91234567, 81234567 and 61000613. No angle brackets, no +65 prefixes, no leftover spaces.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RegexLab shows 0 matches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flags — you usually want 'g' (global) so every record is matched, not just the first.</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extract returns NaN</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pandas needs a capturing group. Confirm your pattern has parentheses around the part you want.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phone keeps its +65</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.str.replace step is what strips it. Confirm regex=True is set, then take the last 8 characters.</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p:transition spd="fast" advClick="1">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6 — Derive Structured Fields from Raw Address Data (IP Calculator)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6</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Apply data transformation: derived variables and formatting; use data acquisition methods (Domain 2); LO2 / A2.</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A derived variable is a new field computed from existing data — one of the exam's named manipulation techniques. You take raw CIDR address data, use the IP Calculator to derive the network fields by hand first, then reproduce the same derivation in code and prove the two agree.</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dataset enriched with four derived columns (network address, broadcast, usable hosts, subnet class) verified against the calculator.</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IP Calculator (https://alfredang.github.io/ipcalculator/), Killercoda Ubuntu, Python 3, ipaddress module</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code and the IP Calculator agree: /24 gives 254 usable hosts, /22 gives 1022, and /29 gives 6. sites_enriched.csv carries the derived columns alongside the original CIDR.</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p:transition spd="fast" advClick="1">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6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Open the IP Calculator in your browser</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1 of 8</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Repeat for 10</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3 of 8</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Derive the same four fields in code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5 of 8</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Decide the storage trade-off the exam asks a</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7 of 8</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Save the enriched dataset</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8 of 8</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dataset enriched with four derived columns (network address, broadcast, usable hosts, subnet class) verified against the calculator.</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6 — Derive Structured Fields from Raw Address Data (IP Calculator) — Procedure 1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55648"/>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Open the IP Calculator in your browser.</a:t>
            </a:r>
          </a:p>
        </p:txBody>
      </p:sp>
      <p:sp>
        <p:nvSpPr>
          <p:cNvPr id="12" name="Rectangle 11"/>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871216"/>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Enter 192.168.10.0/24 and record the derived values: network, broadcast, usable host count and mask.</a:t>
            </a:r>
          </a:p>
        </p:txBody>
      </p:sp>
      <p:sp>
        <p:nvSpPr>
          <p:cNvPr id="17" name="Rectangle 16"/>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81328" y="3986784"/>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Repeat for 10.0.5.0/22 and 172.16.8.0/29 — note how the usable-host count changes with the prefix.</a:t>
            </a:r>
          </a:p>
        </p:txBody>
      </p:sp>
      <p:sp>
        <p:nvSpPr>
          <p:cNvPr id="22" name="TextBox 2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3" name="TextBox 2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4" name="TextBox 2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p:transition spd="fast" advClick="1">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6 — Derive Structured Fields from Raw Address Data (IP Calculator) — Procedure 2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Switch to Killercoda and create the source dataset of raw CIDR strings.</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0"/>
              </a:spcAft>
            </a:pPr>
            <a:r>
              <a:rPr sz="900" b="0">
                <a:solidFill>
                  <a:srgbClr val="9CDCFE"/>
                </a:solidFill>
                <a:latin typeface="Arial"/>
              </a:rPr>
              <a:t>$ mkdir -p ~/dataplus/lab6 &amp;&amp; cd ~/dataplus/lab6 &amp;&amp; printf</a:t>
            </a:r>
          </a:p>
          <a:p>
            <a:pPr algn="l">
              <a:spcAft>
                <a:spcPts val="0"/>
              </a:spcAft>
            </a:pPr>
            <a:r>
              <a:rPr sz="900" b="0">
                <a:solidFill>
                  <a:srgbClr val="9CDCFE"/>
                </a:solidFill>
                <a:latin typeface="Arial"/>
              </a:rPr>
              <a:t>   'site,cidr\nHQ,192.168.10.0/24\nBranch,10.0.5.0/22\nDMZ,172.16.8.0/29\n' &gt; sites.csv</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Derive the same four fields in code — this is the DERIVED VARIABLE technique from the exam objectives.</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0"/>
              </a:spcAft>
            </a:pPr>
            <a:r>
              <a:rPr sz="640" b="0">
                <a:solidFill>
                  <a:srgbClr val="9CDCFE"/>
                </a:solidFill>
                <a:latin typeface="Arial"/>
              </a:rPr>
              <a:t>$ python3 -c "import pandas as pd,ipaddress as</a:t>
            </a:r>
          </a:p>
          <a:p>
            <a:pPr algn="l">
              <a:spcAft>
                <a:spcPts val="0"/>
              </a:spcAft>
            </a:pPr>
            <a:r>
              <a:rPr sz="640" b="0">
                <a:solidFill>
                  <a:srgbClr val="9CDCFE"/>
                </a:solidFill>
                <a:latin typeface="Arial"/>
              </a:rPr>
              <a:t>   ip;d=pd.read_csv('sites.csv');n=d.cidr.map(ip.ip_network);d['network']=[str(x.network_address) for x in</a:t>
            </a:r>
          </a:p>
          <a:p>
            <a:pPr algn="l">
              <a:spcAft>
                <a:spcPts val="0"/>
              </a:spcAft>
            </a:pPr>
            <a:r>
              <a:rPr sz="640" b="0">
                <a:solidFill>
                  <a:srgbClr val="9CDCFE"/>
                </a:solidFill>
                <a:latin typeface="Arial"/>
              </a:rPr>
              <a:t>   n];d['broadcast']=[str(x.broadcast_address) for x in n];d['usable_hosts']=[x.num_addresses-2 for x in</a:t>
            </a:r>
          </a:p>
          <a:p>
            <a:pPr algn="l">
              <a:spcAft>
                <a:spcPts val="0"/>
              </a:spcAft>
            </a:pPr>
            <a:r>
              <a:rPr sz="640" b="0">
                <a:solidFill>
                  <a:srgbClr val="9CDCFE"/>
                </a:solidFill>
                <a:latin typeface="Arial"/>
              </a:rPr>
              <a:t>   n];d['mask']=[str(x.netmask) for x in n];print(d)"</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25" name="TextBox 24"/>
          <p:cNvSpPr txBox="1"/>
          <p:nvPr/>
        </p:nvSpPr>
        <p:spPr>
          <a:xfrm>
            <a:off x="1481328" y="3986784"/>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Compare every derived value against what the IP Calculator gave you — they must match exactly.</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p:transition spd="fast" advClick="1">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6 — Derive Structured Fields from Raw Address Data (IP Calculator) — Procedure 3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1" name="TextBox 10"/>
          <p:cNvSpPr txBox="1"/>
          <p:nvPr/>
        </p:nvSpPr>
        <p:spPr>
          <a:xfrm>
            <a:off x="1481328" y="1755648"/>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Decide the storage trade-off the exam asks about: store the derived columns (fast reads, more space) or recompute on demand (less space, slower). Write your choice and the reason.</a:t>
            </a:r>
          </a:p>
        </p:txBody>
      </p:sp>
      <p:sp>
        <p:nvSpPr>
          <p:cNvPr id="12" name="Rectangle 11"/>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16" name="TextBox 15"/>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Save the enriched dataset.</a:t>
            </a:r>
          </a:p>
        </p:txBody>
      </p:sp>
      <p:sp>
        <p:nvSpPr>
          <p:cNvPr id="17" name="Rectangle 16"/>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27632" y="3273552"/>
            <a:ext cx="9326880" cy="530352"/>
          </a:xfrm>
          <a:prstGeom prst="rect">
            <a:avLst/>
          </a:prstGeom>
          <a:noFill/>
        </p:spPr>
        <p:txBody>
          <a:bodyPr wrap="square" anchor="ctr">
            <a:spAutoFit/>
          </a:bodyPr>
          <a:lstStyle/>
          <a:p>
            <a:pPr algn="l">
              <a:spcAft>
                <a:spcPts val="0"/>
              </a:spcAft>
            </a:pPr>
            <a:r>
              <a:rPr sz="640" b="0">
                <a:solidFill>
                  <a:srgbClr val="9CDCFE"/>
                </a:solidFill>
                <a:latin typeface="Arial"/>
              </a:rPr>
              <a:t>$ python3 -c "import pandas as pd,ipaddress as</a:t>
            </a:r>
          </a:p>
          <a:p>
            <a:pPr algn="l">
              <a:spcAft>
                <a:spcPts val="0"/>
              </a:spcAft>
            </a:pPr>
            <a:r>
              <a:rPr sz="640" b="0">
                <a:solidFill>
                  <a:srgbClr val="9CDCFE"/>
                </a:solidFill>
                <a:latin typeface="Arial"/>
              </a:rPr>
              <a:t>   ip;d=pd.read_csv('sites.csv');n=d.cidr.map(ip.ip_network);d['network']=[str(x.network_address) for x in</a:t>
            </a:r>
          </a:p>
          <a:p>
            <a:pPr algn="l">
              <a:spcAft>
                <a:spcPts val="0"/>
              </a:spcAft>
            </a:pPr>
            <a:r>
              <a:rPr sz="640" b="0">
                <a:solidFill>
                  <a:srgbClr val="9CDCFE"/>
                </a:solidFill>
                <a:latin typeface="Arial"/>
              </a:rPr>
              <a:t>   n];d['usable_hosts']=[x.num_addresses-2 for x in n];d.to_csv('sites_enriched.csv',index=False)" &amp;&amp; cat</a:t>
            </a:r>
          </a:p>
          <a:p>
            <a:pPr algn="l">
              <a:spcAft>
                <a:spcPts val="0"/>
              </a:spcAft>
            </a:pPr>
            <a:r>
              <a:rPr sz="640" b="0">
                <a:solidFill>
                  <a:srgbClr val="9CDCFE"/>
                </a:solidFill>
                <a:latin typeface="Arial"/>
              </a:rPr>
              <a:t>   sites_enriched.csv</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p:transition spd="fast" advClick="1">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6</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6 — Verify Your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code and the IP Calculator agree: /24 gives 254 usable hosts, /22 gives 1022, and /29 gives 6. sites_enriched.csv carries the derived columns alongside the original CIDR.</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ValueError: has host bits set</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The address is not a valid network address for that prefix. Use ip_network(x, strict=False) or correct the CIDR.</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usable_hosts is negative for /31 or /32</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Those prefixes have no usable host range by the -2 convention. Note this edge case in your report.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numbers disagree with the calculator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Confirm you entered the same prefix length in both. A /22 is not a /24.</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p:transition spd="fast" advClick="1">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7</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7 — Integrate Multiple Datasets with SQL Joins and Cleanse the Result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7</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Use data acquisition methods: data integration and queries to gather and combine data (Domain 2); LO2 / A1 / A2.</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This is the integration lab that LO1 and LO2 both rest on. You load three separate source extracts into SQLite, combine them with the four join types, watch how inner versus left join silently changes your record count, and then cleanse the merged result.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single integrated, deduplicated analysis table built from three sources, with the record count reconciled at every join.</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Killercoda Ubuntu, SQLite 3, SQL joins, Python 3/pandas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inner join returns 4 rows, not 5 — order 104 is dropped because customer 5 has no master record. The regional table shows East at 0% of target (John Lee ordered nothing) and Central above 70%.</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p:transition spd="fast" advClick="1">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7</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7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Create the lab folder and the three source e</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1 of 11</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Source B</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3 of 11</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INNER JOIN</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6 of 11</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Build the integrated analysis table joining</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9 of 11</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Reconcile: explain in one line why the inner</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11 of 11</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single integrated, deduplicated analysis table built from three sources, with the record count reconciled at every join.</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7</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7 — Integrate Multiple Datasets with SQL Joins and Cleanse the Result — Procedure 1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Create the lab folder and the three source extracts.</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0"/>
              </a:spcAft>
            </a:pPr>
            <a:r>
              <a:rPr sz="1050" b="0">
                <a:solidFill>
                  <a:srgbClr val="9CDCFE"/>
                </a:solidFill>
                <a:latin typeface="Arial"/>
              </a:rPr>
              <a:t>$ mkdir -p ~/dataplus/lab7 &amp;&amp; cd ~/dataplus/lab7</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Source A — the customer master (note: customer 4 appears here only).</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0"/>
              </a:spcAft>
            </a:pPr>
            <a:r>
              <a:rPr sz="900" b="0">
                <a:solidFill>
                  <a:srgbClr val="9CDCFE"/>
                </a:solidFill>
                <a:latin typeface="Arial"/>
              </a:rPr>
              <a:t>$ printf 'customer_id,name,region\n1,Mei Tan,Central\n2,Ravi Kumar,West\n3,Siti Nur,North\n4,John Lee,East\n' &gt;</a:t>
            </a:r>
          </a:p>
          <a:p>
            <a:pPr algn="l">
              <a:spcAft>
                <a:spcPts val="0"/>
              </a:spcAft>
            </a:pPr>
            <a:r>
              <a:rPr sz="900" b="0">
                <a:solidFill>
                  <a:srgbClr val="9CDCFE"/>
                </a:solidFill>
                <a:latin typeface="Arial"/>
              </a:rPr>
              <a:t>   customers.csv</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1481328" y="4023360"/>
            <a:ext cx="9692640" cy="365760"/>
          </a:xfrm>
          <a:prstGeom prst="rect">
            <a:avLst/>
          </a:prstGeom>
          <a:noFill/>
        </p:spPr>
        <p:txBody>
          <a:bodyPr wrap="square" anchor="t">
            <a:spAutoFit/>
          </a:bodyPr>
          <a:lstStyle/>
          <a:p>
            <a:pPr algn="l">
              <a:spcAft>
                <a:spcPts val="400"/>
              </a:spcAft>
            </a:pPr>
            <a:r>
              <a:rPr sz="1050" b="1">
                <a:solidFill>
                  <a:srgbClr val="161B26"/>
                </a:solidFill>
                <a:latin typeface="Arial"/>
              </a:rPr>
              <a:t>Source B — the order transactions (note: customer 4 has no orders; customer 5 has orders but no master record).</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0"/>
              </a:spcAft>
            </a:pPr>
            <a:r>
              <a:rPr sz="900" b="0">
                <a:solidFill>
                  <a:srgbClr val="9CDCFE"/>
                </a:solidFill>
                <a:latin typeface="Arial"/>
              </a:rPr>
              <a:t>$ printf 'order_id,customer_id,amount\n100,1,240.50\n101,2,89.00\n102,1,120.00\n103,3,310.00\n104,5,55.00\n' &gt;</a:t>
            </a:r>
          </a:p>
          <a:p>
            <a:pPr algn="l">
              <a:spcAft>
                <a:spcPts val="0"/>
              </a:spcAft>
            </a:pPr>
            <a:r>
              <a:rPr sz="900" b="0">
                <a:solidFill>
                  <a:srgbClr val="9CDCFE"/>
                </a:solidFill>
                <a:latin typeface="Arial"/>
              </a:rPr>
              <a:t>   orders.csv</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p:transition spd="fast" advClick="1">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7</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7 — Integrate Multiple Datasets with SQL Joins and Cleanse the Result — Procedure 2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Source C — the regional targets used to enrich the result.</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0"/>
              </a:spcAft>
            </a:pPr>
            <a:r>
              <a:rPr sz="1050" b="0">
                <a:solidFill>
                  <a:srgbClr val="9CDCFE"/>
                </a:solidFill>
                <a:latin typeface="Arial"/>
              </a:rPr>
              <a:t>$ printf 'region,target\nCentral,500\nWest,300\nNorth,400\nEast,200\n' &gt; targets.csv</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Load all three into SQLite in one go.</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0"/>
              </a:spcAft>
            </a:pPr>
            <a:r>
              <a:rPr sz="1050" b="0">
                <a:solidFill>
                  <a:srgbClr val="9CDCFE"/>
                </a:solidFill>
                <a:latin typeface="Arial"/>
              </a:rPr>
              <a:t>$ sqlite3 integrate.db &lt;&lt;'EOF'</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25" name="TextBox 24"/>
          <p:cNvSpPr txBox="1"/>
          <p:nvPr/>
        </p:nvSpPr>
        <p:spPr>
          <a:xfrm>
            <a:off x="1481328" y="4023360"/>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INNER JOIN — returns only matched rows. Count them and note what you silently lost.</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0"/>
              </a:spcAft>
            </a:pPr>
            <a:r>
              <a:rPr sz="900" b="0">
                <a:solidFill>
                  <a:srgbClr val="9CDCFE"/>
                </a:solidFill>
                <a:latin typeface="Arial"/>
              </a:rPr>
              <a:t>$ sqlite3 -header -column integrate.db "SELECT COUNT(*) AS inner_rows FROM orders o JOIN customers c ON</a:t>
            </a:r>
          </a:p>
          <a:p>
            <a:pPr algn="l">
              <a:spcAft>
                <a:spcPts val="0"/>
              </a:spcAft>
            </a:pPr>
            <a:r>
              <a:rPr sz="900" b="0">
                <a:solidFill>
                  <a:srgbClr val="9CDCFE"/>
                </a:solidFill>
                <a:latin typeface="Arial"/>
              </a:rPr>
              <a:t>   c.customer_id=o.customer_id;"</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p:transition spd="fast" advClick="1">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7</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7 — Integrate Multiple Datasets with SQL Joins and Cleanse the Result — Procedure 3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LEFT JOIN from orders — keeps order 104 whose customer is missing, showing NULL in the master fields.</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0"/>
              </a:spcAft>
            </a:pPr>
            <a:r>
              <a:rPr sz="900" b="0">
                <a:solidFill>
                  <a:srgbClr val="9CDCFE"/>
                </a:solidFill>
                <a:latin typeface="Arial"/>
              </a:rPr>
              <a:t>$ sqlite3 -header -column integrate.db "SELECT o.order_id, o.customer_id, c.name FROM orders o LEFT JOIN customers c ON</a:t>
            </a:r>
          </a:p>
          <a:p>
            <a:pPr algn="l">
              <a:spcAft>
                <a:spcPts val="0"/>
              </a:spcAft>
            </a:pPr>
            <a:r>
              <a:rPr sz="900" b="0">
                <a:solidFill>
                  <a:srgbClr val="9CDCFE"/>
                </a:solidFill>
                <a:latin typeface="Arial"/>
              </a:rPr>
              <a:t>   c.customer_id=o.customer_id;"</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LEFT JOIN from customers — keeps John Lee, who has no orders at all.</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0"/>
              </a:spcAft>
            </a:pPr>
            <a:r>
              <a:rPr sz="900" b="0">
                <a:solidFill>
                  <a:srgbClr val="9CDCFE"/>
                </a:solidFill>
                <a:latin typeface="Arial"/>
              </a:rPr>
              <a:t>$ sqlite3 -header -column integrate.db "SELECT c.name, o.order_id FROM customers c LEFT JOIN orders o ON</a:t>
            </a:r>
          </a:p>
          <a:p>
            <a:pPr algn="l">
              <a:spcAft>
                <a:spcPts val="0"/>
              </a:spcAft>
            </a:pPr>
            <a:r>
              <a:rPr sz="900" b="0">
                <a:solidFill>
                  <a:srgbClr val="9CDCFE"/>
                </a:solidFill>
                <a:latin typeface="Arial"/>
              </a:rPr>
              <a:t>   c.customer_id=o.customer_id;"</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25" name="TextBox 24"/>
          <p:cNvSpPr txBox="1"/>
          <p:nvPr/>
        </p:nvSpPr>
        <p:spPr>
          <a:xfrm>
            <a:off x="1481328" y="4023360"/>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Build the integrated analysis table joining all three sources and aggregating per region.</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0"/>
              </a:spcAft>
            </a:pPr>
            <a:r>
              <a:rPr sz="780" b="0">
                <a:solidFill>
                  <a:srgbClr val="9CDCFE"/>
                </a:solidFill>
                <a:latin typeface="Arial"/>
              </a:rPr>
              <a:t>$ sqlite3 -header -column integrate.db "SELECT c.region, COUNT(o.order_id) AS orders, ROUND(SUM(o.amount),2) AS revenue,</a:t>
            </a:r>
          </a:p>
          <a:p>
            <a:pPr algn="l">
              <a:spcAft>
                <a:spcPts val="0"/>
              </a:spcAft>
            </a:pPr>
            <a:r>
              <a:rPr sz="780" b="0">
                <a:solidFill>
                  <a:srgbClr val="9CDCFE"/>
                </a:solidFill>
                <a:latin typeface="Arial"/>
              </a:rPr>
              <a:t>   t.target FROM customers c LEFT JOIN orders o ON c.customer_id=o.customer_id JOIN targets t ON t.region=c.region GROUP</a:t>
            </a:r>
          </a:p>
          <a:p>
            <a:pPr algn="l">
              <a:spcAft>
                <a:spcPts val="0"/>
              </a:spcAft>
            </a:pPr>
            <a:r>
              <a:rPr sz="780" b="0">
                <a:solidFill>
                  <a:srgbClr val="9CDCFE"/>
                </a:solidFill>
                <a:latin typeface="Arial"/>
              </a:rPr>
              <a:t>   BY c.region, t.target;"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p:transition spd="fast" advClick="1">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7</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7 — Integrate Multiple Datasets with SQL Joins and Cleanse the Result — Procedure 4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Add the derived performance measure and persist the result.</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0"/>
              </a:spcAft>
            </a:pPr>
            <a:r>
              <a:rPr sz="640" b="0">
                <a:solidFill>
                  <a:srgbClr val="9CDCFE"/>
                </a:solidFill>
                <a:latin typeface="Arial"/>
              </a:rPr>
              <a:t>$ sqlite3 -header -column integrate.db "CREATE TABLE regional AS SELECT c.region, COUNT(o.order_id) AS orders,</a:t>
            </a:r>
          </a:p>
          <a:p>
            <a:pPr algn="l">
              <a:spcAft>
                <a:spcPts val="0"/>
              </a:spcAft>
            </a:pPr>
            <a:r>
              <a:rPr sz="640" b="0">
                <a:solidFill>
                  <a:srgbClr val="9CDCFE"/>
                </a:solidFill>
                <a:latin typeface="Arial"/>
              </a:rPr>
              <a:t>   COALESCE(SUM(o.amount),0) AS revenue, t.target, ROUND(COALESCE(SUM(o.amount),0)*100.0/t.target,1) AS pct_of_target</a:t>
            </a:r>
          </a:p>
          <a:p>
            <a:pPr algn="l">
              <a:spcAft>
                <a:spcPts val="0"/>
              </a:spcAft>
            </a:pPr>
            <a:r>
              <a:rPr sz="640" b="0">
                <a:solidFill>
                  <a:srgbClr val="9CDCFE"/>
                </a:solidFill>
                <a:latin typeface="Arial"/>
              </a:rPr>
              <a:t>   FROM customers c LEFT JOIN orders o ON c.customer_id=o.customer_id JOIN targets t ON t.region=c.region GROUP BY</a:t>
            </a:r>
          </a:p>
          <a:p>
            <a:pPr algn="l">
              <a:spcAft>
                <a:spcPts val="0"/>
              </a:spcAft>
            </a:pPr>
            <a:r>
              <a:rPr sz="640" b="0">
                <a:solidFill>
                  <a:srgbClr val="9CDCFE"/>
                </a:solidFill>
                <a:latin typeface="Arial"/>
              </a:rPr>
              <a:t>   c.region,t.target; SELECT * FROM regional;"</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11</a:t>
            </a:r>
          </a:p>
        </p:txBody>
      </p:sp>
      <p:sp>
        <p:nvSpPr>
          <p:cNvPr id="18" name="TextBox 17"/>
          <p:cNvSpPr txBox="1"/>
          <p:nvPr/>
        </p:nvSpPr>
        <p:spPr>
          <a:xfrm>
            <a:off x="1481328" y="2871216"/>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Reconcile: explain in one line why the inner join returned 4 rows but there are 5 orders.</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p:transition spd="fast" advClick="1">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02  ·  LAB 7</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7 — Verify Your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inner join returns 4 rows, not 5 — order 104 is dropped because customer 5 has no master record. The regional table shows East at 0% of target (John Lee ordered nothing) and Central above 70%.</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'.import' left the header as a data row</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Older SQLite lacks --skip 1. Delete it after import: DELETE FROM customers WHERE customer_id='customer_id';</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SUM returns NULL for East</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That is correct SQL — no rows to sum. COALESCE(...,0) is what turns it into a reportable zero.</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Amounts sort wrongly</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CSV import types everything as TEXT. Use CAST(amount AS REAL) or create the table with explicit types first.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p:transition spd="fast" advClick="1">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02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Data Acquisition and Preparation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71907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71907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ETL vs ELT</a:t>
            </a:r>
          </a:p>
          <a:p>
            <a:pPr algn="l">
              <a:spcAft>
                <a:spcPts val="300"/>
              </a:spcAft>
            </a:pPr>
            <a:r>
              <a:rPr sz="1000" b="0">
                <a:solidFill>
                  <a:srgbClr val="5B6372"/>
                </a:solidFill>
                <a:latin typeface="Arial"/>
              </a:rPr>
              <a:t>ETL transforms before loading; ELT loads raw and transforms later — choose by how stable your requirements are.</a:t>
            </a:r>
          </a:p>
        </p:txBody>
      </p:sp>
      <p:sp>
        <p:nvSpPr>
          <p:cNvPr id="12" name="Rectangle 11"/>
          <p:cNvSpPr/>
          <p:nvPr/>
        </p:nvSpPr>
        <p:spPr>
          <a:xfrm>
            <a:off x="777240" y="244144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441448"/>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37744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37744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56946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Data sources</a:t>
            </a:r>
          </a:p>
          <a:p>
            <a:pPr algn="l">
              <a:spcAft>
                <a:spcPts val="300"/>
              </a:spcAft>
            </a:pPr>
            <a:r>
              <a:rPr sz="1000" b="0">
                <a:solidFill>
                  <a:srgbClr val="5B6372"/>
                </a:solidFill>
                <a:latin typeface="Arial"/>
              </a:rPr>
              <a:t>Data comes from databases, APIs, scraping, files, logs and public repositories, each with its own reliability risk.</a:t>
            </a:r>
          </a:p>
        </p:txBody>
      </p:sp>
      <p:sp>
        <p:nvSpPr>
          <p:cNvPr id="17" name="Rectangle 16"/>
          <p:cNvSpPr/>
          <p:nvPr/>
        </p:nvSpPr>
        <p:spPr>
          <a:xfrm>
            <a:off x="777240" y="3099816"/>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099816"/>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03580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0358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227832"/>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Profiling first</a:t>
            </a:r>
          </a:p>
          <a:p>
            <a:pPr algn="l">
              <a:spcAft>
                <a:spcPts val="300"/>
              </a:spcAft>
            </a:pPr>
            <a:r>
              <a:rPr sz="1000" b="0">
                <a:solidFill>
                  <a:srgbClr val="5B6372"/>
                </a:solidFill>
                <a:latin typeface="Arial"/>
              </a:rPr>
              <a:t>Profiling is the disciplined first pass — quantify the defects before you clean, so you can measure the cleaning.</a:t>
            </a:r>
          </a:p>
        </p:txBody>
      </p:sp>
      <p:sp>
        <p:nvSpPr>
          <p:cNvPr id="22" name="Rectangle 21"/>
          <p:cNvSpPr/>
          <p:nvPr/>
        </p:nvSpPr>
        <p:spPr>
          <a:xfrm>
            <a:off x="777240" y="3758184"/>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3758184"/>
            <a:ext cx="91440" cy="42062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3886200"/>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Defect classes</a:t>
            </a:r>
          </a:p>
          <a:p>
            <a:pPr algn="l">
              <a:spcAft>
                <a:spcPts val="300"/>
              </a:spcAft>
            </a:pPr>
            <a:r>
              <a:rPr sz="1000" b="0">
                <a:solidFill>
                  <a:srgbClr val="5B6372"/>
                </a:solidFill>
                <a:latin typeface="Arial"/>
              </a:rPr>
              <a:t>The defect classes are missing values, duplicates, redundancy, invalid data and outliers.</a:t>
            </a:r>
          </a:p>
        </p:txBody>
      </p:sp>
      <p:sp>
        <p:nvSpPr>
          <p:cNvPr id="27" name="Rectangle 26"/>
          <p:cNvSpPr/>
          <p:nvPr/>
        </p:nvSpPr>
        <p:spPr>
          <a:xfrm>
            <a:off x="777240" y="4416552"/>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416552"/>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35254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35254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544568"/>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Manipulation</a:t>
            </a:r>
          </a:p>
          <a:p>
            <a:pPr algn="l">
              <a:spcAft>
                <a:spcPts val="300"/>
              </a:spcAft>
            </a:pPr>
            <a:r>
              <a:rPr sz="1000" b="0">
                <a:solidFill>
                  <a:srgbClr val="5B6372"/>
                </a:solidFill>
                <a:latin typeface="Arial"/>
              </a:rPr>
              <a:t>Manipulation covers recoding, derived variables, imputation, aggregation, transposing, appending and parsing.</a:t>
            </a:r>
          </a:p>
        </p:txBody>
      </p:sp>
      <p:sp>
        <p:nvSpPr>
          <p:cNvPr id="32" name="Rectangle 31"/>
          <p:cNvSpPr/>
          <p:nvPr/>
        </p:nvSpPr>
        <p:spPr>
          <a:xfrm>
            <a:off x="777240" y="507492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074920"/>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272" y="501091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 y="501091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1764792" y="520293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Joins</a:t>
            </a:r>
          </a:p>
          <a:p>
            <a:pPr algn="l">
              <a:spcAft>
                <a:spcPts val="300"/>
              </a:spcAft>
            </a:pPr>
            <a:r>
              <a:rPr sz="1000" b="0">
                <a:solidFill>
                  <a:srgbClr val="5B6372"/>
                </a:solidFill>
                <a:latin typeface="Arial"/>
              </a:rPr>
              <a:t>Joins combine datasets — and an INNER JOIN silently drops unmatched rows, so always reconcile record counts.</a:t>
            </a:r>
          </a:p>
        </p:txBody>
      </p:sp>
      <p:sp>
        <p:nvSpPr>
          <p:cNvPr id="37" name="Rectangle 36"/>
          <p:cNvSpPr/>
          <p:nvPr/>
        </p:nvSpPr>
        <p:spPr>
          <a:xfrm>
            <a:off x="777240" y="573328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733288"/>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66928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66928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86130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Query performance</a:t>
            </a:r>
          </a:p>
          <a:p>
            <a:pPr algn="l">
              <a:spcAft>
                <a:spcPts val="300"/>
              </a:spcAft>
            </a:pPr>
            <a:r>
              <a:rPr sz="1000" b="0">
                <a:solidFill>
                  <a:srgbClr val="5B6372"/>
                </a:solidFill>
                <a:latin typeface="Arial"/>
              </a:rPr>
              <a:t>Indexes, filters, parameters, temp tables and the execution plan are how you make a slow query fast.</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p:transition spd="fast" advClick="1">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10B981"/>
                </a:solidFill>
                <a:latin typeface="Arial"/>
              </a:rPr>
              <a:t>15 minutes</a:t>
            </a:r>
          </a:p>
        </p:txBody>
      </p:sp>
    </p:spTree>
  </p:cSld>
  <p:clrMapOvr>
    <a:masterClrMapping/>
  </p:clrMapOvr>
  <p:transition spd="fast" advClick="1">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DOMAIN 03  ·  24% OF THE EXAM</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Data Analysis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Descriptive statistics · inferential methods · analysis types · communicating results · troubleshooting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03</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p:transition spd="med" advClick="1">
    <p:push dir="l"/>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HEAVIEST DOMAIN ON THE EXAM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Domain 3 — Key Concepts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71907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71907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Descriptive statistics</a:t>
            </a:r>
          </a:p>
          <a:p>
            <a:pPr algn="l">
              <a:spcAft>
                <a:spcPts val="300"/>
              </a:spcAft>
            </a:pPr>
            <a:r>
              <a:rPr sz="1000" b="0">
                <a:solidFill>
                  <a:srgbClr val="5B6372"/>
                </a:solidFill>
                <a:latin typeface="Arial"/>
              </a:rPr>
              <a:t>Descriptive statistics summarise a dataset: central tendency (mean, median, mode) and dispersion (range, variance, standard deviation).</a:t>
            </a:r>
          </a:p>
        </p:txBody>
      </p:sp>
      <p:sp>
        <p:nvSpPr>
          <p:cNvPr id="12" name="Rectangle 11"/>
          <p:cNvSpPr/>
          <p:nvPr/>
        </p:nvSpPr>
        <p:spPr>
          <a:xfrm>
            <a:off x="777240" y="244144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441448"/>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37744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37744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56946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Mean vs median</a:t>
            </a:r>
          </a:p>
          <a:p>
            <a:pPr algn="l">
              <a:spcAft>
                <a:spcPts val="300"/>
              </a:spcAft>
            </a:pPr>
            <a:r>
              <a:rPr sz="1000" b="0">
                <a:solidFill>
                  <a:srgbClr val="5B6372"/>
                </a:solidFill>
                <a:latin typeface="Arial"/>
              </a:rPr>
              <a:t>The mean is pulled by outliers; the median resists them — which one you report changes the story the data tells.</a:t>
            </a:r>
          </a:p>
        </p:txBody>
      </p:sp>
      <p:sp>
        <p:nvSpPr>
          <p:cNvPr id="17" name="Rectangle 16"/>
          <p:cNvSpPr/>
          <p:nvPr/>
        </p:nvSpPr>
        <p:spPr>
          <a:xfrm>
            <a:off x="777240" y="3099816"/>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099816"/>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03580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0358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227832"/>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Z-scores find outliers</a:t>
            </a:r>
          </a:p>
          <a:p>
            <a:pPr algn="l">
              <a:spcAft>
                <a:spcPts val="300"/>
              </a:spcAft>
            </a:pPr>
            <a:r>
              <a:rPr sz="1000" b="0">
                <a:solidFill>
                  <a:srgbClr val="5B6372"/>
                </a:solidFill>
                <a:latin typeface="Arial"/>
              </a:rPr>
              <a:t>Z-scores express how many standard deviations a value sits from the mean, and are the standard outlier test.</a:t>
            </a:r>
          </a:p>
        </p:txBody>
      </p:sp>
      <p:sp>
        <p:nvSpPr>
          <p:cNvPr id="22" name="Rectangle 21"/>
          <p:cNvSpPr/>
          <p:nvPr/>
        </p:nvSpPr>
        <p:spPr>
          <a:xfrm>
            <a:off x="777240" y="3758184"/>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3758184"/>
            <a:ext cx="91440" cy="42062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3886200"/>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The empirical rule</a:t>
            </a:r>
          </a:p>
          <a:p>
            <a:pPr algn="l">
              <a:spcAft>
                <a:spcPts val="300"/>
              </a:spcAft>
            </a:pPr>
            <a:r>
              <a:rPr sz="1000" b="0">
                <a:solidFill>
                  <a:srgbClr val="5B6372"/>
                </a:solidFill>
                <a:latin typeface="Arial"/>
              </a:rPr>
              <a:t>The empirical rule says ~99.7% of normally distributed data falls within three standard deviations of the mean.</a:t>
            </a:r>
          </a:p>
        </p:txBody>
      </p:sp>
      <p:sp>
        <p:nvSpPr>
          <p:cNvPr id="27" name="Rectangle 26"/>
          <p:cNvSpPr/>
          <p:nvPr/>
        </p:nvSpPr>
        <p:spPr>
          <a:xfrm>
            <a:off x="777240" y="4416552"/>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416552"/>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35254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35254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544568"/>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Inferential statistics</a:t>
            </a:r>
          </a:p>
          <a:p>
            <a:pPr algn="l">
              <a:spcAft>
                <a:spcPts val="300"/>
              </a:spcAft>
            </a:pPr>
            <a:r>
              <a:rPr sz="1000" b="0">
                <a:solidFill>
                  <a:srgbClr val="5B6372"/>
                </a:solidFill>
                <a:latin typeface="Arial"/>
              </a:rPr>
              <a:t>Inferential statistics generalise beyond the sample: t-tests, p-values, chi-square, correlation and regression.</a:t>
            </a:r>
          </a:p>
        </p:txBody>
      </p:sp>
      <p:sp>
        <p:nvSpPr>
          <p:cNvPr id="32" name="Rectangle 31"/>
          <p:cNvSpPr/>
          <p:nvPr/>
        </p:nvSpPr>
        <p:spPr>
          <a:xfrm>
            <a:off x="777240" y="507492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074920"/>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272" y="501091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 y="501091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1764792" y="520293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p-values and causation</a:t>
            </a:r>
          </a:p>
          <a:p>
            <a:pPr algn="l">
              <a:spcAft>
                <a:spcPts val="300"/>
              </a:spcAft>
            </a:pPr>
            <a:r>
              <a:rPr sz="1000" b="0">
                <a:solidFill>
                  <a:srgbClr val="5B6372"/>
                </a:solidFill>
                <a:latin typeface="Arial"/>
              </a:rPr>
              <a:t>A p-value below 0.05 indicates the observed difference is unlikely to be due to chance; correlation still never proves causation.</a:t>
            </a:r>
          </a:p>
        </p:txBody>
      </p:sp>
      <p:sp>
        <p:nvSpPr>
          <p:cNvPr id="37" name="Rectangle 36"/>
          <p:cNvSpPr/>
          <p:nvPr/>
        </p:nvSpPr>
        <p:spPr>
          <a:xfrm>
            <a:off x="777240" y="573328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733288"/>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66928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66928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86130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Choosing the analysis type</a:t>
            </a:r>
          </a:p>
          <a:p>
            <a:pPr algn="l">
              <a:spcAft>
                <a:spcPts val="300"/>
              </a:spcAft>
            </a:pPr>
            <a:r>
              <a:rPr sz="1000" b="0">
                <a:solidFill>
                  <a:srgbClr val="5B6372"/>
                </a:solidFill>
                <a:latin typeface="Arial"/>
              </a:rPr>
              <a:t>Analysis types — exploratory, performance, trend, gap and link analysis — each answer a different business question.</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p:transition spd="fast" advClick="1">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TYPES OF ANALYSIS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Choosing Your Analysis Type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Exploratory analysis</a:t>
            </a:r>
          </a:p>
          <a:p>
            <a:pPr algn="l">
              <a:spcAft>
                <a:spcPts val="300"/>
              </a:spcAft>
            </a:pPr>
            <a:r>
              <a:rPr sz="1200" b="0">
                <a:solidFill>
                  <a:srgbClr val="5B6372"/>
                </a:solidFill>
                <a:latin typeface="Arial"/>
              </a:rPr>
              <a:t>The first look at a new dataset — what cleaning, profiling and transformation does it need?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Performance analysis</a:t>
            </a:r>
          </a:p>
          <a:p>
            <a:pPr algn="l">
              <a:spcAft>
                <a:spcPts val="300"/>
              </a:spcAft>
            </a:pPr>
            <a:r>
              <a:rPr sz="1200" b="0">
                <a:solidFill>
                  <a:srgbClr val="5B6372"/>
                </a:solidFill>
                <a:latin typeface="Arial"/>
              </a:rPr>
              <a:t>Measures a product, outcome or scenario against a defined objective, using realistic KPIs.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Trend analysis</a:t>
            </a:r>
          </a:p>
          <a:p>
            <a:pPr algn="l">
              <a:spcAft>
                <a:spcPts val="300"/>
              </a:spcAft>
            </a:pPr>
            <a:r>
              <a:rPr sz="1200" b="0">
                <a:solidFill>
                  <a:srgbClr val="5B6372"/>
                </a:solidFill>
                <a:latin typeface="Arial"/>
              </a:rPr>
              <a:t>Uses historical data to project a future outcome. Past performance never guarantees future results.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Gap analysis</a:t>
            </a:r>
          </a:p>
          <a:p>
            <a:pPr algn="l">
              <a:spcAft>
                <a:spcPts val="300"/>
              </a:spcAft>
            </a:pPr>
            <a:r>
              <a:rPr sz="1200" b="0">
                <a:solidFill>
                  <a:srgbClr val="5B6372"/>
                </a:solidFill>
                <a:latin typeface="Arial"/>
              </a:rPr>
              <a:t>The difference (the delta) between the present state and the desired future state.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Link analysis</a:t>
            </a:r>
          </a:p>
          <a:p>
            <a:pPr algn="l">
              <a:spcAft>
                <a:spcPts val="300"/>
              </a:spcAft>
            </a:pPr>
            <a:r>
              <a:rPr sz="1200" b="0">
                <a:solidFill>
                  <a:srgbClr val="5B6372"/>
                </a:solidFill>
                <a:latin typeface="Arial"/>
              </a:rPr>
              <a:t>How one data point connects to others — a network of nodes joined by links.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Hypothesis-driven</a:t>
            </a:r>
          </a:p>
          <a:p>
            <a:pPr algn="l">
              <a:spcAft>
                <a:spcPts val="300"/>
              </a:spcAft>
            </a:pPr>
            <a:r>
              <a:rPr sz="1200" b="0">
                <a:solidFill>
                  <a:srgbClr val="5B6372"/>
                </a:solidFill>
                <a:latin typeface="Arial"/>
              </a:rPr>
              <a:t>Start with a testable statement, then gather evidence to support or reject 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p:transition spd="fast" advClick="1">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DESCRIPTIVE STATISTICS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Central Tendency — Three Different 'Averages'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Mean</a:t>
            </a:r>
          </a:p>
          <a:p>
            <a:pPr algn="l">
              <a:spcAft>
                <a:spcPts val="300"/>
              </a:spcAft>
            </a:pPr>
            <a:r>
              <a:rPr sz="1300" b="0">
                <a:solidFill>
                  <a:srgbClr val="5B6372"/>
                </a:solidFill>
                <a:latin typeface="Arial"/>
              </a:rPr>
              <a:t>The sum divided by the count. Uses every value — and is therefore dragged by outliers.</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Median</a:t>
            </a:r>
          </a:p>
          <a:p>
            <a:pPr algn="l">
              <a:spcAft>
                <a:spcPts val="300"/>
              </a:spcAft>
            </a:pPr>
            <a:r>
              <a:rPr sz="1300" b="0">
                <a:solidFill>
                  <a:srgbClr val="5B6372"/>
                </a:solidFill>
                <a:latin typeface="Arial"/>
              </a:rPr>
              <a:t>The middle value when sorted. Resistant to outliers, which is why salary and house prices use it.</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Mode</a:t>
            </a:r>
          </a:p>
          <a:p>
            <a:pPr algn="l">
              <a:spcAft>
                <a:spcPts val="300"/>
              </a:spcAft>
            </a:pPr>
            <a:r>
              <a:rPr sz="1300" b="0">
                <a:solidFill>
                  <a:srgbClr val="5B6372"/>
                </a:solidFill>
                <a:latin typeface="Arial"/>
              </a:rPr>
              <a:t>The most frequently occurring value. The only average that works on categorical data.</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Which to report</a:t>
            </a:r>
          </a:p>
          <a:p>
            <a:pPr algn="l">
              <a:spcAft>
                <a:spcPts val="300"/>
              </a:spcAft>
            </a:pPr>
            <a:r>
              <a:rPr sz="1300" b="0">
                <a:solidFill>
                  <a:srgbClr val="5B6372"/>
                </a:solidFill>
                <a:latin typeface="Arial"/>
              </a:rPr>
              <a:t>Symmetric data → mean. Skewed data or outliers present → median. Categories → mode.</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p:transition spd="fast" advClick="1">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WHY THE CHOICE MATTERS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Outlier Effect — Mean vs Median (Lab 8 data)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783080"/>
          <a:ext cx="10634472" cy="3246120"/>
        </p:xfrm>
        <a:graphic>
          <a:graphicData uri="http://schemas.openxmlformats.org/drawingml/2006/chart">
            <c:chart xmlns:c="http://schemas.openxmlformats.org/drawingml/2006/chart" r:id="rId2"/>
          </a:graphicData>
        </a:graphic>
      </p:graphicFrame>
      <p:sp>
        <p:nvSpPr>
          <p:cNvPr id="8" name="Rectangle 7"/>
          <p:cNvSpPr/>
          <p:nvPr/>
        </p:nvSpPr>
        <p:spPr>
          <a:xfrm>
            <a:off x="777240" y="5230368"/>
            <a:ext cx="10634472" cy="1005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230368"/>
            <a:ext cx="100584" cy="10058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340096"/>
            <a:ext cx="10149840" cy="274320"/>
          </a:xfrm>
          <a:prstGeom prst="rect">
            <a:avLst/>
          </a:prstGeom>
          <a:noFill/>
        </p:spPr>
        <p:txBody>
          <a:bodyPr wrap="square" anchor="t">
            <a:spAutoFit/>
          </a:bodyPr>
          <a:lstStyle/>
          <a:p>
            <a:pPr algn="l">
              <a:spcAft>
                <a:spcPts val="400"/>
              </a:spcAft>
            </a:pPr>
            <a:r>
              <a:rPr sz="1100" b="1">
                <a:solidFill>
                  <a:srgbClr val="7C3AED"/>
                </a:solidFill>
                <a:latin typeface="Arial"/>
              </a:rPr>
              <a:t>WHAT THE DATA SHOWS</a:t>
            </a:r>
          </a:p>
        </p:txBody>
      </p:sp>
      <p:sp>
        <p:nvSpPr>
          <p:cNvPr id="11" name="TextBox 10"/>
          <p:cNvSpPr txBox="1"/>
          <p:nvPr/>
        </p:nvSpPr>
        <p:spPr>
          <a:xfrm>
            <a:off x="1051560" y="5632704"/>
            <a:ext cx="10149840" cy="548640"/>
          </a:xfrm>
          <a:prstGeom prst="rect">
            <a:avLst/>
          </a:prstGeom>
          <a:noFill/>
        </p:spPr>
        <p:txBody>
          <a:bodyPr wrap="square" anchor="t">
            <a:spAutoFit/>
          </a:bodyPr>
          <a:lstStyle/>
          <a:p>
            <a:pPr algn="l">
              <a:spcAft>
                <a:spcPts val="400"/>
              </a:spcAft>
            </a:pPr>
            <a:r>
              <a:rPr sz="1200" b="0">
                <a:solidFill>
                  <a:srgbClr val="161B26"/>
                </a:solidFill>
                <a:latin typeface="Arial"/>
              </a:rPr>
              <a:t>One executive salary moves the mean by over 2,100 but the median by only 150. When a distribution is skewed, reporting the mean overstates what a typical person earns — which is exactly what you prove in Lab 8.</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p:transition spd="fast" advClick="1">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DISPERSION AND VARIABILITY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Dispersion — How Spread Out Is the Data?</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Minimum / Maximum</a:t>
            </a:r>
          </a:p>
          <a:p>
            <a:pPr algn="l">
              <a:spcAft>
                <a:spcPts val="300"/>
              </a:spcAft>
            </a:pPr>
            <a:r>
              <a:rPr sz="1200" b="0">
                <a:solidFill>
                  <a:srgbClr val="5B6372"/>
                </a:solidFill>
                <a:latin typeface="Arial"/>
              </a:rPr>
              <a:t>The smallest and largest values in the dataset.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Range</a:t>
            </a:r>
          </a:p>
          <a:p>
            <a:pPr algn="l">
              <a:spcAft>
                <a:spcPts val="300"/>
              </a:spcAft>
            </a:pPr>
            <a:r>
              <a:rPr sz="1200" b="0">
                <a:solidFill>
                  <a:srgbClr val="5B6372"/>
                </a:solidFill>
                <a:latin typeface="Arial"/>
              </a:rPr>
              <a:t>Maximum minus minimum. A large range is an early clue that outliers are present.</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Variance (σ²)</a:t>
            </a:r>
          </a:p>
          <a:p>
            <a:pPr algn="l">
              <a:spcAft>
                <a:spcPts val="300"/>
              </a:spcAft>
            </a:pPr>
            <a:r>
              <a:rPr sz="1200" b="0">
                <a:solidFill>
                  <a:srgbClr val="5B6372"/>
                </a:solidFill>
                <a:latin typeface="Arial"/>
              </a:rPr>
              <a:t>The average of the squared differences from the mean. Its units are squared, so it is hard to interpret directly.</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Standard deviation (σ)</a:t>
            </a:r>
          </a:p>
          <a:p>
            <a:pPr algn="l">
              <a:spcAft>
                <a:spcPts val="300"/>
              </a:spcAft>
            </a:pPr>
            <a:r>
              <a:rPr sz="1200" b="0">
                <a:solidFill>
                  <a:srgbClr val="5B6372"/>
                </a:solidFill>
                <a:latin typeface="Arial"/>
              </a:rPr>
              <a:t>The square root of the variance — back in the original units, so you can actually read it.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Z-score</a:t>
            </a:r>
          </a:p>
          <a:p>
            <a:pPr algn="l">
              <a:spcAft>
                <a:spcPts val="300"/>
              </a:spcAft>
            </a:pPr>
            <a:r>
              <a:rPr sz="1200" b="0">
                <a:solidFill>
                  <a:srgbClr val="5B6372"/>
                </a:solidFill>
                <a:latin typeface="Arial"/>
              </a:rPr>
              <a:t>How many standard deviations a value sits from the mean: z = (x − x̄) / 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Outlier rule of thumb</a:t>
            </a:r>
          </a:p>
          <a:p>
            <a:pPr algn="l">
              <a:spcAft>
                <a:spcPts val="300"/>
              </a:spcAft>
            </a:pPr>
            <a:r>
              <a:rPr sz="1200" b="0">
                <a:solidFill>
                  <a:srgbClr val="5B6372"/>
                </a:solidFill>
                <a:latin typeface="Arial"/>
              </a:rPr>
              <a:t>|z| &gt; 3 is a strong outlier flag; |z| &gt; 2 is worth investigating.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p:transition spd="fast" advClick="1">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DISTRIBUTION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Distribution and Frequency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Normal distribution</a:t>
            </a:r>
          </a:p>
          <a:p>
            <a:pPr algn="l">
              <a:spcAft>
                <a:spcPts val="300"/>
              </a:spcAft>
            </a:pPr>
            <a:r>
              <a:rPr sz="1100" b="0">
                <a:solidFill>
                  <a:srgbClr val="5B6372"/>
                </a:solidFill>
                <a:latin typeface="Arial"/>
              </a:rPr>
              <a:t>The symmetric bell curve — the empirical rule says ~99.74% of data lies within 3 standard deviations.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Parametric data</a:t>
            </a:r>
          </a:p>
          <a:p>
            <a:pPr algn="l">
              <a:spcAft>
                <a:spcPts val="300"/>
              </a:spcAft>
            </a:pPr>
            <a:r>
              <a:rPr sz="1100" b="0">
                <a:solidFill>
                  <a:srgbClr val="5B6372"/>
                </a:solidFill>
                <a:latin typeface="Arial"/>
              </a:rPr>
              <a:t>Fits a known distribution (usually normal), so mean-and-SD methods are valid.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Nonparametric data</a:t>
            </a:r>
          </a:p>
          <a:p>
            <a:pPr algn="l">
              <a:spcAft>
                <a:spcPts val="300"/>
              </a:spcAft>
            </a:pPr>
            <a:r>
              <a:rPr sz="1100" b="0">
                <a:solidFill>
                  <a:srgbClr val="5B6372"/>
                </a:solidFill>
                <a:latin typeface="Arial"/>
              </a:rPr>
              <a:t>Does not fit a normal distribution — use distribution-independent methods and the median.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Skew</a:t>
            </a:r>
          </a:p>
          <a:p>
            <a:pPr algn="l">
              <a:spcAft>
                <a:spcPts val="300"/>
              </a:spcAft>
            </a:pPr>
            <a:r>
              <a:rPr sz="1100" b="0">
                <a:solidFill>
                  <a:srgbClr val="5B6372"/>
                </a:solidFill>
                <a:latin typeface="Arial"/>
              </a:rPr>
              <a:t>An asymmetric distribution with a long tail on one side, which pulls the mean away from the median.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Frequency</a:t>
            </a:r>
          </a:p>
          <a:p>
            <a:pPr algn="l">
              <a:spcAft>
                <a:spcPts val="300"/>
              </a:spcAft>
            </a:pPr>
            <a:r>
              <a:rPr sz="1100" b="0">
                <a:solidFill>
                  <a:srgbClr val="5B6372"/>
                </a:solidFill>
                <a:latin typeface="Arial"/>
              </a:rPr>
              <a:t>How many times a value appears; frequency percent expresses it relative to the whole dataset.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Histogram</a:t>
            </a:r>
          </a:p>
          <a:p>
            <a:pPr algn="l">
              <a:spcAft>
                <a:spcPts val="300"/>
              </a:spcAft>
            </a:pPr>
            <a:r>
              <a:rPr sz="1100" b="0">
                <a:solidFill>
                  <a:srgbClr val="5B6372"/>
                </a:solidFill>
                <a:latin typeface="Arial"/>
              </a:rPr>
              <a:t>The chart that shows a distribution — choose your bin count carefully and include the outliers.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p:transition spd="fast" advClick="1">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INFERENTIAL STATISTICAL METHODS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Inferential statistics let you speak beyond your sample.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Descriptive statistics summarise the data you have. Inferential statistics — t-tests, chi-square, regression — let you draw conclusions about a whole population from a sample, and state how confident you are in that conclusion.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p:transition spd="fast" advClick="1">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HYPOTHESIS TESTING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Hypothesis Testing, Step by Step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State H0 and H1</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Before seeing results</a:t>
            </a:r>
          </a:p>
        </p:txBody>
      </p:sp>
      <p:cxnSp>
        <p:nvCxnSpPr>
          <p:cNvPr id="13" name="Connector 12"/>
          <p:cNvCxnSpPr/>
          <p:nvPr/>
        </p:nvCxnSpPr>
        <p:spPr>
          <a:xfrm>
            <a:off x="2651760"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Choose the test</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t-test, chi-square, ANOVA</a:t>
            </a:r>
          </a:p>
        </p:txBody>
      </p:sp>
      <p:cxnSp>
        <p:nvCxnSpPr>
          <p:cNvPr id="20" name="Connector 19"/>
          <p:cNvCxnSpPr/>
          <p:nvPr/>
        </p:nvCxnSpPr>
        <p:spPr>
          <a:xfrm>
            <a:off x="4855464"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Set the threshold</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Usually α = 0.05</a:t>
            </a:r>
          </a:p>
        </p:txBody>
      </p:sp>
      <p:cxnSp>
        <p:nvCxnSpPr>
          <p:cNvPr id="27" name="Connector 26"/>
          <p:cNvCxnSpPr/>
          <p:nvPr/>
        </p:nvCxnSpPr>
        <p:spPr>
          <a:xfrm>
            <a:off x="7059168"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Compute the p-value</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Run the test</a:t>
            </a:r>
          </a:p>
        </p:txBody>
      </p:sp>
      <p:cxnSp>
        <p:nvCxnSpPr>
          <p:cNvPr id="34" name="Connector 33"/>
          <p:cNvCxnSpPr/>
          <p:nvPr/>
        </p:nvCxnSpPr>
        <p:spPr>
          <a:xfrm>
            <a:off x="9262872"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Decide and report</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Reject or fail to reject</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7C3AED"/>
                </a:solidFill>
                <a:latin typeface="Arial"/>
              </a:rPr>
              <a:t>THE DISCIPLINE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State the hypotheses BEFORE you look at the result. Choosing the hypothesis to fit the answer you wanted is the most common analytical malpractice.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HYPOTHESIS TESTING</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Null vs Alternative Hypothesis, and the Two Errors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Concept</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Meaning</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In plain language</a:t>
            </a:r>
          </a:p>
        </p:txBody>
      </p:sp>
      <p:sp>
        <p:nvSpPr>
          <p:cNvPr id="13" name="Rectangle 12"/>
          <p:cNvSpPr/>
          <p:nvPr/>
        </p:nvSpPr>
        <p:spPr>
          <a:xfrm>
            <a:off x="777240" y="2258568"/>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Null hypothesis (H0)</a:t>
            </a:r>
          </a:p>
        </p:txBody>
      </p:sp>
      <p:sp>
        <p:nvSpPr>
          <p:cNvPr id="15" name="Rectangle 14"/>
          <p:cNvSpPr/>
          <p:nvPr/>
        </p:nvSpPr>
        <p:spPr>
          <a:xfrm>
            <a:off x="3542202"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No relationship between the variables</a:t>
            </a:r>
          </a:p>
        </p:txBody>
      </p:sp>
      <p:sp>
        <p:nvSpPr>
          <p:cNvPr id="17" name="Rectangle 16"/>
          <p:cNvSpPr/>
          <p:nvPr/>
        </p:nvSpPr>
        <p:spPr>
          <a:xfrm>
            <a:off x="7476957" y="2258568"/>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'The new page makes no difference'</a:t>
            </a:r>
          </a:p>
        </p:txBody>
      </p:sp>
      <p:sp>
        <p:nvSpPr>
          <p:cNvPr id="19" name="Rectangle 18"/>
          <p:cNvSpPr/>
          <p:nvPr/>
        </p:nvSpPr>
        <p:spPr>
          <a:xfrm>
            <a:off x="777240" y="2741676"/>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741676"/>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Alternative (H1)</a:t>
            </a:r>
          </a:p>
        </p:txBody>
      </p:sp>
      <p:sp>
        <p:nvSpPr>
          <p:cNvPr id="21" name="Rectangle 20"/>
          <p:cNvSpPr/>
          <p:nvPr/>
        </p:nvSpPr>
        <p:spPr>
          <a:xfrm>
            <a:off x="3542202"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A relationship exists</a:t>
            </a:r>
          </a:p>
        </p:txBody>
      </p:sp>
      <p:sp>
        <p:nvSpPr>
          <p:cNvPr id="23" name="Rectangle 22"/>
          <p:cNvSpPr/>
          <p:nvPr/>
        </p:nvSpPr>
        <p:spPr>
          <a:xfrm>
            <a:off x="7476957" y="2741676"/>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741676"/>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'The new page lifts order value'</a:t>
            </a:r>
          </a:p>
        </p:txBody>
      </p:sp>
      <p:sp>
        <p:nvSpPr>
          <p:cNvPr id="25" name="Rectangle 24"/>
          <p:cNvSpPr/>
          <p:nvPr/>
        </p:nvSpPr>
        <p:spPr>
          <a:xfrm>
            <a:off x="777240" y="3224784"/>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224784"/>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p-value</a:t>
            </a:r>
          </a:p>
        </p:txBody>
      </p:sp>
      <p:sp>
        <p:nvSpPr>
          <p:cNvPr id="27" name="Rectangle 26"/>
          <p:cNvSpPr/>
          <p:nvPr/>
        </p:nvSpPr>
        <p:spPr>
          <a:xfrm>
            <a:off x="3542202"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Probability the difference arose by chance</a:t>
            </a:r>
          </a:p>
        </p:txBody>
      </p:sp>
      <p:sp>
        <p:nvSpPr>
          <p:cNvPr id="29" name="Rectangle 28"/>
          <p:cNvSpPr/>
          <p:nvPr/>
        </p:nvSpPr>
        <p:spPr>
          <a:xfrm>
            <a:off x="7476957" y="3224784"/>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224784"/>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Below 0.05 → unlikely to be chance</a:t>
            </a:r>
          </a:p>
        </p:txBody>
      </p:sp>
      <p:sp>
        <p:nvSpPr>
          <p:cNvPr id="31" name="Rectangle 30"/>
          <p:cNvSpPr/>
          <p:nvPr/>
        </p:nvSpPr>
        <p:spPr>
          <a:xfrm>
            <a:off x="777240" y="3707892"/>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707892"/>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Reject H0</a:t>
            </a:r>
          </a:p>
        </p:txBody>
      </p:sp>
      <p:sp>
        <p:nvSpPr>
          <p:cNvPr id="33" name="Rectangle 32"/>
          <p:cNvSpPr/>
          <p:nvPr/>
        </p:nvSpPr>
        <p:spPr>
          <a:xfrm>
            <a:off x="3542202"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The evidence supports a real effect</a:t>
            </a:r>
          </a:p>
        </p:txBody>
      </p:sp>
      <p:sp>
        <p:nvSpPr>
          <p:cNvPr id="35" name="Rectangle 34"/>
          <p:cNvSpPr/>
          <p:nvPr/>
        </p:nvSpPr>
        <p:spPr>
          <a:xfrm>
            <a:off x="7476957" y="3707892"/>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707892"/>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'We are confident the page works'</a:t>
            </a:r>
          </a:p>
        </p:txBody>
      </p:sp>
      <p:sp>
        <p:nvSpPr>
          <p:cNvPr id="37" name="Rectangle 36"/>
          <p:cNvSpPr/>
          <p:nvPr/>
        </p:nvSpPr>
        <p:spPr>
          <a:xfrm>
            <a:off x="777240" y="4191000"/>
            <a:ext cx="2764962"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191000"/>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Type I error</a:t>
            </a:r>
          </a:p>
        </p:txBody>
      </p:sp>
      <p:sp>
        <p:nvSpPr>
          <p:cNvPr id="39" name="Rectangle 38"/>
          <p:cNvSpPr/>
          <p:nvPr/>
        </p:nvSpPr>
        <p:spPr>
          <a:xfrm>
            <a:off x="3542202"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Rejecting a TRUE null hypothesis</a:t>
            </a:r>
          </a:p>
        </p:txBody>
      </p:sp>
      <p:sp>
        <p:nvSpPr>
          <p:cNvPr id="41" name="Rectangle 40"/>
          <p:cNvSpPr/>
          <p:nvPr/>
        </p:nvSpPr>
        <p:spPr>
          <a:xfrm>
            <a:off x="7476957" y="4191000"/>
            <a:ext cx="3934755" cy="483108"/>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191000"/>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False alarm — you ship a change that does nothing</a:t>
            </a:r>
          </a:p>
        </p:txBody>
      </p:sp>
      <p:sp>
        <p:nvSpPr>
          <p:cNvPr id="43" name="Rectangle 42"/>
          <p:cNvSpPr/>
          <p:nvPr/>
        </p:nvSpPr>
        <p:spPr>
          <a:xfrm>
            <a:off x="777240" y="4674108"/>
            <a:ext cx="2764962"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674108"/>
            <a:ext cx="2508930" cy="483108"/>
          </a:xfrm>
          <a:prstGeom prst="rect">
            <a:avLst/>
          </a:prstGeom>
          <a:noFill/>
        </p:spPr>
        <p:txBody>
          <a:bodyPr wrap="square" anchor="ctr">
            <a:spAutoFit/>
          </a:bodyPr>
          <a:lstStyle/>
          <a:p>
            <a:pPr algn="l">
              <a:spcAft>
                <a:spcPts val="400"/>
              </a:spcAft>
            </a:pPr>
            <a:r>
              <a:rPr sz="1150" b="1">
                <a:solidFill>
                  <a:srgbClr val="161B26"/>
                </a:solidFill>
                <a:latin typeface="Arial"/>
              </a:rPr>
              <a:t>Type II error</a:t>
            </a:r>
          </a:p>
        </p:txBody>
      </p:sp>
      <p:sp>
        <p:nvSpPr>
          <p:cNvPr id="45" name="Rectangle 44"/>
          <p:cNvSpPr/>
          <p:nvPr/>
        </p:nvSpPr>
        <p:spPr>
          <a:xfrm>
            <a:off x="3542202"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Failing to reject a FALSE null</a:t>
            </a:r>
          </a:p>
        </p:txBody>
      </p:sp>
      <p:sp>
        <p:nvSpPr>
          <p:cNvPr id="47" name="Rectangle 46"/>
          <p:cNvSpPr/>
          <p:nvPr/>
        </p:nvSpPr>
        <p:spPr>
          <a:xfrm>
            <a:off x="7476957" y="4674108"/>
            <a:ext cx="3934755" cy="483108"/>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674108"/>
            <a:ext cx="3678723" cy="483108"/>
          </a:xfrm>
          <a:prstGeom prst="rect">
            <a:avLst/>
          </a:prstGeom>
          <a:noFill/>
        </p:spPr>
        <p:txBody>
          <a:bodyPr wrap="square" anchor="ctr">
            <a:spAutoFit/>
          </a:bodyPr>
          <a:lstStyle/>
          <a:p>
            <a:pPr algn="l">
              <a:spcAft>
                <a:spcPts val="400"/>
              </a:spcAft>
            </a:pPr>
            <a:r>
              <a:rPr sz="1150" b="0">
                <a:solidFill>
                  <a:srgbClr val="5B6372"/>
                </a:solidFill>
                <a:latin typeface="Arial"/>
              </a:rPr>
              <a:t>Missed opportunity — you bin a change that worked</a:t>
            </a:r>
          </a:p>
        </p:txBody>
      </p:sp>
      <p:sp>
        <p:nvSpPr>
          <p:cNvPr id="49" name="Rectangle 48"/>
          <p:cNvSpPr/>
          <p:nvPr/>
        </p:nvSpPr>
        <p:spPr>
          <a:xfrm>
            <a:off x="777240" y="5358384"/>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77240" y="5358384"/>
            <a:ext cx="100584" cy="8412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51560" y="5468112"/>
            <a:ext cx="10085832" cy="603504"/>
          </a:xfrm>
          <a:prstGeom prst="rect">
            <a:avLst/>
          </a:prstGeom>
          <a:noFill/>
        </p:spPr>
        <p:txBody>
          <a:bodyPr wrap="square" anchor="t">
            <a:spAutoFit/>
          </a:bodyPr>
          <a:lstStyle/>
          <a:p>
            <a:pPr algn="l">
              <a:spcAft>
                <a:spcPts val="400"/>
              </a:spcAft>
            </a:pPr>
            <a:r>
              <a:rPr sz="1100" b="1">
                <a:solidFill>
                  <a:srgbClr val="7C3AED"/>
                </a:solidFill>
                <a:latin typeface="Arial"/>
              </a:rPr>
              <a:t>WHEN IT MATTERS  </a:t>
            </a:r>
            <a:r>
              <a:rPr sz="1200" b="0">
                <a:solidFill>
                  <a:srgbClr val="161B26"/>
                </a:solidFill>
                <a:latin typeface="Arial"/>
              </a:rPr>
              <a:t>A p-value below 0.05 means the result is statistically significant — it does NOT tell you the effect is large or commercially important.</a:t>
            </a:r>
          </a:p>
        </p:txBody>
      </p:sp>
      <p:sp>
        <p:nvSpPr>
          <p:cNvPr id="52" name="TextBox 5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53" name="TextBox 5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4" name="TextBox 5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p:transition spd="fast" advClick="1">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STATISTICAL METHODS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Inferential Tests You Must Know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T-test</a:t>
            </a:r>
          </a:p>
          <a:p>
            <a:pPr algn="l">
              <a:spcAft>
                <a:spcPts val="300"/>
              </a:spcAft>
            </a:pPr>
            <a:r>
              <a:rPr sz="1100" b="0">
                <a:solidFill>
                  <a:srgbClr val="5B6372"/>
                </a:solidFill>
                <a:latin typeface="Arial"/>
              </a:rPr>
              <a:t>Compares the MEANS of two groups to see whether the difference is significant. Used in every A/B test.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Chi-square</a:t>
            </a:r>
          </a:p>
          <a:p>
            <a:pPr algn="l">
              <a:spcAft>
                <a:spcPts val="300"/>
              </a:spcAft>
            </a:pPr>
            <a:r>
              <a:rPr sz="1100" b="0">
                <a:solidFill>
                  <a:srgbClr val="5B6372"/>
                </a:solidFill>
                <a:latin typeface="Arial"/>
              </a:rPr>
              <a:t>Compares observed counts against expected counts for CATEGORICAL data.</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Chi-square: independence</a:t>
            </a:r>
          </a:p>
          <a:p>
            <a:pPr algn="l">
              <a:spcAft>
                <a:spcPts val="300"/>
              </a:spcAft>
            </a:pPr>
            <a:r>
              <a:rPr sz="1100" b="0">
                <a:solidFill>
                  <a:srgbClr val="5B6372"/>
                </a:solidFill>
                <a:latin typeface="Arial"/>
              </a:rPr>
              <a:t>Tests whether two categorical variables are related to each other.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Chi-square: goodness of fit</a:t>
            </a:r>
          </a:p>
          <a:p>
            <a:pPr algn="l">
              <a:spcAft>
                <a:spcPts val="300"/>
              </a:spcAft>
            </a:pPr>
            <a:r>
              <a:rPr sz="1100" b="0">
                <a:solidFill>
                  <a:srgbClr val="5B6372"/>
                </a:solidFill>
                <a:latin typeface="Arial"/>
              </a:rPr>
              <a:t>Tests whether observed counts match an expected baseline distribution.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Regression analysis</a:t>
            </a:r>
          </a:p>
          <a:p>
            <a:pPr algn="l">
              <a:spcAft>
                <a:spcPts val="300"/>
              </a:spcAft>
            </a:pPr>
            <a:r>
              <a:rPr sz="1100" b="0">
                <a:solidFill>
                  <a:srgbClr val="5B6372"/>
                </a:solidFill>
                <a:latin typeface="Arial"/>
              </a:rPr>
              <a:t>Estimates the relationship between a dependent variable and one or more independent variables.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Confidence interval</a:t>
            </a:r>
          </a:p>
          <a:p>
            <a:pPr algn="l">
              <a:spcAft>
                <a:spcPts val="300"/>
              </a:spcAft>
            </a:pPr>
            <a:r>
              <a:rPr sz="1100" b="0">
                <a:solidFill>
                  <a:srgbClr val="5B6372"/>
                </a:solidFill>
                <a:latin typeface="Arial"/>
              </a:rPr>
              <a:t>The range within which the true population value is likely to fall, at a stated confidence level.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p:transition spd="fast" advClick="1">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REGRESSION ANALYSIS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Reading a Regression Output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20624"/>
          </a:xfrm>
          <a:prstGeom prst="rect">
            <a:avLst/>
          </a:prstGeom>
          <a:noFill/>
        </p:spPr>
        <p:txBody>
          <a:bodyPr wrap="square" anchor="t">
            <a:spAutoFit/>
          </a:bodyPr>
          <a:lstStyle/>
          <a:p>
            <a:pPr algn="l">
              <a:spcAft>
                <a:spcPts val="400"/>
              </a:spcAft>
            </a:pPr>
            <a:r>
              <a:rPr sz="1500" b="0">
                <a:solidFill>
                  <a:srgbClr val="5B6372"/>
                </a:solidFill>
                <a:latin typeface="Arial"/>
              </a:rPr>
              <a:t>Lab 10 fits revenue against marketing spend. Here is what each number in the output actually tells you.</a:t>
            </a:r>
          </a:p>
        </p:txBody>
      </p:sp>
      <p:sp>
        <p:nvSpPr>
          <p:cNvPr id="8" name="Rectangle 7"/>
          <p:cNvSpPr/>
          <p:nvPr/>
        </p:nvSpPr>
        <p:spPr>
          <a:xfrm>
            <a:off x="777240" y="2286000"/>
            <a:ext cx="5943600" cy="379476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78408" y="2395728"/>
            <a:ext cx="5541264" cy="3566160"/>
          </a:xfrm>
          <a:prstGeom prst="rect">
            <a:avLst/>
          </a:prstGeom>
          <a:noFill/>
        </p:spPr>
        <p:txBody>
          <a:bodyPr wrap="square">
            <a:spAutoFit/>
          </a:bodyPr>
          <a:lstStyle/>
          <a:p>
            <a:pPr>
              <a:spcAft>
                <a:spcPts val="200"/>
              </a:spcAft>
            </a:pPr>
            <a:r>
              <a:rPr sz="1100">
                <a:solidFill>
                  <a:srgbClr val="C586C0"/>
                </a:solidFill>
                <a:latin typeface="Consolas"/>
              </a:rPr>
              <a:t>from scipy import stats</a:t>
            </a:r>
          </a:p>
          <a:p>
            <a:pPr>
              <a:spcAft>
                <a:spcPts val="200"/>
              </a:spcAft>
            </a:pPr>
            <a:r>
              <a:rPr sz="1100">
                <a:solidFill>
                  <a:srgbClr val="9CDCFE"/>
                </a:solidFill>
                <a:latin typeface="Consolas"/>
              </a:rPr>
              <a:t/>
            </a:r>
          </a:p>
          <a:p>
            <a:pPr>
              <a:spcAft>
                <a:spcPts val="200"/>
              </a:spcAft>
            </a:pPr>
            <a:r>
              <a:rPr sz="1100">
                <a:solidFill>
                  <a:srgbClr val="D4D4D4"/>
                </a:solidFill>
                <a:latin typeface="Consolas"/>
              </a:rPr>
              <a:t>lr = stats.linregress(d.spend, d.revenue)</a:t>
            </a:r>
          </a:p>
          <a:p>
            <a:pPr>
              <a:spcAft>
                <a:spcPts val="200"/>
              </a:spcAft>
            </a:pPr>
            <a:r>
              <a:rPr sz="1100">
                <a:solidFill>
                  <a:srgbClr val="9CDCFE"/>
                </a:solidFill>
                <a:latin typeface="Consolas"/>
              </a:rPr>
              <a:t/>
            </a:r>
          </a:p>
          <a:p>
            <a:pPr>
              <a:spcAft>
                <a:spcPts val="200"/>
              </a:spcAft>
            </a:pPr>
            <a:r>
              <a:rPr sz="1100">
                <a:solidFill>
                  <a:srgbClr val="6A9955"/>
                </a:solidFill>
                <a:latin typeface="Consolas"/>
              </a:rPr>
              <a:t># slope      =  6.598</a:t>
            </a:r>
          </a:p>
          <a:p>
            <a:pPr>
              <a:spcAft>
                <a:spcPts val="200"/>
              </a:spcAft>
            </a:pPr>
            <a:r>
              <a:rPr sz="1100">
                <a:solidFill>
                  <a:srgbClr val="6A9955"/>
                </a:solidFill>
                <a:latin typeface="Consolas"/>
              </a:rPr>
              <a:t># intercept  = 52.114</a:t>
            </a:r>
          </a:p>
          <a:p>
            <a:pPr>
              <a:spcAft>
                <a:spcPts val="200"/>
              </a:spcAft>
            </a:pPr>
            <a:r>
              <a:rPr sz="1100">
                <a:solidFill>
                  <a:srgbClr val="6A9955"/>
                </a:solidFill>
                <a:latin typeface="Consolas"/>
              </a:rPr>
              <a:t># rvalue     =  0.9992</a:t>
            </a:r>
          </a:p>
          <a:p>
            <a:pPr>
              <a:spcAft>
                <a:spcPts val="200"/>
              </a:spcAft>
            </a:pPr>
            <a:r>
              <a:rPr sz="1100">
                <a:solidFill>
                  <a:srgbClr val="6A9955"/>
                </a:solidFill>
                <a:latin typeface="Consolas"/>
              </a:rPr>
              <a:t># pvalue     =  1.4e-12</a:t>
            </a:r>
          </a:p>
          <a:p>
            <a:pPr>
              <a:spcAft>
                <a:spcPts val="200"/>
              </a:spcAft>
            </a:pPr>
            <a:r>
              <a:rPr sz="1100">
                <a:solidFill>
                  <a:srgbClr val="9CDCFE"/>
                </a:solidFill>
                <a:latin typeface="Consolas"/>
              </a:rPr>
              <a:t/>
            </a:r>
          </a:p>
          <a:p>
            <a:pPr>
              <a:spcAft>
                <a:spcPts val="200"/>
              </a:spcAft>
            </a:pPr>
            <a:r>
              <a:rPr sz="1100">
                <a:solidFill>
                  <a:srgbClr val="6A9955"/>
                </a:solidFill>
                <a:latin typeface="Consolas"/>
              </a:rPr>
              <a:t># the fitted model:</a:t>
            </a:r>
          </a:p>
          <a:p>
            <a:pPr>
              <a:spcAft>
                <a:spcPts val="200"/>
              </a:spcAft>
            </a:pPr>
            <a:r>
              <a:rPr sz="1100">
                <a:solidFill>
                  <a:srgbClr val="6A9955"/>
                </a:solidFill>
                <a:latin typeface="Consolas"/>
              </a:rPr>
              <a:t>#   revenue = 6.598 * spend + 52.114</a:t>
            </a:r>
          </a:p>
          <a:p>
            <a:pPr>
              <a:spcAft>
                <a:spcPts val="200"/>
              </a:spcAft>
            </a:pPr>
            <a:r>
              <a:rPr sz="1100">
                <a:solidFill>
                  <a:srgbClr val="9CDCFE"/>
                </a:solidFill>
                <a:latin typeface="Consolas"/>
              </a:rPr>
              <a:t/>
            </a:r>
          </a:p>
          <a:p>
            <a:pPr>
              <a:spcAft>
                <a:spcPts val="200"/>
              </a:spcAft>
            </a:pPr>
            <a:r>
              <a:rPr sz="1100">
                <a:solidFill>
                  <a:srgbClr val="6A9955"/>
                </a:solidFill>
                <a:latin typeface="Consolas"/>
              </a:rPr>
              <a:t># predict at a new spend level</a:t>
            </a:r>
          </a:p>
          <a:p>
            <a:pPr>
              <a:spcAft>
                <a:spcPts val="200"/>
              </a:spcAft>
            </a:pPr>
            <a:r>
              <a:rPr sz="1100">
                <a:solidFill>
                  <a:srgbClr val="9CDCFE"/>
                </a:solidFill>
                <a:latin typeface="Consolas"/>
              </a:rPr>
              <a:t>lr.slope * 40 + lr.intercept</a:t>
            </a:r>
          </a:p>
          <a:p>
            <a:pPr>
              <a:spcAft>
                <a:spcPts val="200"/>
              </a:spcAft>
            </a:pPr>
            <a:r>
              <a:rPr sz="1100">
                <a:solidFill>
                  <a:srgbClr val="6A9955"/>
                </a:solidFill>
                <a:latin typeface="Consolas"/>
              </a:rPr>
              <a:t>#  -&gt; 316.0</a:t>
            </a:r>
          </a:p>
        </p:txBody>
      </p:sp>
      <p:sp>
        <p:nvSpPr>
          <p:cNvPr id="10" name="Rectangle 9"/>
          <p:cNvSpPr/>
          <p:nvPr/>
        </p:nvSpPr>
        <p:spPr>
          <a:xfrm>
            <a:off x="6995160" y="228600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995160" y="2286000"/>
            <a:ext cx="82296"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32904" y="2377440"/>
            <a:ext cx="4005072" cy="292608"/>
          </a:xfrm>
          <a:prstGeom prst="rect">
            <a:avLst/>
          </a:prstGeom>
          <a:noFill/>
        </p:spPr>
        <p:txBody>
          <a:bodyPr wrap="square" anchor="t">
            <a:spAutoFit/>
          </a:bodyPr>
          <a:lstStyle/>
          <a:p>
            <a:pPr algn="l">
              <a:spcAft>
                <a:spcPts val="400"/>
              </a:spcAft>
            </a:pPr>
            <a:r>
              <a:rPr sz="1200" b="1">
                <a:solidFill>
                  <a:srgbClr val="1F6FEB"/>
                </a:solidFill>
                <a:latin typeface="Arial"/>
              </a:rPr>
              <a:t>Slope = 6.598</a:t>
            </a:r>
          </a:p>
        </p:txBody>
      </p:sp>
      <p:sp>
        <p:nvSpPr>
          <p:cNvPr id="13" name="TextBox 12"/>
          <p:cNvSpPr txBox="1"/>
          <p:nvPr/>
        </p:nvSpPr>
        <p:spPr>
          <a:xfrm>
            <a:off x="7232904" y="267004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Every extra 1 unit of spend is associated with 6.6 more units of revenue.</a:t>
            </a:r>
          </a:p>
        </p:txBody>
      </p:sp>
      <p:sp>
        <p:nvSpPr>
          <p:cNvPr id="14" name="Rectangle 13"/>
          <p:cNvSpPr/>
          <p:nvPr/>
        </p:nvSpPr>
        <p:spPr>
          <a:xfrm>
            <a:off x="6995160" y="324612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60" y="3246120"/>
            <a:ext cx="82296"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32904" y="3337560"/>
            <a:ext cx="4005072" cy="292608"/>
          </a:xfrm>
          <a:prstGeom prst="rect">
            <a:avLst/>
          </a:prstGeom>
          <a:noFill/>
        </p:spPr>
        <p:txBody>
          <a:bodyPr wrap="square" anchor="t">
            <a:spAutoFit/>
          </a:bodyPr>
          <a:lstStyle/>
          <a:p>
            <a:pPr algn="l">
              <a:spcAft>
                <a:spcPts val="400"/>
              </a:spcAft>
            </a:pPr>
            <a:r>
              <a:rPr sz="1200" b="1">
                <a:solidFill>
                  <a:srgbClr val="10B981"/>
                </a:solidFill>
                <a:latin typeface="Arial"/>
              </a:rPr>
              <a:t>Intercept = 52.1</a:t>
            </a:r>
          </a:p>
        </p:txBody>
      </p:sp>
      <p:sp>
        <p:nvSpPr>
          <p:cNvPr id="17" name="TextBox 16"/>
          <p:cNvSpPr txBox="1"/>
          <p:nvPr/>
        </p:nvSpPr>
        <p:spPr>
          <a:xfrm>
            <a:off x="7232904" y="363016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The modelled revenue at zero spend — often not meaningful in the real world.</a:t>
            </a:r>
          </a:p>
        </p:txBody>
      </p:sp>
      <p:sp>
        <p:nvSpPr>
          <p:cNvPr id="18" name="Rectangle 17"/>
          <p:cNvSpPr/>
          <p:nvPr/>
        </p:nvSpPr>
        <p:spPr>
          <a:xfrm>
            <a:off x="6995160" y="420624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995160" y="4206240"/>
            <a:ext cx="82296"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32904" y="4297680"/>
            <a:ext cx="4005072" cy="292608"/>
          </a:xfrm>
          <a:prstGeom prst="rect">
            <a:avLst/>
          </a:prstGeom>
          <a:noFill/>
        </p:spPr>
        <p:txBody>
          <a:bodyPr wrap="square" anchor="t">
            <a:spAutoFit/>
          </a:bodyPr>
          <a:lstStyle/>
          <a:p>
            <a:pPr algn="l">
              <a:spcAft>
                <a:spcPts val="400"/>
              </a:spcAft>
            </a:pPr>
            <a:r>
              <a:rPr sz="1200" b="1">
                <a:solidFill>
                  <a:srgbClr val="7C3AED"/>
                </a:solidFill>
                <a:latin typeface="Arial"/>
              </a:rPr>
              <a:t>R² = 0.998</a:t>
            </a:r>
          </a:p>
        </p:txBody>
      </p:sp>
      <p:sp>
        <p:nvSpPr>
          <p:cNvPr id="21" name="TextBox 20"/>
          <p:cNvSpPr txBox="1"/>
          <p:nvPr/>
        </p:nvSpPr>
        <p:spPr>
          <a:xfrm>
            <a:off x="7232904" y="459028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99.8% of the variation in revenue is explained by spend. Very high — and suspiciously so.</a:t>
            </a:r>
          </a:p>
        </p:txBody>
      </p:sp>
      <p:sp>
        <p:nvSpPr>
          <p:cNvPr id="22" name="Rectangle 21"/>
          <p:cNvSpPr/>
          <p:nvPr/>
        </p:nvSpPr>
        <p:spPr>
          <a:xfrm>
            <a:off x="6995160" y="5166360"/>
            <a:ext cx="441655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995160" y="5166360"/>
            <a:ext cx="82296"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32904" y="5257800"/>
            <a:ext cx="4005072" cy="292608"/>
          </a:xfrm>
          <a:prstGeom prst="rect">
            <a:avLst/>
          </a:prstGeom>
          <a:noFill/>
        </p:spPr>
        <p:txBody>
          <a:bodyPr wrap="square" anchor="t">
            <a:spAutoFit/>
          </a:bodyPr>
          <a:lstStyle/>
          <a:p>
            <a:pPr algn="l">
              <a:spcAft>
                <a:spcPts val="400"/>
              </a:spcAft>
            </a:pPr>
            <a:r>
              <a:rPr sz="1200" b="1">
                <a:solidFill>
                  <a:srgbClr val="F59E0B"/>
                </a:solidFill>
                <a:latin typeface="Arial"/>
              </a:rPr>
              <a:t>p = 1.4e-12</a:t>
            </a:r>
          </a:p>
        </p:txBody>
      </p:sp>
      <p:sp>
        <p:nvSpPr>
          <p:cNvPr id="25" name="TextBox 24"/>
          <p:cNvSpPr txBox="1"/>
          <p:nvPr/>
        </p:nvSpPr>
        <p:spPr>
          <a:xfrm>
            <a:off x="7232904" y="5550408"/>
            <a:ext cx="4005072" cy="475488"/>
          </a:xfrm>
          <a:prstGeom prst="rect">
            <a:avLst/>
          </a:prstGeom>
          <a:noFill/>
        </p:spPr>
        <p:txBody>
          <a:bodyPr wrap="square" anchor="t">
            <a:spAutoFit/>
          </a:bodyPr>
          <a:lstStyle/>
          <a:p>
            <a:pPr algn="l">
              <a:spcAft>
                <a:spcPts val="400"/>
              </a:spcAft>
            </a:pPr>
            <a:r>
              <a:rPr sz="1100" b="0">
                <a:solidFill>
                  <a:srgbClr val="161B26"/>
                </a:solidFill>
                <a:latin typeface="Arial"/>
              </a:rPr>
              <a:t>Far below 0.05, so the relationship is statistically significant, not chance.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p:transition spd="fast" advClick="1">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THE ANALYST'S DUTY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Two Variables Move Together. Now What?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Diamond 6"/>
          <p:cNvSpPr/>
          <p:nvPr/>
        </p:nvSpPr>
        <p:spPr>
          <a:xfrm>
            <a:off x="777240" y="2514600"/>
            <a:ext cx="4206240" cy="2468880"/>
          </a:xfrm>
          <a:prstGeom prst="diamond">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Arial"/>
              </a:rPr>
              <a:t>Have I shown correlation, or have I actually shown causation?</a:t>
            </a:r>
          </a:p>
        </p:txBody>
      </p:sp>
      <p:sp>
        <p:nvSpPr>
          <p:cNvPr id="8" name="Rounded Rectangle 7"/>
          <p:cNvSpPr/>
          <p:nvPr/>
        </p:nvSpPr>
        <p:spPr>
          <a:xfrm>
            <a:off x="5577840" y="1965960"/>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577840" y="1965960"/>
            <a:ext cx="100584" cy="13716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0" y="2112264"/>
            <a:ext cx="5303520" cy="365760"/>
          </a:xfrm>
          <a:prstGeom prst="rect">
            <a:avLst/>
          </a:prstGeom>
          <a:noFill/>
        </p:spPr>
        <p:txBody>
          <a:bodyPr wrap="square" anchor="t">
            <a:spAutoFit/>
          </a:bodyPr>
          <a:lstStyle/>
          <a:p>
            <a:pPr algn="l">
              <a:spcAft>
                <a:spcPts val="400"/>
              </a:spcAft>
            </a:pPr>
            <a:r>
              <a:rPr sz="1500" b="1">
                <a:solidFill>
                  <a:srgbClr val="10B981"/>
                </a:solidFill>
                <a:latin typeface="Arial"/>
              </a:rPr>
              <a:t>CORRELATION — what you have</a:t>
            </a:r>
          </a:p>
        </p:txBody>
      </p:sp>
      <p:sp>
        <p:nvSpPr>
          <p:cNvPr id="11" name="TextBox 10"/>
          <p:cNvSpPr txBox="1"/>
          <p:nvPr/>
        </p:nvSpPr>
        <p:spPr>
          <a:xfrm>
            <a:off x="5852160" y="2514600"/>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Pearson's r measures the strength and direction of a linear relationship. R² is the proportion of variance explained. This is a pattern, nothing more.</a:t>
            </a:r>
          </a:p>
        </p:txBody>
      </p:sp>
      <p:cxnSp>
        <p:nvCxnSpPr>
          <p:cNvPr id="12" name="Connector 11"/>
          <p:cNvCxnSpPr/>
          <p:nvPr/>
        </p:nvCxnSpPr>
        <p:spPr>
          <a:xfrm flipV="1">
            <a:off x="4983480" y="2651760"/>
            <a:ext cx="594360" cy="109728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577840" y="3977639"/>
            <a:ext cx="5806440" cy="137160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3977639"/>
            <a:ext cx="100584" cy="13716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60" y="4123943"/>
            <a:ext cx="5303520" cy="365760"/>
          </a:xfrm>
          <a:prstGeom prst="rect">
            <a:avLst/>
          </a:prstGeom>
          <a:noFill/>
        </p:spPr>
        <p:txBody>
          <a:bodyPr wrap="square" anchor="t">
            <a:spAutoFit/>
          </a:bodyPr>
          <a:lstStyle/>
          <a:p>
            <a:pPr algn="l">
              <a:spcAft>
                <a:spcPts val="400"/>
              </a:spcAft>
            </a:pPr>
            <a:r>
              <a:rPr sz="1500" b="1">
                <a:solidFill>
                  <a:srgbClr val="F59E0B"/>
                </a:solidFill>
                <a:latin typeface="Arial"/>
              </a:rPr>
              <a:t>CAUSATION — what you need</a:t>
            </a:r>
          </a:p>
        </p:txBody>
      </p:sp>
      <p:sp>
        <p:nvSpPr>
          <p:cNvPr id="16" name="TextBox 15"/>
          <p:cNvSpPr txBox="1"/>
          <p:nvPr/>
        </p:nvSpPr>
        <p:spPr>
          <a:xfrm>
            <a:off x="5852160" y="4526279"/>
            <a:ext cx="5303520" cy="749808"/>
          </a:xfrm>
          <a:prstGeom prst="rect">
            <a:avLst/>
          </a:prstGeom>
          <a:noFill/>
        </p:spPr>
        <p:txBody>
          <a:bodyPr wrap="square" anchor="t">
            <a:spAutoFit/>
          </a:bodyPr>
          <a:lstStyle/>
          <a:p>
            <a:pPr algn="l">
              <a:spcAft>
                <a:spcPts val="400"/>
              </a:spcAft>
            </a:pPr>
            <a:r>
              <a:rPr sz="1200" b="0">
                <a:solidFill>
                  <a:srgbClr val="161B26"/>
                </a:solidFill>
                <a:latin typeface="Arial"/>
              </a:rPr>
              <a:t>A controlled experiment, a plausible mechanism, correct time ordering, and the ruling out of confounding variables. Observational data alone can never prove it.</a:t>
            </a:r>
          </a:p>
        </p:txBody>
      </p:sp>
      <p:cxnSp>
        <p:nvCxnSpPr>
          <p:cNvPr id="17" name="Connector 16"/>
          <p:cNvCxnSpPr/>
          <p:nvPr/>
        </p:nvCxnSpPr>
        <p:spPr>
          <a:xfrm>
            <a:off x="4983480" y="3749040"/>
            <a:ext cx="594360" cy="914399"/>
          </a:xfrm>
          <a:prstGeom prst="line">
            <a:avLst/>
          </a:prstGeom>
          <a:ln w="25400">
            <a:solidFill>
              <a:srgbClr val="F59E0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777240" y="5623560"/>
            <a:ext cx="10634472" cy="6583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51560" y="5742432"/>
            <a:ext cx="10149840" cy="457200"/>
          </a:xfrm>
          <a:prstGeom prst="rect">
            <a:avLst/>
          </a:prstGeom>
          <a:noFill/>
        </p:spPr>
        <p:txBody>
          <a:bodyPr wrap="square" anchor="t">
            <a:spAutoFit/>
          </a:bodyPr>
          <a:lstStyle/>
          <a:p>
            <a:pPr algn="l">
              <a:spcAft>
                <a:spcPts val="400"/>
              </a:spcAft>
            </a:pPr>
            <a:r>
              <a:rPr sz="1200" b="0">
                <a:solidFill>
                  <a:srgbClr val="5B6372"/>
                </a:solidFill>
                <a:latin typeface="Arial"/>
              </a:rPr>
              <a:t>In Lab 10 staff numbers correlate with revenue at r ≈ 0.99 — but growth over time drives both. Correlation is not causation.</a:t>
            </a:r>
          </a:p>
        </p:txBody>
      </p:sp>
      <p:sp>
        <p:nvSpPr>
          <p:cNvPr id="20" name="TextBox 1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1" name="TextBox 2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2" name="TextBox 2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p:transition spd="fast" advClick="1">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TROUBLESHOOTING ANALYSIS ISSUES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Troubleshooting Your Analysis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numbers don't reconcile</a:t>
            </a:r>
          </a:p>
          <a:p>
            <a:pPr algn="l">
              <a:spcAft>
                <a:spcPts val="300"/>
              </a:spcAft>
            </a:pPr>
            <a:r>
              <a:rPr sz="1100" b="0">
                <a:solidFill>
                  <a:srgbClr val="5B6372"/>
                </a:solidFill>
                <a:latin typeface="Arial"/>
              </a:rPr>
              <a:t>Check the record count at every join and filter. An INNER JOIN or a WHERE clause has probably dropped rows.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mean looks wrong</a:t>
            </a:r>
          </a:p>
          <a:p>
            <a:pPr algn="l">
              <a:spcAft>
                <a:spcPts val="300"/>
              </a:spcAft>
            </a:pPr>
            <a:r>
              <a:rPr sz="1100" b="0">
                <a:solidFill>
                  <a:srgbClr val="5B6372"/>
                </a:solidFill>
                <a:latin typeface="Arial"/>
              </a:rPr>
              <a:t>Check for outliers and nulls. pandas skips NaN in a mean — so your denominator may not be what you think.</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Everything correlates</a:t>
            </a:r>
          </a:p>
          <a:p>
            <a:pPr algn="l">
              <a:spcAft>
                <a:spcPts val="300"/>
              </a:spcAft>
            </a:pPr>
            <a:r>
              <a:rPr sz="1100" b="0">
                <a:solidFill>
                  <a:srgbClr val="5B6372"/>
                </a:solidFill>
                <a:latin typeface="Arial"/>
              </a:rPr>
              <a:t>You may be measuring the same thing twice, or both variables are driven by time. Plot them before you trust 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result is too clean</a:t>
            </a:r>
          </a:p>
          <a:p>
            <a:pPr algn="l">
              <a:spcAft>
                <a:spcPts val="300"/>
              </a:spcAft>
            </a:pPr>
            <a:r>
              <a:rPr sz="1100" b="0">
                <a:solidFill>
                  <a:srgbClr val="5B6372"/>
                </a:solidFill>
                <a:latin typeface="Arial"/>
              </a:rPr>
              <a:t>Real business data is noisy. A perfect fit usually means leakage, a synthetic dataset, or a duplicated column.</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Dates behave strangely</a:t>
            </a:r>
          </a:p>
          <a:p>
            <a:pPr algn="l">
              <a:spcAft>
                <a:spcPts val="300"/>
              </a:spcAft>
            </a:pPr>
            <a:r>
              <a:rPr sz="1100" b="0">
                <a:solidFill>
                  <a:srgbClr val="5B6372"/>
                </a:solidFill>
                <a:latin typeface="Arial"/>
              </a:rPr>
              <a:t>Confirm the parse format and the timezone. A DD/MM vs MM/DD mix-up silently corrupts every time series.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Nobody trusts the number</a:t>
            </a:r>
          </a:p>
          <a:p>
            <a:pPr algn="l">
              <a:spcAft>
                <a:spcPts val="300"/>
              </a:spcAft>
            </a:pPr>
            <a:r>
              <a:rPr sz="1100" b="0">
                <a:solidFill>
                  <a:srgbClr val="5B6372"/>
                </a:solidFill>
                <a:latin typeface="Arial"/>
              </a:rPr>
              <a:t>Show the lineage: the source, the filters applied, the row counts and the date the data was refreshed.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p:transition spd="fast" advClick="1">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COMMUNICATING ANALYSIS RESULTS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Communicating Results to Different Audiences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C-level executives</a:t>
            </a:r>
          </a:p>
          <a:p>
            <a:pPr algn="l">
              <a:spcAft>
                <a:spcPts val="300"/>
              </a:spcAft>
            </a:pPr>
            <a:r>
              <a:rPr sz="1100" b="0">
                <a:solidFill>
                  <a:srgbClr val="5B6372"/>
                </a:solidFill>
                <a:latin typeface="Arial"/>
              </a:rPr>
              <a:t>The big picture only. Lead with the decision and the number that supports it — never the methodology.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Management</a:t>
            </a:r>
          </a:p>
          <a:p>
            <a:pPr algn="l">
              <a:spcAft>
                <a:spcPts val="300"/>
              </a:spcAft>
            </a:pPr>
            <a:r>
              <a:rPr sz="1100" b="0">
                <a:solidFill>
                  <a:srgbClr val="5B6372"/>
                </a:solidFill>
                <a:latin typeface="Arial"/>
              </a:rPr>
              <a:t>Performance against target, by unit, with the exceptions highlighted and an action attached.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Technical experts</a:t>
            </a:r>
          </a:p>
          <a:p>
            <a:pPr algn="l">
              <a:spcAft>
                <a:spcPts val="300"/>
              </a:spcAft>
            </a:pPr>
            <a:r>
              <a:rPr sz="1100" b="0">
                <a:solidFill>
                  <a:srgbClr val="5B6372"/>
                </a:solidFill>
                <a:latin typeface="Arial"/>
              </a:rPr>
              <a:t>They will ask about your method, your sample and your assumptions. Bring the detail and the caveats.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External stakeholders</a:t>
            </a:r>
          </a:p>
          <a:p>
            <a:pPr algn="l">
              <a:spcAft>
                <a:spcPts val="300"/>
              </a:spcAft>
            </a:pPr>
            <a:r>
              <a:rPr sz="1100" b="0">
                <a:solidFill>
                  <a:srgbClr val="5B6372"/>
                </a:solidFill>
                <a:latin typeface="Arial"/>
              </a:rPr>
              <a:t>Know exactly what may and may not be shared. Aggregate and de-identify before it leaves the building.</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General public</a:t>
            </a:r>
          </a:p>
          <a:p>
            <a:pPr algn="l">
              <a:spcAft>
                <a:spcPts val="300"/>
              </a:spcAft>
            </a:pPr>
            <a:r>
              <a:rPr sz="1100" b="0">
                <a:solidFill>
                  <a:srgbClr val="5B6372"/>
                </a:solidFill>
                <a:latin typeface="Arial"/>
              </a:rPr>
              <a:t>Plain language, no jargon, one message per visual, and a clearly stated source.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The universal rule</a:t>
            </a:r>
          </a:p>
          <a:p>
            <a:pPr algn="l">
              <a:spcAft>
                <a:spcPts val="300"/>
              </a:spcAft>
            </a:pPr>
            <a:r>
              <a:rPr sz="1100" b="0">
                <a:solidFill>
                  <a:srgbClr val="5B6372"/>
                </a:solidFill>
                <a:latin typeface="Arial"/>
              </a:rPr>
              <a:t>Lead with the answer, then the evidence. Never make your audience assemble the conclusion themselves.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p:transition spd="fast" advClick="1">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8</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Lab 8 — Descriptive Statistics and the Outlier That Moves the Mean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8</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Select statistical methods: apply basic statistical techniques to data (Domain 3); LO3 / K2 / A3.</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compute every descriptive statistic the exam names — mean, median, mode, range, variance, standard deviation and z-score — on a real salary dataset, then remove one outlier and watch which statistics move and which do not. This is the exam's central-tendency-versus-robustness point, proven with numbers.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descriptive-statistics report showing mean, median, mode, range, variance, SD and z-scores, computed with and without the outlier.</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Killercoda Ubuntu, Python 3, pandas, statistics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With the outlier the mean is ~6560 but the median is only 4350. Removing it drops the mean to ~4400 while the median barely moves (4350 → 4200). The Exec row is flagged at z ≈ 2.8. Your report recommends the MEDIAN.</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p:transition spd="fast" advClick="1">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8</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8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Create the lab folder and the salary dataset</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1 of 8</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Compute DISPERSION</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3 of 8</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Now remove the outlier and recompute the SAM</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5 of 8</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Compute the departmental summary</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7 of 8</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Write your recommendation: which single numb</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8 of 8</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descriptive-statistics report showing mean, median, mode, range, variance, SD and z-scores, computed with and without the outlier.</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8</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8 — Descriptive Statistics and the Outlier That Moves the Mean — Procedure 1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Create the lab folder and the salary dataset — one director salary is far above the rest.</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0"/>
              </a:spcAft>
            </a:pPr>
            <a:r>
              <a:rPr sz="780" b="0">
                <a:solidFill>
                  <a:srgbClr val="9CDCFE"/>
                </a:solidFill>
                <a:latin typeface="Arial"/>
              </a:rPr>
              <a:t>$ mkdir -p ~/dataplus/lab8 &amp;&amp; cd ~/dataplus/lab8 &amp;&amp; printf</a:t>
            </a:r>
          </a:p>
          <a:p>
            <a:pPr algn="l">
              <a:spcAft>
                <a:spcPts val="0"/>
              </a:spcAft>
            </a:pPr>
            <a:r>
              <a:rPr sz="780" b="0">
                <a:solidFill>
                  <a:srgbClr val="9CDCFE"/>
                </a:solidFill>
                <a:latin typeface="Arial"/>
              </a:rPr>
              <a:t>   'employee,dept,salary\nA,Ops,3800\nB,Ops,4200\nC,Ops,4000\nD,Sales,4500\nE,Sales,3900\nF,Sales,4200\nG,Tech,5200\nH,Te</a:t>
            </a:r>
          </a:p>
          <a:p>
            <a:pPr algn="l">
              <a:spcAft>
                <a:spcPts val="0"/>
              </a:spcAft>
            </a:pPr>
            <a:r>
              <a:rPr sz="780" b="0">
                <a:solidFill>
                  <a:srgbClr val="9CDCFE"/>
                </a:solidFill>
                <a:latin typeface="Arial"/>
              </a:rPr>
              <a:t>   ch,4800\nI,Tech,5000\nJ,Exec,26000\n' &gt; salaries.csv</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Compute CENTRAL TENDENCY — mean, median and mode together.</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0"/>
              </a:spcAft>
            </a:pPr>
            <a:r>
              <a:rPr sz="640" b="0">
                <a:solidFill>
                  <a:srgbClr val="9CDCFE"/>
                </a:solidFill>
                <a:latin typeface="Arial"/>
              </a:rPr>
              <a:t>$ python3 -c "import pandas as pd;</a:t>
            </a:r>
          </a:p>
          <a:p>
            <a:pPr algn="l">
              <a:spcAft>
                <a:spcPts val="0"/>
              </a:spcAft>
            </a:pPr>
            <a:r>
              <a:rPr sz="640" b="0">
                <a:solidFill>
                  <a:srgbClr val="9CDCFE"/>
                </a:solidFill>
                <a:latin typeface="Arial"/>
              </a:rPr>
              <a:t>   d=pd.read_csv('salaries.csv');</a:t>
            </a:r>
          </a:p>
          <a:p>
            <a:pPr algn="l">
              <a:spcAft>
                <a:spcPts val="0"/>
              </a:spcAft>
            </a:pPr>
            <a:r>
              <a:rPr sz="640" b="0">
                <a:solidFill>
                  <a:srgbClr val="9CDCFE"/>
                </a:solidFill>
                <a:latin typeface="Arial"/>
              </a:rPr>
              <a:t>   s=d.salary;</a:t>
            </a:r>
          </a:p>
          <a:p>
            <a:pPr algn="l">
              <a:spcAft>
                <a:spcPts val="0"/>
              </a:spcAft>
            </a:pPr>
            <a:r>
              <a:rPr sz="640" b="0">
                <a:solidFill>
                  <a:srgbClr val="9CDCFE"/>
                </a:solidFill>
                <a:latin typeface="Arial"/>
              </a:rPr>
              <a:t>   print('mean',round(s.mean(),2));</a:t>
            </a:r>
          </a:p>
          <a:p>
            <a:pPr algn="l">
              <a:spcAft>
                <a:spcPts val="0"/>
              </a:spcAft>
            </a:pPr>
            <a:r>
              <a:rPr sz="640" b="0">
                <a:solidFill>
                  <a:srgbClr val="9CDCFE"/>
                </a:solidFill>
                <a:latin typeface="Arial"/>
              </a:rPr>
              <a:t>   print('median',s.median());</a:t>
            </a:r>
          </a:p>
          <a:p>
            <a:pPr algn="l">
              <a:spcAft>
                <a:spcPts val="0"/>
              </a:spcAft>
            </a:pPr>
            <a:r>
              <a:rPr sz="640" b="0">
                <a:solidFill>
                  <a:srgbClr val="9CDCFE"/>
                </a:solidFill>
                <a:latin typeface="Arial"/>
              </a:rPr>
              <a:t>   print('mode',s.mode().tolist())"</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1481328" y="4023360"/>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Compute DISPERSION — min, max, range, variance and standard deviation.</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0"/>
              </a:spcAft>
            </a:pPr>
            <a:r>
              <a:rPr sz="640" b="0">
                <a:solidFill>
                  <a:srgbClr val="9CDCFE"/>
                </a:solidFill>
                <a:latin typeface="Arial"/>
              </a:rPr>
              <a:t>$ python3 -c "import pandas as pd;</a:t>
            </a:r>
          </a:p>
          <a:p>
            <a:pPr algn="l">
              <a:spcAft>
                <a:spcPts val="0"/>
              </a:spcAft>
            </a:pPr>
            <a:r>
              <a:rPr sz="640" b="0">
                <a:solidFill>
                  <a:srgbClr val="9CDCFE"/>
                </a:solidFill>
                <a:latin typeface="Arial"/>
              </a:rPr>
              <a:t>   d=pd.read_csv('salaries.csv');</a:t>
            </a:r>
          </a:p>
          <a:p>
            <a:pPr algn="l">
              <a:spcAft>
                <a:spcPts val="0"/>
              </a:spcAft>
            </a:pPr>
            <a:r>
              <a:rPr sz="640" b="0">
                <a:solidFill>
                  <a:srgbClr val="9CDCFE"/>
                </a:solidFill>
                <a:latin typeface="Arial"/>
              </a:rPr>
              <a:t>   s=d.salary;</a:t>
            </a:r>
          </a:p>
          <a:p>
            <a:pPr algn="l">
              <a:spcAft>
                <a:spcPts val="0"/>
              </a:spcAft>
            </a:pPr>
            <a:r>
              <a:rPr sz="640" b="0">
                <a:solidFill>
                  <a:srgbClr val="9CDCFE"/>
                </a:solidFill>
                <a:latin typeface="Arial"/>
              </a:rPr>
              <a:t>   print('min',s.min(),'max',s.max(),'range',s.max()-s.min());</a:t>
            </a:r>
          </a:p>
          <a:p>
            <a:pPr algn="l">
              <a:spcAft>
                <a:spcPts val="0"/>
              </a:spcAft>
            </a:pPr>
            <a:r>
              <a:rPr sz="640" b="0">
                <a:solidFill>
                  <a:srgbClr val="9CDCFE"/>
                </a:solidFill>
                <a:latin typeface="Arial"/>
              </a:rPr>
              <a:t>   print('variance',round(s.var(),2),'sd',round(s.std(),2))"</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p:transition spd="fast" advClick="1">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8</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8 — Descriptive Statistics and the Outlier That Moves the Mean — Procedure 2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Compute the Z-SCORE for every row and flag anything beyond |z| &gt; 2.</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0"/>
              </a:spcAft>
            </a:pPr>
            <a:r>
              <a:rPr sz="780" b="0">
                <a:solidFill>
                  <a:srgbClr val="9CDCFE"/>
                </a:solidFill>
                <a:latin typeface="Arial"/>
              </a:rPr>
              <a:t>$ python3 -c "import pandas as</a:t>
            </a:r>
          </a:p>
          <a:p>
            <a:pPr algn="l">
              <a:spcAft>
                <a:spcPts val="0"/>
              </a:spcAft>
            </a:pPr>
            <a:r>
              <a:rPr sz="780" b="0">
                <a:solidFill>
                  <a:srgbClr val="9CDCFE"/>
                </a:solidFill>
                <a:latin typeface="Arial"/>
              </a:rPr>
              <a:t>   pd;d=pd.read_csv('salaries.csv');s=d.salary;d['z']=((s-s.mean())/s.std()).round(2);print(d);print('FLAGGED:');</a:t>
            </a:r>
          </a:p>
          <a:p>
            <a:pPr algn="l">
              <a:spcAft>
                <a:spcPts val="0"/>
              </a:spcAft>
            </a:pPr>
            <a:r>
              <a:rPr sz="780" b="0">
                <a:solidFill>
                  <a:srgbClr val="9CDCFE"/>
                </a:solidFill>
                <a:latin typeface="Arial"/>
              </a:rPr>
              <a:t>   print(d[abs(d.z)&gt;2])"</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Now remove the outlier and recompute the SAME statistics.</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0"/>
              </a:spcAft>
            </a:pPr>
            <a:r>
              <a:rPr sz="640" b="0">
                <a:solidFill>
                  <a:srgbClr val="9CDCFE"/>
                </a:solidFill>
                <a:latin typeface="Arial"/>
              </a:rPr>
              <a:t>$ python3 -c "import pandas as pd;</a:t>
            </a:r>
          </a:p>
          <a:p>
            <a:pPr algn="l">
              <a:spcAft>
                <a:spcPts val="0"/>
              </a:spcAft>
            </a:pPr>
            <a:r>
              <a:rPr sz="640" b="0">
                <a:solidFill>
                  <a:srgbClr val="9CDCFE"/>
                </a:solidFill>
                <a:latin typeface="Arial"/>
              </a:rPr>
              <a:t>   d=pd.read_csv('salaries.csv');</a:t>
            </a:r>
          </a:p>
          <a:p>
            <a:pPr algn="l">
              <a:spcAft>
                <a:spcPts val="0"/>
              </a:spcAft>
            </a:pPr>
            <a:r>
              <a:rPr sz="640" b="0">
                <a:solidFill>
                  <a:srgbClr val="9CDCFE"/>
                </a:solidFill>
                <a:latin typeface="Arial"/>
              </a:rPr>
              <a:t>   c=d[d.salary&lt;20000].salary;</a:t>
            </a:r>
          </a:p>
          <a:p>
            <a:pPr algn="l">
              <a:spcAft>
                <a:spcPts val="0"/>
              </a:spcAft>
            </a:pPr>
            <a:r>
              <a:rPr sz="640" b="0">
                <a:solidFill>
                  <a:srgbClr val="9CDCFE"/>
                </a:solidFill>
                <a:latin typeface="Arial"/>
              </a:rPr>
              <a:t>   print('mean',round(c.mean(),2));</a:t>
            </a:r>
          </a:p>
          <a:p>
            <a:pPr algn="l">
              <a:spcAft>
                <a:spcPts val="0"/>
              </a:spcAft>
            </a:pPr>
            <a:r>
              <a:rPr sz="640" b="0">
                <a:solidFill>
                  <a:srgbClr val="9CDCFE"/>
                </a:solidFill>
                <a:latin typeface="Arial"/>
              </a:rPr>
              <a:t>   print('median',c.median());</a:t>
            </a:r>
          </a:p>
          <a:p>
            <a:pPr algn="l">
              <a:spcAft>
                <a:spcPts val="0"/>
              </a:spcAft>
            </a:pPr>
            <a:r>
              <a:rPr sz="640" b="0">
                <a:solidFill>
                  <a:srgbClr val="9CDCFE"/>
                </a:solidFill>
                <a:latin typeface="Arial"/>
              </a:rPr>
              <a:t>   print('sd',round(c.std(),2))"</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25" name="TextBox 24"/>
          <p:cNvSpPr txBox="1"/>
          <p:nvPr/>
        </p:nvSpPr>
        <p:spPr>
          <a:xfrm>
            <a:off x="1481328" y="4023360"/>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Compare the two runs side by side and record which statistic moved most.</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0"/>
              </a:spcAft>
            </a:pPr>
            <a:r>
              <a:rPr sz="780" b="0">
                <a:solidFill>
                  <a:srgbClr val="9CDCFE"/>
                </a:solidFill>
                <a:latin typeface="Arial"/>
              </a:rPr>
              <a:t>$ python3 -c "import pandas as pd;d=pd.read_csv('salaries.csv');a=d.salary;b=d[d.salary&lt;20000].salary;print(f'mean</a:t>
            </a:r>
          </a:p>
          <a:p>
            <a:pPr algn="l">
              <a:spcAft>
                <a:spcPts val="0"/>
              </a:spcAft>
            </a:pPr>
            <a:r>
              <a:rPr sz="780" b="0">
                <a:solidFill>
                  <a:srgbClr val="9CDCFE"/>
                </a:solidFill>
                <a:latin typeface="Arial"/>
              </a:rPr>
              <a:t>   {a.mean():&gt;9.2f} -&gt; {b.mean():&gt;8.2f}');print(f'median {a.median():&gt;9.2f} -&gt; {b.median():&gt;8.2f}');print(f'sd</a:t>
            </a:r>
          </a:p>
          <a:p>
            <a:pPr algn="l">
              <a:spcAft>
                <a:spcPts val="0"/>
              </a:spcAft>
            </a:pPr>
            <a:r>
              <a:rPr sz="780" b="0">
                <a:solidFill>
                  <a:srgbClr val="9CDCFE"/>
                </a:solidFill>
                <a:latin typeface="Arial"/>
              </a:rPr>
              <a:t>   {a.std():&gt;9.2f} -&gt; {b.std():&gt;8.2f}')"</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p:transition spd="fast" advClick="1">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8</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8 — Descriptive Statistics and the Outlier That Moves the Mean — Procedure 3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Compute the departmental summary — this is the aggregation a manager actually asks for.</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0"/>
              </a:spcAft>
            </a:pPr>
            <a:r>
              <a:rPr sz="780" b="0">
                <a:solidFill>
                  <a:srgbClr val="9CDCFE"/>
                </a:solidFill>
                <a:latin typeface="Arial"/>
              </a:rPr>
              <a:t>$ python3 -c "import pandas as pd;</a:t>
            </a:r>
          </a:p>
          <a:p>
            <a:pPr algn="l">
              <a:spcAft>
                <a:spcPts val="0"/>
              </a:spcAft>
            </a:pPr>
            <a:r>
              <a:rPr sz="780" b="0">
                <a:solidFill>
                  <a:srgbClr val="9CDCFE"/>
                </a:solidFill>
                <a:latin typeface="Arial"/>
              </a:rPr>
              <a:t>   d=pd.read_csv('salaries.csv');</a:t>
            </a:r>
          </a:p>
          <a:p>
            <a:pPr algn="l">
              <a:spcAft>
                <a:spcPts val="0"/>
              </a:spcAft>
            </a:pPr>
            <a:r>
              <a:rPr sz="780" b="0">
                <a:solidFill>
                  <a:srgbClr val="9CDCFE"/>
                </a:solidFill>
                <a:latin typeface="Arial"/>
              </a:rPr>
              <a:t>   print(d.groupby('dept').salary.agg(['count','mean','median','std']).round(2))"</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18" name="TextBox 17"/>
          <p:cNvSpPr txBox="1"/>
          <p:nvPr/>
        </p:nvSpPr>
        <p:spPr>
          <a:xfrm>
            <a:off x="1481328" y="2871216"/>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Write your recommendation: which single number should be reported to the board, and why.</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p:transition spd="fast" advClick="1">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8</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8 — Verify Your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With the outlier the mean is ~6560 but the median is only 4350. Removing it drops the mean to ~4400 while the median barely moves (4350 → 4200). The Exec row is flagged at z ≈ 2.8. Your report recommends the MEDIAN.</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mode returns several values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 dataset with no repeated value returns every value. pandas .mode() correctly returns a list — report it as 'no single mode'.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Variance looks enormous</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Variance is in squared units. Report the standard deviation (its square root) instead, which is in dollars.</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 row is flagged at |z|&gt;2</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With n=10 a single extreme point inflates the SD and hides itself. Try the median-absolute-deviation method and discuss the difference.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p:transition spd="fast" advClick="1">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8</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8 — Expected Output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8-outlier-mean-median.png"/>
          <p:cNvPicPr>
            <a:picLocks noChangeAspect="1"/>
          </p:cNvPicPr>
          <p:nvPr/>
        </p:nvPicPr>
        <p:blipFill>
          <a:blip r:embed="rId2"/>
          <a:stretch>
            <a:fillRect/>
          </a:stretch>
        </p:blipFill>
        <p:spPr>
          <a:xfrm>
            <a:off x="1564386" y="1783080"/>
            <a:ext cx="9060180" cy="3429000"/>
          </a:xfrm>
          <a:prstGeom prst="rect">
            <a:avLst/>
          </a:prstGeom>
        </p:spPr>
      </p:pic>
      <p:sp>
        <p:nvSpPr>
          <p:cNvPr id="8" name="Rectangle 7"/>
          <p:cNvSpPr/>
          <p:nvPr/>
        </p:nvSpPr>
        <p:spPr>
          <a:xfrm>
            <a:off x="777240" y="54406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440680"/>
            <a:ext cx="100584"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532120"/>
            <a:ext cx="10149840" cy="274320"/>
          </a:xfrm>
          <a:prstGeom prst="rect">
            <a:avLst/>
          </a:prstGeom>
          <a:noFill/>
        </p:spPr>
        <p:txBody>
          <a:bodyPr wrap="square" anchor="t">
            <a:spAutoFit/>
          </a:bodyPr>
          <a:lstStyle/>
          <a:p>
            <a:pPr algn="l">
              <a:spcAft>
                <a:spcPts val="400"/>
              </a:spcAft>
            </a:pPr>
            <a:r>
              <a:rPr sz="1100" b="1">
                <a:solidFill>
                  <a:srgbClr val="10B981"/>
                </a:solidFill>
                <a:latin typeface="Arial"/>
              </a:rPr>
              <a:t>WHAT YOU SHOULD SEE</a:t>
            </a:r>
          </a:p>
        </p:txBody>
      </p:sp>
      <p:sp>
        <p:nvSpPr>
          <p:cNvPr id="11" name="TextBox 10"/>
          <p:cNvSpPr txBox="1"/>
          <p:nvPr/>
        </p:nvSpPr>
        <p:spPr>
          <a:xfrm>
            <a:off x="1051560" y="5824728"/>
            <a:ext cx="10149840" cy="475488"/>
          </a:xfrm>
          <a:prstGeom prst="rect">
            <a:avLst/>
          </a:prstGeom>
          <a:noFill/>
        </p:spPr>
        <p:txBody>
          <a:bodyPr wrap="square" anchor="t">
            <a:spAutoFit/>
          </a:bodyPr>
          <a:lstStyle/>
          <a:p>
            <a:pPr algn="l">
              <a:spcAft>
                <a:spcPts val="400"/>
              </a:spcAft>
            </a:pPr>
            <a:r>
              <a:rPr sz="1150" b="0">
                <a:solidFill>
                  <a:srgbClr val="161B26"/>
                </a:solidFill>
                <a:latin typeface="Arial"/>
              </a:rPr>
              <a:t>This is what your own run should produce. With the outlier the mean is ~6560 but the median is only 4350. Removing it drops the mean to ~4400 while the median barely moves (4350 → 4200). The Exec row is flagged at z ≈ 2.8.</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p:transition spd="fast" advClick="1">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9</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9 — Hypothesis Testing: t-test, p-value and the Two Error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9</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Select statistical methods: inferential techniques, hypothesis testing (Domain 3); LO3 / K2 / A3.</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A marketing team claims the new checkout page lifts order value. You state the null and alternative hypotheses, run a two-sample t-test, read the p-value against the 0.05 threshold, and state your conclusion in business language — including which error type you would be risking if you are wrong.</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completed hypothesis test: stated H0/H1, computed t-statistic and p-value, an accept/reject decision, and the business recommendation.</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Killercoda Ubuntu, Python 3, pandas, scipy</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The t-test returns p well below 0.05 (approximately 0.000002), so you REJECT H0. Group B averages about 49.5 versus 40.75 for group A — a lift of roughly 8.75, with a confidence interval that excludes zero.</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p:transition spd="fast" advClick="1">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9</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9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Create the lab folder and install scipy</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1 of 9</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STATE THE HYPOTHESES before you look at any</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3 of 9</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Run the two-sample t-test and read the p-val</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5 of 9</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Compute the 95% confidence interval for the</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7 of 9</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Write the one-paragraph recommendation a man</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9 of 9</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completed hypothesis test: stated H0/H1, computed t-statistic and p-value, an accept/reject decision, and the business recommendation.</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9</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9 — Hypothesis Testing: t-test, p-value and the Two Error Types — Procedure 1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Create the lab folder and install scipy.</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0"/>
              </a:spcAft>
            </a:pPr>
            <a:r>
              <a:rPr sz="1050" b="0">
                <a:solidFill>
                  <a:srgbClr val="9CDCFE"/>
                </a:solidFill>
                <a:latin typeface="Arial"/>
              </a:rPr>
              <a:t>$ mkdir -p ~/dataplus/lab9 &amp;&amp; cd ~/dataplus/lab9 &amp;&amp; pip3 install scipy pandas --quiet</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Create the A/B test dataset — group A is the old page, group B the new one.</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0"/>
              </a:spcAft>
            </a:pPr>
            <a:r>
              <a:rPr sz="780" b="0">
                <a:solidFill>
                  <a:srgbClr val="9CDCFE"/>
                </a:solidFill>
                <a:latin typeface="Arial"/>
              </a:rPr>
              <a:t>$ printf</a:t>
            </a:r>
          </a:p>
          <a:p>
            <a:pPr algn="l">
              <a:spcAft>
                <a:spcPts val="0"/>
              </a:spcAft>
            </a:pPr>
            <a:r>
              <a:rPr sz="780" b="0">
                <a:solidFill>
                  <a:srgbClr val="9CDCFE"/>
                </a:solidFill>
                <a:latin typeface="Arial"/>
              </a:rPr>
              <a:t>   'group,order_value\nA,42\nA,38\nA,45\nA,40\nA,37\nA,44\nA,41\nA,39\nB,48\nB,52\nB,47\nB,50\nB,53\nB,49\nB,51\nB,46\n'</a:t>
            </a:r>
          </a:p>
          <a:p>
            <a:pPr algn="l">
              <a:spcAft>
                <a:spcPts val="0"/>
              </a:spcAft>
            </a:pPr>
            <a:r>
              <a:rPr sz="780" b="0">
                <a:solidFill>
                  <a:srgbClr val="9CDCFE"/>
                </a:solidFill>
                <a:latin typeface="Arial"/>
              </a:rPr>
              <a:t>   &gt; abtest.csv</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1481328" y="3986784"/>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STATE THE HYPOTHESES before you look at any result — this is the discipline the exam tests.  H0: there is no difference in mean order value.  H1: the new page has a higher mean order value.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p:transition spd="fast" advClick="1">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9</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9 — Hypothesis Testing: t-test, p-value and the Two Error Types — Procedure 2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Look at the group means first — a difference here is necessary but NOT sufficient.</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0"/>
              </a:spcAft>
            </a:pPr>
            <a:r>
              <a:rPr sz="780" b="0">
                <a:solidFill>
                  <a:srgbClr val="9CDCFE"/>
                </a:solidFill>
                <a:latin typeface="Arial"/>
              </a:rPr>
              <a:t>$ python3 -c "import pandas as pd;</a:t>
            </a:r>
          </a:p>
          <a:p>
            <a:pPr algn="l">
              <a:spcAft>
                <a:spcPts val="0"/>
              </a:spcAft>
            </a:pPr>
            <a:r>
              <a:rPr sz="780" b="0">
                <a:solidFill>
                  <a:srgbClr val="9CDCFE"/>
                </a:solidFill>
                <a:latin typeface="Arial"/>
              </a:rPr>
              <a:t>   d=pd.read_csv('abtest.csv');</a:t>
            </a:r>
          </a:p>
          <a:p>
            <a:pPr algn="l">
              <a:spcAft>
                <a:spcPts val="0"/>
              </a:spcAft>
            </a:pPr>
            <a:r>
              <a:rPr sz="780" b="0">
                <a:solidFill>
                  <a:srgbClr val="9CDCFE"/>
                </a:solidFill>
                <a:latin typeface="Arial"/>
              </a:rPr>
              <a:t>   print(d.groupby('group').order_value.agg(['count','mean','std']).round(2))"</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Run the two-sample t-test and read the p-value.</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0"/>
              </a:spcAft>
            </a:pPr>
            <a:r>
              <a:rPr sz="780" b="0">
                <a:solidFill>
                  <a:srgbClr val="9CDCFE"/>
                </a:solidFill>
                <a:latin typeface="Arial"/>
              </a:rPr>
              <a:t>$ python3 -c "import pandas as pd;from scipy import</a:t>
            </a:r>
          </a:p>
          <a:p>
            <a:pPr algn="l">
              <a:spcAft>
                <a:spcPts val="0"/>
              </a:spcAft>
            </a:pPr>
            <a:r>
              <a:rPr sz="780" b="0">
                <a:solidFill>
                  <a:srgbClr val="9CDCFE"/>
                </a:solidFill>
                <a:latin typeface="Arial"/>
              </a:rPr>
              <a:t>   stats;d=pd.read_csv('abtest.csv');a=d[d.group=='A'].order_value;b=d[d.group=='B'].order_value;t,p=stats.ttest_ind(a,b)</a:t>
            </a:r>
          </a:p>
          <a:p>
            <a:pPr algn="l">
              <a:spcAft>
                <a:spcPts val="0"/>
              </a:spcAft>
            </a:pPr>
            <a:r>
              <a:rPr sz="780" b="0">
                <a:solidFill>
                  <a:srgbClr val="9CDCFE"/>
                </a:solidFill>
                <a:latin typeface="Arial"/>
              </a:rPr>
              <a:t>   ;print('t =',round(t,4));print('p =',round(p,6))"</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25" name="TextBox 24"/>
          <p:cNvSpPr txBox="1"/>
          <p:nvPr/>
        </p:nvSpPr>
        <p:spPr>
          <a:xfrm>
            <a:off x="1481328" y="4023360"/>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Apply the 0.05 decision rule explicitly.</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0"/>
              </a:spcAft>
            </a:pPr>
            <a:r>
              <a:rPr sz="780" b="0">
                <a:solidFill>
                  <a:srgbClr val="9CDCFE"/>
                </a:solidFill>
                <a:latin typeface="Arial"/>
              </a:rPr>
              <a:t>$ python3 -c "import pandas as pd;from scipy import</a:t>
            </a:r>
          </a:p>
          <a:p>
            <a:pPr algn="l">
              <a:spcAft>
                <a:spcPts val="0"/>
              </a:spcAft>
            </a:pPr>
            <a:r>
              <a:rPr sz="780" b="0">
                <a:solidFill>
                  <a:srgbClr val="9CDCFE"/>
                </a:solidFill>
                <a:latin typeface="Arial"/>
              </a:rPr>
              <a:t>   stats;d=pd.read_csv('abtest.csv');a=d[d.group=='A'].order_value;b=d[d.group=='B'].order_value;t,p=stats.ttest_ind(a,b)</a:t>
            </a:r>
          </a:p>
          <a:p>
            <a:pPr algn="l">
              <a:spcAft>
                <a:spcPts val="0"/>
              </a:spcAft>
            </a:pPr>
            <a:r>
              <a:rPr sz="780" b="0">
                <a:solidFill>
                  <a:srgbClr val="9CDCFE"/>
                </a:solidFill>
                <a:latin typeface="Arial"/>
              </a:rPr>
              <a:t>   ;print('REJECT H0 - the difference is statistically significant' if p&lt;0.05 else 'FAIL TO REJECT H0')"</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p:transition spd="fast" advClick="1">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9</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9 — Hypothesis Testing: t-test, p-value and the Two Error Types — Procedure 3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Compute the 95% confidence interval for the difference so you can report a range, not just a verdict.</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0"/>
              </a:spcAft>
            </a:pPr>
            <a:r>
              <a:rPr sz="640" b="0">
                <a:solidFill>
                  <a:srgbClr val="9CDCFE"/>
                </a:solidFill>
                <a:latin typeface="Arial"/>
              </a:rPr>
              <a:t>$ python3 -c "import pandas as pd,numpy as np;from scipy import</a:t>
            </a:r>
          </a:p>
          <a:p>
            <a:pPr algn="l">
              <a:spcAft>
                <a:spcPts val="0"/>
              </a:spcAft>
            </a:pPr>
            <a:r>
              <a:rPr sz="640" b="0">
                <a:solidFill>
                  <a:srgbClr val="9CDCFE"/>
                </a:solidFill>
                <a:latin typeface="Arial"/>
              </a:rPr>
              <a:t>   stats;d=pd.read_csv('abtest.csv');a=d[d.group=='A'].order_value;b=d[d.group=='B'].order_value;diff=b.mean()-a.mean();</a:t>
            </a:r>
          </a:p>
          <a:p>
            <a:pPr algn="l">
              <a:spcAft>
                <a:spcPts val="0"/>
              </a:spcAft>
            </a:pPr>
            <a:r>
              <a:rPr sz="640" b="0">
                <a:solidFill>
                  <a:srgbClr val="9CDCFE"/>
                </a:solidFill>
                <a:latin typeface="Arial"/>
              </a:rPr>
              <a:t>   se=np.sqrt(a.var()/len(a)+b.var()/len(b));print('diff',round(diff,2),'95%</a:t>
            </a:r>
          </a:p>
          <a:p>
            <a:pPr algn="l">
              <a:spcAft>
                <a:spcPts val="0"/>
              </a:spcAft>
            </a:pPr>
            <a:r>
              <a:rPr sz="640" b="0">
                <a:solidFill>
                  <a:srgbClr val="9CDCFE"/>
                </a:solidFill>
                <a:latin typeface="Arial"/>
              </a:rPr>
              <a:t>   CI',(round(diff-1.96*se,2),round(diff+1.96*se,2)))"</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18" name="TextBox 17"/>
          <p:cNvSpPr txBox="1"/>
          <p:nvPr/>
        </p:nvSpPr>
        <p:spPr>
          <a:xfrm>
            <a:off x="1481328" y="2871216"/>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Now the error-type question. Write down: if you reject H0 and you are WRONG, which error is that (Type I) and what does it cost the business? If you fail to reject and you are wrong (Type II), what does that cost?</a:t>
            </a:r>
          </a:p>
        </p:txBody>
      </p:sp>
      <p:sp>
        <p:nvSpPr>
          <p:cNvPr id="19" name="Rectangle 18"/>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23" name="TextBox 22"/>
          <p:cNvSpPr txBox="1"/>
          <p:nvPr/>
        </p:nvSpPr>
        <p:spPr>
          <a:xfrm>
            <a:off x="1481328" y="3986784"/>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Write the one-paragraph recommendation a manager could act on — no statistics jargon.</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p:transition spd="fast" advClick="1">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9</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9 — Verify Your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The t-test returns p well below 0.05 (approximately 0.000002), so you REJECT H0. Group B averages about 49.5 versus 40.75 for group A — a lift of roughly 8.75, with a confidence interval that excludes zero.</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ModuleNotFoundError: scipy</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Run pip3 install scipy, adding --break-system-packages if Killercoda's pip refuses.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p-value is nan</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One group has fewer than two values or zero variance. Check your CSV loaded all 16 rows with d.shape.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result feels too clean</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It is a teaching dataset with clean separation. Ask the trainer for the noisy variant to see a borderline p-value.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p:transition spd="fast" advClick="1">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9</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9 — Expected Output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09-abtest.png"/>
          <p:cNvPicPr>
            <a:picLocks noChangeAspect="1"/>
          </p:cNvPicPr>
          <p:nvPr/>
        </p:nvPicPr>
        <p:blipFill>
          <a:blip r:embed="rId2"/>
          <a:stretch>
            <a:fillRect/>
          </a:stretch>
        </p:blipFill>
        <p:spPr>
          <a:xfrm>
            <a:off x="2040601" y="1783080"/>
            <a:ext cx="8107749" cy="3429000"/>
          </a:xfrm>
          <a:prstGeom prst="rect">
            <a:avLst/>
          </a:prstGeom>
        </p:spPr>
      </p:pic>
      <p:sp>
        <p:nvSpPr>
          <p:cNvPr id="8" name="Rectangle 7"/>
          <p:cNvSpPr/>
          <p:nvPr/>
        </p:nvSpPr>
        <p:spPr>
          <a:xfrm>
            <a:off x="777240" y="54406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440680"/>
            <a:ext cx="100584"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532120"/>
            <a:ext cx="10149840" cy="274320"/>
          </a:xfrm>
          <a:prstGeom prst="rect">
            <a:avLst/>
          </a:prstGeom>
          <a:noFill/>
        </p:spPr>
        <p:txBody>
          <a:bodyPr wrap="square" anchor="t">
            <a:spAutoFit/>
          </a:bodyPr>
          <a:lstStyle/>
          <a:p>
            <a:pPr algn="l">
              <a:spcAft>
                <a:spcPts val="400"/>
              </a:spcAft>
            </a:pPr>
            <a:r>
              <a:rPr sz="1100" b="1">
                <a:solidFill>
                  <a:srgbClr val="10B981"/>
                </a:solidFill>
                <a:latin typeface="Arial"/>
              </a:rPr>
              <a:t>WHAT YOU SHOULD SEE</a:t>
            </a:r>
          </a:p>
        </p:txBody>
      </p:sp>
      <p:sp>
        <p:nvSpPr>
          <p:cNvPr id="11" name="TextBox 10"/>
          <p:cNvSpPr txBox="1"/>
          <p:nvPr/>
        </p:nvSpPr>
        <p:spPr>
          <a:xfrm>
            <a:off x="1051560" y="5824728"/>
            <a:ext cx="10149840" cy="475488"/>
          </a:xfrm>
          <a:prstGeom prst="rect">
            <a:avLst/>
          </a:prstGeom>
          <a:noFill/>
        </p:spPr>
        <p:txBody>
          <a:bodyPr wrap="square" anchor="t">
            <a:spAutoFit/>
          </a:bodyPr>
          <a:lstStyle/>
          <a:p>
            <a:pPr algn="l">
              <a:spcAft>
                <a:spcPts val="400"/>
              </a:spcAft>
            </a:pPr>
            <a:r>
              <a:rPr sz="1150" b="0">
                <a:solidFill>
                  <a:srgbClr val="161B26"/>
                </a:solidFill>
                <a:latin typeface="Arial"/>
              </a:rPr>
              <a:t>This is what your own run should produce. The t-test returns p well below 0.05 (approximately 0.000002), so you REJECT H0.</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p:transition spd="fast" advClick="1">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10</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Lab 10 — Correlation, Regression and the Causation Trap</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10</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Select statistical methods: correlation and regression; troubleshoot analysis issues (Domain 3); LO3 / LO5 / A3 / A4.</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measure the relationship between marketing spend and revenue with Pearson's r and R-squared, fit a regression line, use it to predict — and then meet a third dataset where two variables correlate almost perfectly with no causal link at all. Recognising that trap is an exam objective and a professional duty.</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correlation matrix, a fitted regression equation with R-squared, a prediction, and a written spurious-correlation analysis.</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Killercoda Ubuntu, Python 3, pandas, scipy</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Spend and revenue correlate at r ≈ 0.999 with R-squared ≈ 0.998, giving revenue ≈ 6.6 × spend + 52. Staff also correlates ≈ 0.99 with revenue — but growth over time drives both, so the link is not causal.</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p:transition spd="fast" advClick="1">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10</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10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Create the lab folder and the monthly market</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1 of 8</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Get Pearson's r and its p-value for spend ve</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3 of 8</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Use the model to PREDICT revenue at a spend</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5 of 8</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THE TRAP</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7 of 8</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Explain in writing: does hiring staff CAUSE</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8 of 8</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correlation matrix, a fitted regression equation with R-squared, a prediction, and a written spurious-correlation analysis.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10</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10 — Correlation, Regression and the Causation Trap — Procedure 1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Create the lab folder and the monthly marketing dataset.</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0"/>
              </a:spcAft>
            </a:pPr>
            <a:r>
              <a:rPr sz="780" b="0">
                <a:solidFill>
                  <a:srgbClr val="9CDCFE"/>
                </a:solidFill>
                <a:latin typeface="Arial"/>
              </a:rPr>
              <a:t>$ mkdir -p ~/dataplus/lab10 &amp;&amp; cd ~/dataplus/lab10 &amp;&amp; printf</a:t>
            </a:r>
          </a:p>
          <a:p>
            <a:pPr algn="l">
              <a:spcAft>
                <a:spcPts val="0"/>
              </a:spcAft>
            </a:pPr>
            <a:r>
              <a:rPr sz="780" b="0">
                <a:solidFill>
                  <a:srgbClr val="9CDCFE"/>
                </a:solidFill>
                <a:latin typeface="Arial"/>
              </a:rPr>
              <a:t>   'month,spend,revenue,staff\n1,10,118,12\n2,12,131,12\n3,15,152,13\n4,18,171,14\n5,20,188,14\n6,22,197,15\n7,25,221,16\</a:t>
            </a:r>
          </a:p>
          <a:p>
            <a:pPr algn="l">
              <a:spcAft>
                <a:spcPts val="0"/>
              </a:spcAft>
            </a:pPr>
            <a:r>
              <a:rPr sz="780" b="0">
                <a:solidFill>
                  <a:srgbClr val="9CDCFE"/>
                </a:solidFill>
                <a:latin typeface="Arial"/>
              </a:rPr>
              <a:t>   n8,28,238,16\n9,30,255,17\n10,33,271,18\n' &gt; marketing.csv</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Compute the full CORRELATION MATRIX — every pair at once.</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0"/>
              </a:spcAft>
            </a:pPr>
            <a:r>
              <a:rPr sz="1050" b="0">
                <a:solidFill>
                  <a:srgbClr val="9CDCFE"/>
                </a:solidFill>
                <a:latin typeface="Arial"/>
              </a:rPr>
              <a:t>$ python3 -c "import pandas as pd;d=pd.read_csv('marketing.csv');print(d[['spend','revenue','staff']].corr().round(4))"</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1481328" y="4023360"/>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Get Pearson's r and its p-value for spend versus revenue specifically.</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0"/>
              </a:spcAft>
            </a:pPr>
            <a:r>
              <a:rPr sz="780" b="0">
                <a:solidFill>
                  <a:srgbClr val="9CDCFE"/>
                </a:solidFill>
                <a:latin typeface="Arial"/>
              </a:rPr>
              <a:t>$ python3 -c "import pandas as pd;from scipy import</a:t>
            </a:r>
          </a:p>
          <a:p>
            <a:pPr algn="l">
              <a:spcAft>
                <a:spcPts val="0"/>
              </a:spcAft>
            </a:pPr>
            <a:r>
              <a:rPr sz="780" b="0">
                <a:solidFill>
                  <a:srgbClr val="9CDCFE"/>
                </a:solidFill>
                <a:latin typeface="Arial"/>
              </a:rPr>
              <a:t>   stats;d=pd.read_csv('marketing.csv');r,p=stats.pearsonr(d.spend,d.revenue);print('r =',round(r,4));print('r-squared</a:t>
            </a:r>
          </a:p>
          <a:p>
            <a:pPr algn="l">
              <a:spcAft>
                <a:spcPts val="0"/>
              </a:spcAft>
            </a:pPr>
            <a:r>
              <a:rPr sz="780" b="0">
                <a:solidFill>
                  <a:srgbClr val="9CDCFE"/>
                </a:solidFill>
                <a:latin typeface="Arial"/>
              </a:rPr>
              <a:t>   =',round(r**2,4));print('p =',round(p,8))"</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p:transition spd="fast" advClick="1">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10</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10 — Correlation, Regression and the Causation Trap — Procedure 2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Fit the REGRESSION LINE and read off the slope and intercept.</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0"/>
              </a:spcAft>
            </a:pPr>
            <a:r>
              <a:rPr sz="640" b="0">
                <a:solidFill>
                  <a:srgbClr val="9CDCFE"/>
                </a:solidFill>
                <a:latin typeface="Arial"/>
              </a:rPr>
              <a:t>$ python3 -c "import pandas as pd;</a:t>
            </a:r>
          </a:p>
          <a:p>
            <a:pPr algn="l">
              <a:spcAft>
                <a:spcPts val="0"/>
              </a:spcAft>
            </a:pPr>
            <a:r>
              <a:rPr sz="640" b="0">
                <a:solidFill>
                  <a:srgbClr val="9CDCFE"/>
                </a:solidFill>
                <a:latin typeface="Arial"/>
              </a:rPr>
              <a:t>   from scipy import stats;</a:t>
            </a:r>
          </a:p>
          <a:p>
            <a:pPr algn="l">
              <a:spcAft>
                <a:spcPts val="0"/>
              </a:spcAft>
            </a:pPr>
            <a:r>
              <a:rPr sz="640" b="0">
                <a:solidFill>
                  <a:srgbClr val="9CDCFE"/>
                </a:solidFill>
                <a:latin typeface="Arial"/>
              </a:rPr>
              <a:t>   d=pd.read_csv('marketing.csv');</a:t>
            </a:r>
          </a:p>
          <a:p>
            <a:pPr algn="l">
              <a:spcAft>
                <a:spcPts val="0"/>
              </a:spcAft>
            </a:pPr>
            <a:r>
              <a:rPr sz="640" b="0">
                <a:solidFill>
                  <a:srgbClr val="9CDCFE"/>
                </a:solidFill>
                <a:latin typeface="Arial"/>
              </a:rPr>
              <a:t>   lr=stats.linregress(d.spend,d.revenue);</a:t>
            </a:r>
          </a:p>
          <a:p>
            <a:pPr algn="l">
              <a:spcAft>
                <a:spcPts val="0"/>
              </a:spcAft>
            </a:pPr>
            <a:r>
              <a:rPr sz="640" b="0">
                <a:solidFill>
                  <a:srgbClr val="9CDCFE"/>
                </a:solidFill>
                <a:latin typeface="Arial"/>
              </a:rPr>
              <a:t>   print(f'revenue = {lr.slope:.3f} * spend + {lr.intercept:.3f}');</a:t>
            </a:r>
          </a:p>
          <a:p>
            <a:pPr algn="l">
              <a:spcAft>
                <a:spcPts val="0"/>
              </a:spcAft>
            </a:pPr>
            <a:r>
              <a:rPr sz="640" b="0">
                <a:solidFill>
                  <a:srgbClr val="9CDCFE"/>
                </a:solidFill>
                <a:latin typeface="Arial"/>
              </a:rPr>
              <a:t>   print('R-squared =',round(lr.rvalue**2,4))"</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Use the model to PREDICT revenue at a spend level you have never observed.</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0"/>
              </a:spcAft>
            </a:pPr>
            <a:r>
              <a:rPr sz="640" b="0">
                <a:solidFill>
                  <a:srgbClr val="9CDCFE"/>
                </a:solidFill>
                <a:latin typeface="Arial"/>
              </a:rPr>
              <a:t>$ python3 -c "import pandas as pd;</a:t>
            </a:r>
          </a:p>
          <a:p>
            <a:pPr algn="l">
              <a:spcAft>
                <a:spcPts val="0"/>
              </a:spcAft>
            </a:pPr>
            <a:r>
              <a:rPr sz="640" b="0">
                <a:solidFill>
                  <a:srgbClr val="9CDCFE"/>
                </a:solidFill>
                <a:latin typeface="Arial"/>
              </a:rPr>
              <a:t>   from scipy import stats;</a:t>
            </a:r>
          </a:p>
          <a:p>
            <a:pPr algn="l">
              <a:spcAft>
                <a:spcPts val="0"/>
              </a:spcAft>
            </a:pPr>
            <a:r>
              <a:rPr sz="640" b="0">
                <a:solidFill>
                  <a:srgbClr val="9CDCFE"/>
                </a:solidFill>
                <a:latin typeface="Arial"/>
              </a:rPr>
              <a:t>   d=pd.read_csv('marketing.csv');</a:t>
            </a:r>
          </a:p>
          <a:p>
            <a:pPr algn="l">
              <a:spcAft>
                <a:spcPts val="0"/>
              </a:spcAft>
            </a:pPr>
            <a:r>
              <a:rPr sz="640" b="0">
                <a:solidFill>
                  <a:srgbClr val="9CDCFE"/>
                </a:solidFill>
                <a:latin typeface="Arial"/>
              </a:rPr>
              <a:t>   lr=stats.linregress(d.spend,d.revenue);</a:t>
            </a:r>
          </a:p>
          <a:p>
            <a:pPr algn="l">
              <a:spcAft>
                <a:spcPts val="0"/>
              </a:spcAft>
            </a:pPr>
            <a:r>
              <a:rPr sz="640" b="0">
                <a:solidFill>
                  <a:srgbClr val="9CDCFE"/>
                </a:solidFill>
                <a:latin typeface="Arial"/>
              </a:rPr>
              <a:t>   print('predicted revenue at spend=40:',round(lr.slope*40+lr.intercept,2))"</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25" name="TextBox 24"/>
          <p:cNvSpPr txBox="1"/>
          <p:nvPr/>
        </p:nvSpPr>
        <p:spPr>
          <a:xfrm>
            <a:off x="1481328" y="3986784"/>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State the limit of that prediction: spend=40 is outside the observed range (10–33). Write down why extrapolating beyond your data is the analysis error the exam warns about.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p:transition spd="fast" advClick="1">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10</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10 — Correlation, Regression and the Causation Trap — Procedure 3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THE TRAP — now look at staff versus revenue. The correlation is nearly as strong.</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0"/>
              </a:spcAft>
            </a:pPr>
            <a:r>
              <a:rPr sz="640" b="0">
                <a:solidFill>
                  <a:srgbClr val="9CDCFE"/>
                </a:solidFill>
                <a:latin typeface="Arial"/>
              </a:rPr>
              <a:t>$ python3 -c "import pandas as pd;</a:t>
            </a:r>
          </a:p>
          <a:p>
            <a:pPr algn="l">
              <a:spcAft>
                <a:spcPts val="0"/>
              </a:spcAft>
            </a:pPr>
            <a:r>
              <a:rPr sz="640" b="0">
                <a:solidFill>
                  <a:srgbClr val="9CDCFE"/>
                </a:solidFill>
                <a:latin typeface="Arial"/>
              </a:rPr>
              <a:t>   from scipy import stats;</a:t>
            </a:r>
          </a:p>
          <a:p>
            <a:pPr algn="l">
              <a:spcAft>
                <a:spcPts val="0"/>
              </a:spcAft>
            </a:pPr>
            <a:r>
              <a:rPr sz="640" b="0">
                <a:solidFill>
                  <a:srgbClr val="9CDCFE"/>
                </a:solidFill>
                <a:latin typeface="Arial"/>
              </a:rPr>
              <a:t>   d=pd.read_csv('marketing.csv');</a:t>
            </a:r>
          </a:p>
          <a:p>
            <a:pPr algn="l">
              <a:spcAft>
                <a:spcPts val="0"/>
              </a:spcAft>
            </a:pPr>
            <a:r>
              <a:rPr sz="640" b="0">
                <a:solidFill>
                  <a:srgbClr val="9CDCFE"/>
                </a:solidFill>
                <a:latin typeface="Arial"/>
              </a:rPr>
              <a:t>   r,p=stats.pearsonr(d.staff,d.revenue);</a:t>
            </a:r>
          </a:p>
          <a:p>
            <a:pPr algn="l">
              <a:spcAft>
                <a:spcPts val="0"/>
              </a:spcAft>
            </a:pPr>
            <a:r>
              <a:rPr sz="640" b="0">
                <a:solidFill>
                  <a:srgbClr val="9CDCFE"/>
                </a:solidFill>
                <a:latin typeface="Arial"/>
              </a:rPr>
              <a:t>   print('staff vs revenue r =',round(r,4))"</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18" name="TextBox 17"/>
          <p:cNvSpPr txBox="1"/>
          <p:nvPr/>
        </p:nvSpPr>
        <p:spPr>
          <a:xfrm>
            <a:off x="1481328" y="2871216"/>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Explain in writing: does hiring staff CAUSE revenue? Identify the confounding variable that drives both, and state the one sentence every analyst must be able to defend — correlation is not causation.</a:t>
            </a:r>
          </a:p>
        </p:txBody>
      </p:sp>
      <p:sp>
        <p:nvSpPr>
          <p:cNvPr id="19" name="TextBox 1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0" name="TextBox 1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1" name="TextBox 2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p:transition spd="fast" advClick="1">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10</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10 — Verify Your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Spend and revenue correlate at r ≈ 0.999 with R-squared ≈ 0.998, giving revenue ≈ 6.6 × spend + 52. Staff also correlates ≈ 0.99 with revenue — but growth over time drives both, so the link is not causal.</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r is exactly 1.0</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Perfect correlation means the data is synthetic and noise-free. Note that real business data never looks like this.</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linregress has no attribute rvalue</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You are on a very old scipy. Use r,p = stats.pearsonr(...) and square r yourself.</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prediction looks unreasonable</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That is the extrapolation lesson — a linear model fitted on 10–33 has no evidence about 40. Say so in the report.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p:transition spd="fast" advClick="1">
    <p:fade/>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03  ·  LAB 10</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10 — Expected Output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0-correlation-trap.png"/>
          <p:cNvPicPr>
            <a:picLocks noChangeAspect="1"/>
          </p:cNvPicPr>
          <p:nvPr/>
        </p:nvPicPr>
        <p:blipFill>
          <a:blip r:embed="rId2"/>
          <a:stretch>
            <a:fillRect/>
          </a:stretch>
        </p:blipFill>
        <p:spPr>
          <a:xfrm>
            <a:off x="1564386" y="1783080"/>
            <a:ext cx="9060180" cy="3429000"/>
          </a:xfrm>
          <a:prstGeom prst="rect">
            <a:avLst/>
          </a:prstGeom>
        </p:spPr>
      </p:pic>
      <p:sp>
        <p:nvSpPr>
          <p:cNvPr id="8" name="Rectangle 7"/>
          <p:cNvSpPr/>
          <p:nvPr/>
        </p:nvSpPr>
        <p:spPr>
          <a:xfrm>
            <a:off x="777240" y="54406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440680"/>
            <a:ext cx="100584"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532120"/>
            <a:ext cx="10149840" cy="274320"/>
          </a:xfrm>
          <a:prstGeom prst="rect">
            <a:avLst/>
          </a:prstGeom>
          <a:noFill/>
        </p:spPr>
        <p:txBody>
          <a:bodyPr wrap="square" anchor="t">
            <a:spAutoFit/>
          </a:bodyPr>
          <a:lstStyle/>
          <a:p>
            <a:pPr algn="l">
              <a:spcAft>
                <a:spcPts val="400"/>
              </a:spcAft>
            </a:pPr>
            <a:r>
              <a:rPr sz="1100" b="1">
                <a:solidFill>
                  <a:srgbClr val="10B981"/>
                </a:solidFill>
                <a:latin typeface="Arial"/>
              </a:rPr>
              <a:t>WHAT YOU SHOULD SEE</a:t>
            </a:r>
          </a:p>
        </p:txBody>
      </p:sp>
      <p:sp>
        <p:nvSpPr>
          <p:cNvPr id="11" name="TextBox 10"/>
          <p:cNvSpPr txBox="1"/>
          <p:nvPr/>
        </p:nvSpPr>
        <p:spPr>
          <a:xfrm>
            <a:off x="1051560" y="5824728"/>
            <a:ext cx="10149840" cy="475488"/>
          </a:xfrm>
          <a:prstGeom prst="rect">
            <a:avLst/>
          </a:prstGeom>
          <a:noFill/>
        </p:spPr>
        <p:txBody>
          <a:bodyPr wrap="square" anchor="t">
            <a:spAutoFit/>
          </a:bodyPr>
          <a:lstStyle/>
          <a:p>
            <a:pPr algn="l">
              <a:spcAft>
                <a:spcPts val="400"/>
              </a:spcAft>
            </a:pPr>
            <a:r>
              <a:rPr sz="1150" b="0">
                <a:solidFill>
                  <a:srgbClr val="161B26"/>
                </a:solidFill>
                <a:latin typeface="Arial"/>
              </a:rPr>
              <a:t>This is what your own run should produce. Spend and revenue correlate at r ≈ 0.999 with R-squared ≈ 0.998, giving revenue ≈ 6.6 × spend + 52.</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p:transition spd="fast" advClick="1">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03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Data Analysis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71907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71907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Descriptive stats</a:t>
            </a:r>
          </a:p>
          <a:p>
            <a:pPr algn="l">
              <a:spcAft>
                <a:spcPts val="300"/>
              </a:spcAft>
            </a:pPr>
            <a:r>
              <a:rPr sz="1000" b="0">
                <a:solidFill>
                  <a:srgbClr val="5B6372"/>
                </a:solidFill>
                <a:latin typeface="Arial"/>
              </a:rPr>
              <a:t>Descriptive statistics summarise: mean, median and mode for centre; range, variance and SD for spread.</a:t>
            </a:r>
          </a:p>
        </p:txBody>
      </p:sp>
      <p:sp>
        <p:nvSpPr>
          <p:cNvPr id="12" name="Rectangle 11"/>
          <p:cNvSpPr/>
          <p:nvPr/>
        </p:nvSpPr>
        <p:spPr>
          <a:xfrm>
            <a:off x="777240" y="244144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441448"/>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37744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37744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56946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Mean vs median</a:t>
            </a:r>
          </a:p>
          <a:p>
            <a:pPr algn="l">
              <a:spcAft>
                <a:spcPts val="300"/>
              </a:spcAft>
            </a:pPr>
            <a:r>
              <a:rPr sz="1000" b="0">
                <a:solidFill>
                  <a:srgbClr val="5B6372"/>
                </a:solidFill>
                <a:latin typeface="Arial"/>
              </a:rPr>
              <a:t>The mean is dragged by outliers and the median resists them — which one you report changes the story.</a:t>
            </a:r>
          </a:p>
        </p:txBody>
      </p:sp>
      <p:sp>
        <p:nvSpPr>
          <p:cNvPr id="17" name="Rectangle 16"/>
          <p:cNvSpPr/>
          <p:nvPr/>
        </p:nvSpPr>
        <p:spPr>
          <a:xfrm>
            <a:off x="777240" y="3099816"/>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099816"/>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03580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0358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227832"/>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Z-scores</a:t>
            </a:r>
          </a:p>
          <a:p>
            <a:pPr algn="l">
              <a:spcAft>
                <a:spcPts val="300"/>
              </a:spcAft>
            </a:pPr>
            <a:r>
              <a:rPr sz="1000" b="0">
                <a:solidFill>
                  <a:srgbClr val="5B6372"/>
                </a:solidFill>
                <a:latin typeface="Arial"/>
              </a:rPr>
              <a:t>Z-scores standardise distance from the mean, and |z| &gt; 3 is the conventional outlier flag.</a:t>
            </a:r>
          </a:p>
        </p:txBody>
      </p:sp>
      <p:sp>
        <p:nvSpPr>
          <p:cNvPr id="22" name="Rectangle 21"/>
          <p:cNvSpPr/>
          <p:nvPr/>
        </p:nvSpPr>
        <p:spPr>
          <a:xfrm>
            <a:off x="777240" y="3758184"/>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3758184"/>
            <a:ext cx="91440" cy="42062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3886200"/>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Inferential stats</a:t>
            </a:r>
          </a:p>
          <a:p>
            <a:pPr algn="l">
              <a:spcAft>
                <a:spcPts val="300"/>
              </a:spcAft>
            </a:pPr>
            <a:r>
              <a:rPr sz="1000" b="0">
                <a:solidFill>
                  <a:srgbClr val="5B6372"/>
                </a:solidFill>
                <a:latin typeface="Arial"/>
              </a:rPr>
              <a:t>Inferential statistics generalise from a sample: t-tests, chi-square, correlation and regression.</a:t>
            </a:r>
          </a:p>
        </p:txBody>
      </p:sp>
      <p:sp>
        <p:nvSpPr>
          <p:cNvPr id="27" name="Rectangle 26"/>
          <p:cNvSpPr/>
          <p:nvPr/>
        </p:nvSpPr>
        <p:spPr>
          <a:xfrm>
            <a:off x="777240" y="4416552"/>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416552"/>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35254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35254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544568"/>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Hypothesis testing</a:t>
            </a:r>
          </a:p>
          <a:p>
            <a:pPr algn="l">
              <a:spcAft>
                <a:spcPts val="300"/>
              </a:spcAft>
            </a:pPr>
            <a:r>
              <a:rPr sz="1000" b="0">
                <a:solidFill>
                  <a:srgbClr val="5B6372"/>
                </a:solidFill>
                <a:latin typeface="Arial"/>
              </a:rPr>
              <a:t>State H0 and H1 before you test; p &lt; 0.05 rejects the null; Type I is a false alarm, Type II a missed effect.</a:t>
            </a:r>
          </a:p>
        </p:txBody>
      </p:sp>
      <p:sp>
        <p:nvSpPr>
          <p:cNvPr id="32" name="Rectangle 31"/>
          <p:cNvSpPr/>
          <p:nvPr/>
        </p:nvSpPr>
        <p:spPr>
          <a:xfrm>
            <a:off x="777240" y="507492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074920"/>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272" y="501091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 y="501091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1764792" y="520293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Correlation</a:t>
            </a:r>
          </a:p>
          <a:p>
            <a:pPr algn="l">
              <a:spcAft>
                <a:spcPts val="300"/>
              </a:spcAft>
            </a:pPr>
            <a:r>
              <a:rPr sz="1000" b="0">
                <a:solidFill>
                  <a:srgbClr val="5B6372"/>
                </a:solidFill>
                <a:latin typeface="Arial"/>
              </a:rPr>
              <a:t>Correlation measures a pattern; causation requires a mechanism, time ordering and controlled confounders.</a:t>
            </a:r>
          </a:p>
        </p:txBody>
      </p:sp>
      <p:sp>
        <p:nvSpPr>
          <p:cNvPr id="37" name="Rectangle 36"/>
          <p:cNvSpPr/>
          <p:nvPr/>
        </p:nvSpPr>
        <p:spPr>
          <a:xfrm>
            <a:off x="777240" y="573328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733288"/>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66928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66928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86130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Audience</a:t>
            </a:r>
          </a:p>
          <a:p>
            <a:pPr algn="l">
              <a:spcAft>
                <a:spcPts val="300"/>
              </a:spcAft>
            </a:pPr>
            <a:r>
              <a:rPr sz="1000" b="0">
                <a:solidFill>
                  <a:srgbClr val="5B6372"/>
                </a:solidFill>
                <a:latin typeface="Arial"/>
              </a:rPr>
              <a:t>Match the delivery to the audience — executives get the decision, technical experts get the method.</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p:transition spd="fast" advClick="1">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Lunch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F59E0B"/>
                </a:solidFill>
                <a:latin typeface="Arial"/>
              </a:rPr>
              <a:t>1 hour</a:t>
            </a:r>
          </a:p>
        </p:txBody>
      </p:sp>
    </p:spTree>
  </p:cSld>
  <p:clrMapOvr>
    <a:masterClrMapping/>
  </p:clrMapOvr>
  <p:transition spd="fast" advClick="1">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DOMAIN 04  ·  20% OF THE EXAM</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Visualization and Reporting</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Chart selection · maps · tables · design elements · dashboards · report types · validation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04</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p:transition spd="med" advClick="1">
    <p:push dir="l"/>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THIS DOMAIN COVERS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Domain 4 — Key Concepts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71907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71907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The question picks the chart</a:t>
            </a:r>
          </a:p>
          <a:p>
            <a:pPr algn="l">
              <a:spcAft>
                <a:spcPts val="300"/>
              </a:spcAft>
            </a:pPr>
            <a:r>
              <a:rPr sz="1000" b="0">
                <a:solidFill>
                  <a:srgbClr val="5B6372"/>
                </a:solidFill>
                <a:latin typeface="Arial"/>
              </a:rPr>
              <a:t>Chart choice follows the question: composition, comparison, distribution, relationship or trend over time.</a:t>
            </a:r>
          </a:p>
        </p:txBody>
      </p:sp>
      <p:sp>
        <p:nvSpPr>
          <p:cNvPr id="12" name="Rectangle 11"/>
          <p:cNvSpPr/>
          <p:nvPr/>
        </p:nvSpPr>
        <p:spPr>
          <a:xfrm>
            <a:off x="777240" y="244144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441448"/>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37744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37744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56946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Time, category, distribution</a:t>
            </a:r>
          </a:p>
          <a:p>
            <a:pPr algn="l">
              <a:spcAft>
                <a:spcPts val="300"/>
              </a:spcAft>
            </a:pPr>
            <a:r>
              <a:rPr sz="1000" b="0">
                <a:solidFill>
                  <a:srgbClr val="5B6372"/>
                </a:solidFill>
                <a:latin typeface="Arial"/>
              </a:rPr>
              <a:t>Line charts carry time series, bar/column charts compare categories, histograms show distribution, scatter plots show relationship.</a:t>
            </a:r>
          </a:p>
        </p:txBody>
      </p:sp>
      <p:sp>
        <p:nvSpPr>
          <p:cNvPr id="17" name="Rectangle 16"/>
          <p:cNvSpPr/>
          <p:nvPr/>
        </p:nvSpPr>
        <p:spPr>
          <a:xfrm>
            <a:off x="777240" y="3099816"/>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099816"/>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03580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0358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227832"/>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Composition and hierarchy</a:t>
            </a:r>
          </a:p>
          <a:p>
            <a:pPr algn="l">
              <a:spcAft>
                <a:spcPts val="300"/>
              </a:spcAft>
            </a:pPr>
            <a:r>
              <a:rPr sz="1000" b="0">
                <a:solidFill>
                  <a:srgbClr val="5B6372"/>
                </a:solidFill>
                <a:latin typeface="Arial"/>
              </a:rPr>
              <a:t>Pie charts suit a few broad parts of a whole; treemaps suit hierarchical subcategories; heat maps encode magnitude in colour.</a:t>
            </a:r>
          </a:p>
        </p:txBody>
      </p:sp>
      <p:sp>
        <p:nvSpPr>
          <p:cNvPr id="22" name="Rectangle 21"/>
          <p:cNvSpPr/>
          <p:nvPr/>
        </p:nvSpPr>
        <p:spPr>
          <a:xfrm>
            <a:off x="777240" y="3758184"/>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3758184"/>
            <a:ext cx="91440" cy="42062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3886200"/>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Geographic data</a:t>
            </a:r>
          </a:p>
          <a:p>
            <a:pPr algn="l">
              <a:spcAft>
                <a:spcPts val="300"/>
              </a:spcAft>
            </a:pPr>
            <a:r>
              <a:rPr sz="1000" b="0">
                <a:solidFill>
                  <a:srgbClr val="5B6372"/>
                </a:solidFill>
                <a:latin typeface="Arial"/>
              </a:rPr>
              <a:t>Geographic data is shown as dot, filled (choropleth) or layered maps; ArcGIS, Power BI and Tableau all render them.</a:t>
            </a:r>
          </a:p>
        </p:txBody>
      </p:sp>
      <p:sp>
        <p:nvSpPr>
          <p:cNvPr id="27" name="Rectangle 26"/>
          <p:cNvSpPr/>
          <p:nvPr/>
        </p:nvSpPr>
        <p:spPr>
          <a:xfrm>
            <a:off x="777240" y="4416552"/>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416552"/>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35254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35254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544568"/>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Dashboards stay focused</a:t>
            </a:r>
          </a:p>
          <a:p>
            <a:pPr algn="l">
              <a:spcAft>
                <a:spcPts val="300"/>
              </a:spcAft>
            </a:pPr>
            <a:r>
              <a:rPr sz="1000" b="0">
                <a:solidFill>
                  <a:srgbClr val="5B6372"/>
                </a:solidFill>
                <a:latin typeface="Arial"/>
              </a:rPr>
              <a:t>A dashboard tracks a small set of decisions — filters, drillthrough and tooltips keep it simple rather than exhaustive.</a:t>
            </a:r>
          </a:p>
        </p:txBody>
      </p:sp>
      <p:sp>
        <p:nvSpPr>
          <p:cNvPr id="32" name="Rectangle 31"/>
          <p:cNvSpPr/>
          <p:nvPr/>
        </p:nvSpPr>
        <p:spPr>
          <a:xfrm>
            <a:off x="777240" y="507492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074920"/>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272" y="501091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 y="501091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1764792" y="520293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Report types</a:t>
            </a:r>
          </a:p>
          <a:p>
            <a:pPr algn="l">
              <a:spcAft>
                <a:spcPts val="300"/>
              </a:spcAft>
            </a:pPr>
            <a:r>
              <a:rPr sz="1000" b="0">
                <a:solidFill>
                  <a:srgbClr val="5B6372"/>
                </a:solidFill>
                <a:latin typeface="Arial"/>
              </a:rPr>
              <a:t>Reports are static, dynamic, real-time, operational, compliance, ad hoc or self-service — the type follows the audience and cadence.</a:t>
            </a:r>
          </a:p>
        </p:txBody>
      </p:sp>
      <p:sp>
        <p:nvSpPr>
          <p:cNvPr id="37" name="Rectangle 36"/>
          <p:cNvSpPr/>
          <p:nvPr/>
        </p:nvSpPr>
        <p:spPr>
          <a:xfrm>
            <a:off x="777240" y="573328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733288"/>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66928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66928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86130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Validating accuracy</a:t>
            </a:r>
          </a:p>
          <a:p>
            <a:pPr algn="l">
              <a:spcAft>
                <a:spcPts val="300"/>
              </a:spcAft>
            </a:pPr>
            <a:r>
              <a:rPr sz="1000" b="0">
                <a:solidFill>
                  <a:srgbClr val="5B6372"/>
                </a:solidFill>
                <a:latin typeface="Arial"/>
              </a:rPr>
              <a:t>Reporting accuracy is validated by cross-validation, peer review, record-count checks, recalculation and data audits.</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p:transition spd="fast" advClick="1">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USING THE APPROPRIATE VISUALIZATION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question determines the chart. Not your preference.</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Composition, comparison, distribution, relationship or trend — every business question falls into one of these five shapes, and each shape has a chart that fits it. Choose the chart last, after you know the question.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p:transition spd="fast" advClick="1">
    <p:fade/>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CHART SELECTION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Which Chart Answers Which Question?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The question</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The chart</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Why</a:t>
            </a:r>
          </a:p>
        </p:txBody>
      </p:sp>
      <p:sp>
        <p:nvSpPr>
          <p:cNvPr id="13" name="Rectangle 12"/>
          <p:cNvSpPr/>
          <p:nvPr/>
        </p:nvSpPr>
        <p:spPr>
          <a:xfrm>
            <a:off x="777240" y="2258568"/>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How is it trending over time?</a:t>
            </a:r>
          </a:p>
        </p:txBody>
      </p:sp>
      <p:sp>
        <p:nvSpPr>
          <p:cNvPr id="15" name="Rectangle 14"/>
          <p:cNvSpPr/>
          <p:nvPr/>
        </p:nvSpPr>
        <p:spPr>
          <a:xfrm>
            <a:off x="3542202" y="2258568"/>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Line chart</a:t>
            </a:r>
          </a:p>
        </p:txBody>
      </p:sp>
      <p:sp>
        <p:nvSpPr>
          <p:cNvPr id="17" name="Rectangle 16"/>
          <p:cNvSpPr/>
          <p:nvPr/>
        </p:nvSpPr>
        <p:spPr>
          <a:xfrm>
            <a:off x="7476957" y="2258568"/>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A continuous line reads as a sequence</a:t>
            </a:r>
          </a:p>
        </p:txBody>
      </p:sp>
      <p:sp>
        <p:nvSpPr>
          <p:cNvPr id="19" name="Rectangle 18"/>
          <p:cNvSpPr/>
          <p:nvPr/>
        </p:nvSpPr>
        <p:spPr>
          <a:xfrm>
            <a:off x="777240" y="2672660"/>
            <a:ext cx="2764962"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672660"/>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Which category is biggest?</a:t>
            </a:r>
          </a:p>
        </p:txBody>
      </p:sp>
      <p:sp>
        <p:nvSpPr>
          <p:cNvPr id="21" name="Rectangle 20"/>
          <p:cNvSpPr/>
          <p:nvPr/>
        </p:nvSpPr>
        <p:spPr>
          <a:xfrm>
            <a:off x="3542202" y="2672660"/>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672660"/>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Bar / column chart</a:t>
            </a:r>
          </a:p>
        </p:txBody>
      </p:sp>
      <p:sp>
        <p:nvSpPr>
          <p:cNvPr id="23" name="Rectangle 22"/>
          <p:cNvSpPr/>
          <p:nvPr/>
        </p:nvSpPr>
        <p:spPr>
          <a:xfrm>
            <a:off x="7476957" y="2672660"/>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672660"/>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Length is the easiest visual comparison</a:t>
            </a:r>
          </a:p>
        </p:txBody>
      </p:sp>
      <p:sp>
        <p:nvSpPr>
          <p:cNvPr id="25" name="Rectangle 24"/>
          <p:cNvSpPr/>
          <p:nvPr/>
        </p:nvSpPr>
        <p:spPr>
          <a:xfrm>
            <a:off x="777240" y="3086752"/>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086752"/>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What share of the whole?</a:t>
            </a:r>
          </a:p>
        </p:txBody>
      </p:sp>
      <p:sp>
        <p:nvSpPr>
          <p:cNvPr id="27" name="Rectangle 26"/>
          <p:cNvSpPr/>
          <p:nvPr/>
        </p:nvSpPr>
        <p:spPr>
          <a:xfrm>
            <a:off x="3542202" y="3086752"/>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086752"/>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Pie chart (few slices)</a:t>
            </a:r>
          </a:p>
        </p:txBody>
      </p:sp>
      <p:sp>
        <p:nvSpPr>
          <p:cNvPr id="29" name="Rectangle 28"/>
          <p:cNvSpPr/>
          <p:nvPr/>
        </p:nvSpPr>
        <p:spPr>
          <a:xfrm>
            <a:off x="7476957" y="3086752"/>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086752"/>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Angle shows parts of one whole</a:t>
            </a:r>
          </a:p>
        </p:txBody>
      </p:sp>
      <p:sp>
        <p:nvSpPr>
          <p:cNvPr id="31" name="Rectangle 30"/>
          <p:cNvSpPr/>
          <p:nvPr/>
        </p:nvSpPr>
        <p:spPr>
          <a:xfrm>
            <a:off x="777240" y="3500844"/>
            <a:ext cx="2764962"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500844"/>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How is one variable spread?</a:t>
            </a:r>
          </a:p>
        </p:txBody>
      </p:sp>
      <p:sp>
        <p:nvSpPr>
          <p:cNvPr id="33" name="Rectangle 32"/>
          <p:cNvSpPr/>
          <p:nvPr/>
        </p:nvSpPr>
        <p:spPr>
          <a:xfrm>
            <a:off x="3542202" y="3500844"/>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500844"/>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Histogram</a:t>
            </a:r>
          </a:p>
        </p:txBody>
      </p:sp>
      <p:sp>
        <p:nvSpPr>
          <p:cNvPr id="35" name="Rectangle 34"/>
          <p:cNvSpPr/>
          <p:nvPr/>
        </p:nvSpPr>
        <p:spPr>
          <a:xfrm>
            <a:off x="7476957" y="3500844"/>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500844"/>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Bins reveal the shape of a distribution</a:t>
            </a:r>
          </a:p>
        </p:txBody>
      </p:sp>
      <p:sp>
        <p:nvSpPr>
          <p:cNvPr id="37" name="Rectangle 36"/>
          <p:cNvSpPr/>
          <p:nvPr/>
        </p:nvSpPr>
        <p:spPr>
          <a:xfrm>
            <a:off x="777240" y="3914936"/>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3914936"/>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Do two variables relate?</a:t>
            </a:r>
          </a:p>
        </p:txBody>
      </p:sp>
      <p:sp>
        <p:nvSpPr>
          <p:cNvPr id="39" name="Rectangle 38"/>
          <p:cNvSpPr/>
          <p:nvPr/>
        </p:nvSpPr>
        <p:spPr>
          <a:xfrm>
            <a:off x="3542202" y="3914936"/>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3914936"/>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Scatter plot</a:t>
            </a:r>
          </a:p>
        </p:txBody>
      </p:sp>
      <p:sp>
        <p:nvSpPr>
          <p:cNvPr id="41" name="Rectangle 40"/>
          <p:cNvSpPr/>
          <p:nvPr/>
        </p:nvSpPr>
        <p:spPr>
          <a:xfrm>
            <a:off x="7476957" y="3914936"/>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3914936"/>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Position on two axes exposes a pattern</a:t>
            </a:r>
          </a:p>
        </p:txBody>
      </p:sp>
      <p:sp>
        <p:nvSpPr>
          <p:cNvPr id="43" name="Rectangle 42"/>
          <p:cNvSpPr/>
          <p:nvPr/>
        </p:nvSpPr>
        <p:spPr>
          <a:xfrm>
            <a:off x="777240" y="4329028"/>
            <a:ext cx="2764962"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5256" y="4329028"/>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Where is it happening?</a:t>
            </a:r>
          </a:p>
        </p:txBody>
      </p:sp>
      <p:sp>
        <p:nvSpPr>
          <p:cNvPr id="45" name="Rectangle 44"/>
          <p:cNvSpPr/>
          <p:nvPr/>
        </p:nvSpPr>
        <p:spPr>
          <a:xfrm>
            <a:off x="3542202" y="4329028"/>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70218" y="4329028"/>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Map (dot / filled / layered)</a:t>
            </a:r>
          </a:p>
        </p:txBody>
      </p:sp>
      <p:sp>
        <p:nvSpPr>
          <p:cNvPr id="47" name="Rectangle 46"/>
          <p:cNvSpPr/>
          <p:nvPr/>
        </p:nvSpPr>
        <p:spPr>
          <a:xfrm>
            <a:off x="7476957" y="4329028"/>
            <a:ext cx="3934755" cy="414092"/>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04973" y="4329028"/>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Geography is its own dimension</a:t>
            </a:r>
          </a:p>
        </p:txBody>
      </p:sp>
      <p:sp>
        <p:nvSpPr>
          <p:cNvPr id="49" name="Rectangle 48"/>
          <p:cNvSpPr/>
          <p:nvPr/>
        </p:nvSpPr>
        <p:spPr>
          <a:xfrm>
            <a:off x="777240" y="4743120"/>
            <a:ext cx="2764962"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05256" y="4743120"/>
            <a:ext cx="2508930" cy="414092"/>
          </a:xfrm>
          <a:prstGeom prst="rect">
            <a:avLst/>
          </a:prstGeom>
          <a:noFill/>
        </p:spPr>
        <p:txBody>
          <a:bodyPr wrap="square" anchor="ctr">
            <a:spAutoFit/>
          </a:bodyPr>
          <a:lstStyle/>
          <a:p>
            <a:pPr algn="l">
              <a:spcAft>
                <a:spcPts val="400"/>
              </a:spcAft>
            </a:pPr>
            <a:r>
              <a:rPr sz="1150" b="1">
                <a:solidFill>
                  <a:srgbClr val="161B26"/>
                </a:solidFill>
                <a:latin typeface="Arial"/>
              </a:rPr>
              <a:t>How does a total build up?</a:t>
            </a:r>
          </a:p>
        </p:txBody>
      </p:sp>
      <p:sp>
        <p:nvSpPr>
          <p:cNvPr id="51" name="Rectangle 50"/>
          <p:cNvSpPr/>
          <p:nvPr/>
        </p:nvSpPr>
        <p:spPr>
          <a:xfrm>
            <a:off x="3542202" y="4743120"/>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670218" y="4743120"/>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Waterfall chart</a:t>
            </a:r>
          </a:p>
        </p:txBody>
      </p:sp>
      <p:sp>
        <p:nvSpPr>
          <p:cNvPr id="53" name="Rectangle 52"/>
          <p:cNvSpPr/>
          <p:nvPr/>
        </p:nvSpPr>
        <p:spPr>
          <a:xfrm>
            <a:off x="7476957" y="4743120"/>
            <a:ext cx="3934755" cy="414092"/>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604973" y="4743120"/>
            <a:ext cx="3678723" cy="414092"/>
          </a:xfrm>
          <a:prstGeom prst="rect">
            <a:avLst/>
          </a:prstGeom>
          <a:noFill/>
        </p:spPr>
        <p:txBody>
          <a:bodyPr wrap="square" anchor="ctr">
            <a:spAutoFit/>
          </a:bodyPr>
          <a:lstStyle/>
          <a:p>
            <a:pPr algn="l">
              <a:spcAft>
                <a:spcPts val="400"/>
              </a:spcAft>
            </a:pPr>
            <a:r>
              <a:rPr sz="1150" b="0">
                <a:solidFill>
                  <a:srgbClr val="5B6372"/>
                </a:solidFill>
                <a:latin typeface="Arial"/>
              </a:rPr>
              <a:t>Shows each contribution to a change</a:t>
            </a:r>
          </a:p>
        </p:txBody>
      </p:sp>
      <p:sp>
        <p:nvSpPr>
          <p:cNvPr id="55" name="Rectangle 54"/>
          <p:cNvSpPr/>
          <p:nvPr/>
        </p:nvSpPr>
        <p:spPr>
          <a:xfrm>
            <a:off x="777240" y="5358380"/>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77240" y="5358380"/>
            <a:ext cx="100584" cy="8412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51560" y="5468108"/>
            <a:ext cx="10085832" cy="603504"/>
          </a:xfrm>
          <a:prstGeom prst="rect">
            <a:avLst/>
          </a:prstGeom>
          <a:noFill/>
        </p:spPr>
        <p:txBody>
          <a:bodyPr wrap="square" anchor="t">
            <a:spAutoFit/>
          </a:bodyPr>
          <a:lstStyle/>
          <a:p>
            <a:pPr algn="l">
              <a:spcAft>
                <a:spcPts val="400"/>
              </a:spcAft>
            </a:pPr>
            <a:r>
              <a:rPr sz="1100" b="1">
                <a:solidFill>
                  <a:srgbClr val="1F6FEB"/>
                </a:solidFill>
                <a:latin typeface="Arial"/>
              </a:rPr>
              <a:t>WHEN IT MATTERS  </a:t>
            </a:r>
            <a:r>
              <a:rPr sz="1200" b="0">
                <a:solidFill>
                  <a:srgbClr val="161B26"/>
                </a:solidFill>
                <a:latin typeface="Arial"/>
              </a:rPr>
              <a:t>Get this wrong and the visual actively misleads — in Lab 11 you build a deliberately wrong chart to see it happen.</a:t>
            </a:r>
          </a:p>
        </p:txBody>
      </p:sp>
      <p:sp>
        <p:nvSpPr>
          <p:cNvPr id="58" name="TextBox 5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59" name="TextBox 5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0" name="TextBox 5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p:transition spd="fast" advClick="1">
    <p:fade/>
  </p:transition>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VISUALIZATION TYPES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Specialist Chart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Tree map</a:t>
            </a:r>
          </a:p>
          <a:p>
            <a:pPr algn="l">
              <a:spcAft>
                <a:spcPts val="300"/>
              </a:spcAft>
            </a:pPr>
            <a:r>
              <a:rPr sz="1200" b="0">
                <a:solidFill>
                  <a:srgbClr val="5B6372"/>
                </a:solidFill>
                <a:latin typeface="Arial"/>
              </a:rPr>
              <a:t>Hierarchical data as nested rectangles sized by value. Label only the large categories.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Heat map</a:t>
            </a:r>
          </a:p>
          <a:p>
            <a:pPr algn="l">
              <a:spcAft>
                <a:spcPts val="300"/>
              </a:spcAft>
            </a:pPr>
            <a:r>
              <a:rPr sz="1200" b="0">
                <a:solidFill>
                  <a:srgbClr val="5B6372"/>
                </a:solidFill>
                <a:latin typeface="Arial"/>
              </a:rPr>
              <a:t>Colour encodes magnitude across two dimensions — excellent for spotting concentration.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Bubble chart</a:t>
            </a:r>
          </a:p>
          <a:p>
            <a:pPr algn="l">
              <a:spcAft>
                <a:spcPts val="300"/>
              </a:spcAft>
            </a:pPr>
            <a:r>
              <a:rPr sz="1200" b="0">
                <a:solidFill>
                  <a:srgbClr val="5B6372"/>
                </a:solidFill>
                <a:latin typeface="Arial"/>
              </a:rPr>
              <a:t>A scatter plot with a third variable encoded as the size of the point.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Combination chart</a:t>
            </a:r>
          </a:p>
          <a:p>
            <a:pPr algn="l">
              <a:spcAft>
                <a:spcPts val="300"/>
              </a:spcAft>
            </a:pPr>
            <a:r>
              <a:rPr sz="1200" b="0">
                <a:solidFill>
                  <a:srgbClr val="5B6372"/>
                </a:solidFill>
                <a:latin typeface="Arial"/>
              </a:rPr>
              <a:t>Two chart types on shared axes — e.g. revenue columns with a margin-percentage line.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Word cloud</a:t>
            </a:r>
          </a:p>
          <a:p>
            <a:pPr algn="l">
              <a:spcAft>
                <a:spcPts val="300"/>
              </a:spcAft>
            </a:pPr>
            <a:r>
              <a:rPr sz="1200" b="0">
                <a:solidFill>
                  <a:srgbClr val="5B6372"/>
                </a:solidFill>
                <a:latin typeface="Arial"/>
              </a:rPr>
              <a:t>Word frequency as text size. Eye-catching, but imprecise — never use it for a real measurement.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Infographic</a:t>
            </a:r>
          </a:p>
          <a:p>
            <a:pPr algn="l">
              <a:spcAft>
                <a:spcPts val="300"/>
              </a:spcAft>
            </a:pPr>
            <a:r>
              <a:rPr sz="1200" b="0">
                <a:solidFill>
                  <a:srgbClr val="5B6372"/>
                </a:solidFill>
                <a:latin typeface="Arial"/>
              </a:rPr>
              <a:t>A designed narrative combining data and graphics. Built for marketing, not for analysis.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p:transition spd="fast" advClick="1">
    <p:fade/>
  </p:transition>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MAPS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Geographic Visualisation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Dot map</a:t>
            </a:r>
          </a:p>
          <a:p>
            <a:pPr algn="l">
              <a:spcAft>
                <a:spcPts val="300"/>
              </a:spcAft>
            </a:pPr>
            <a:r>
              <a:rPr sz="1300" b="0">
                <a:solidFill>
                  <a:srgbClr val="5B6372"/>
                </a:solidFill>
                <a:latin typeface="Arial"/>
              </a:rPr>
              <a:t>Markers placed at specific coordinates — each dot is one event or location.</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Filled (choropleth) map</a:t>
            </a:r>
          </a:p>
          <a:p>
            <a:pPr algn="l">
              <a:spcAft>
                <a:spcPts val="300"/>
              </a:spcAft>
            </a:pPr>
            <a:r>
              <a:rPr sz="1300" b="0">
                <a:solidFill>
                  <a:srgbClr val="5B6372"/>
                </a:solidFill>
                <a:latin typeface="Arial"/>
              </a:rPr>
              <a:t>Shading fills a bounded region by value. Beware: large regions look more important than they are.</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Layered map</a:t>
            </a:r>
          </a:p>
          <a:p>
            <a:pPr algn="l">
              <a:spcAft>
                <a:spcPts val="300"/>
              </a:spcAft>
            </a:pPr>
            <a:r>
              <a:rPr sz="1300" b="0">
                <a:solidFill>
                  <a:srgbClr val="5B6372"/>
                </a:solidFill>
                <a:latin typeface="Arial"/>
              </a:rPr>
              <a:t>Two dimensions at once — e.g. shaded regions for revenue, sized dots for store count.</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Tools</a:t>
            </a:r>
          </a:p>
          <a:p>
            <a:pPr algn="l">
              <a:spcAft>
                <a:spcPts val="300"/>
              </a:spcAft>
            </a:pPr>
            <a:r>
              <a:rPr sz="1300" b="0">
                <a:solidFill>
                  <a:srgbClr val="5B6372"/>
                </a:solidFill>
                <a:latin typeface="Arial"/>
              </a:rPr>
              <a:t>ArcGIS for serious geospatial work; Power BI and Tableau both render maps directly from postal or lat/long data.</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p:transition spd="fast" advClick="1">
    <p:fade/>
  </p:transition>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EXPRESSING BUSINESS REQUIREMENTS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From Requirement to Delivered Report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Define the audience</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Who decides what?</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Agree the questions</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What must it answer?</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Document the sources</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Where does data come from?</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Build and validate</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Draw it, then check it</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Deliver on cadence</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Who gets it, how often?</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THE DISTRIBUTION LIST</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Agree who receives the report BEFORE you build it — the audience determines the level of detail and what may legally be shared.</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DOCUMENTATION ELEMENTS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Report and Dashboard Components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Report header</a:t>
            </a:r>
          </a:p>
          <a:p>
            <a:pPr algn="l">
              <a:spcAft>
                <a:spcPts val="300"/>
              </a:spcAft>
            </a:pPr>
            <a:r>
              <a:rPr sz="1100" b="0">
                <a:solidFill>
                  <a:srgbClr val="5B6372"/>
                </a:solidFill>
                <a:latin typeface="Arial"/>
              </a:rPr>
              <a:t>First page only — the title, the version number and the reporting period.</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Page header / footer</a:t>
            </a:r>
          </a:p>
          <a:p>
            <a:pPr algn="l">
              <a:spcAft>
                <a:spcPts val="300"/>
              </a:spcAft>
            </a:pPr>
            <a:r>
              <a:rPr sz="1100" b="0">
                <a:solidFill>
                  <a:srgbClr val="5B6372"/>
                </a:solidFill>
                <a:latin typeface="Arial"/>
              </a:rPr>
              <a:t>Repeat on every page — field headings at the top, page numbers and references at the bottom.</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Report footer</a:t>
            </a:r>
          </a:p>
          <a:p>
            <a:pPr algn="l">
              <a:spcAft>
                <a:spcPts val="300"/>
              </a:spcAft>
            </a:pPr>
            <a:r>
              <a:rPr sz="1100" b="0">
                <a:solidFill>
                  <a:srgbClr val="5B6372"/>
                </a:solidFill>
                <a:latin typeface="Arial"/>
              </a:rPr>
              <a:t>Last page only — summary information and credit to the authors.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Watermark</a:t>
            </a:r>
          </a:p>
          <a:p>
            <a:pPr algn="l">
              <a:spcAft>
                <a:spcPts val="300"/>
              </a:spcAft>
            </a:pPr>
            <a:r>
              <a:rPr sz="1100" b="0">
                <a:solidFill>
                  <a:srgbClr val="5B6372"/>
                </a:solidFill>
                <a:latin typeface="Arial"/>
              </a:rPr>
              <a:t>Signals handling restrictions: DRAFT, CONFIDENTIAL, INTERNAL USE ONLY.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Refresh date</a:t>
            </a:r>
          </a:p>
          <a:p>
            <a:pPr algn="l">
              <a:spcAft>
                <a:spcPts val="300"/>
              </a:spcAft>
            </a:pPr>
            <a:r>
              <a:rPr sz="1100" b="0">
                <a:solidFill>
                  <a:srgbClr val="5B6372"/>
                </a:solidFill>
                <a:latin typeface="Arial"/>
              </a:rPr>
              <a:t>When the DATA was last updated — the single most-forgotten and most-important element.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Print date</a:t>
            </a:r>
          </a:p>
          <a:p>
            <a:pPr algn="l">
              <a:spcAft>
                <a:spcPts val="300"/>
              </a:spcAft>
            </a:pPr>
            <a:r>
              <a:rPr sz="1100" b="0">
                <a:solidFill>
                  <a:srgbClr val="5B6372"/>
                </a:solidFill>
                <a:latin typeface="Arial"/>
              </a:rPr>
              <a:t>When this copy was produced. Different from the refresh date, and both matter in an audit.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p:transition spd="fast" advClick="1">
    <p:fade/>
  </p:transition>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DISTINGUISHING REPORT TYPES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Report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Static / point-in-time</a:t>
            </a:r>
          </a:p>
          <a:p>
            <a:pPr algn="l">
              <a:spcAft>
                <a:spcPts val="300"/>
              </a:spcAft>
            </a:pPr>
            <a:r>
              <a:rPr sz="1100" b="0">
                <a:solidFill>
                  <a:srgbClr val="5B6372"/>
                </a:solidFill>
                <a:latin typeface="Arial"/>
              </a:rPr>
              <a:t>A fixed snapshot that does not update. The record of what was true at that moment.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Dynamic / real-time</a:t>
            </a:r>
          </a:p>
          <a:p>
            <a:pPr algn="l">
              <a:spcAft>
                <a:spcPts val="300"/>
              </a:spcAft>
            </a:pPr>
            <a:r>
              <a:rPr sz="1100" b="0">
                <a:solidFill>
                  <a:srgbClr val="5B6372"/>
                </a:solidFill>
                <a:latin typeface="Arial"/>
              </a:rPr>
              <a:t>Refreshes on access or on a schedule — always shows the current state.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Operational</a:t>
            </a:r>
          </a:p>
          <a:p>
            <a:pPr algn="l">
              <a:spcAft>
                <a:spcPts val="300"/>
              </a:spcAft>
            </a:pPr>
            <a:r>
              <a:rPr sz="1100" b="0">
                <a:solidFill>
                  <a:srgbClr val="5B6372"/>
                </a:solidFill>
                <a:latin typeface="Arial"/>
              </a:rPr>
              <a:t>The status of projects, products or processes, usually daily and detailed.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Compliance</a:t>
            </a:r>
          </a:p>
          <a:p>
            <a:pPr algn="l">
              <a:spcAft>
                <a:spcPts val="300"/>
              </a:spcAft>
            </a:pPr>
            <a:r>
              <a:rPr sz="1100" b="0">
                <a:solidFill>
                  <a:srgbClr val="5B6372"/>
                </a:solidFill>
                <a:latin typeface="Arial"/>
              </a:rPr>
              <a:t>Produced to satisfy a regulator. The format and cadence are usually prescribed for you.</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Ad hoc</a:t>
            </a:r>
          </a:p>
          <a:p>
            <a:pPr algn="l">
              <a:spcAft>
                <a:spcPts val="300"/>
              </a:spcAft>
            </a:pPr>
            <a:r>
              <a:rPr sz="1100" b="0">
                <a:solidFill>
                  <a:srgbClr val="5B6372"/>
                </a:solidFill>
                <a:latin typeface="Arial"/>
              </a:rPr>
              <a:t>Generated once to answer a specific one-off question.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Self-service</a:t>
            </a:r>
          </a:p>
          <a:p>
            <a:pPr algn="l">
              <a:spcAft>
                <a:spcPts val="300"/>
              </a:spcAft>
            </a:pPr>
            <a:r>
              <a:rPr sz="1100" b="0">
                <a:solidFill>
                  <a:srgbClr val="5B6372"/>
                </a:solidFill>
                <a:latin typeface="Arial"/>
              </a:rPr>
              <a:t>The platform lets end users build their own — which shifts governance onto the data model.</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p:transition spd="fast" advClick="1">
    <p:fade/>
  </p:transition>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DESIGNING DASHBOARDS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Dashboard Design Principles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One purpose</a:t>
            </a:r>
          </a:p>
          <a:p>
            <a:pPr algn="l">
              <a:spcAft>
                <a:spcPts val="300"/>
              </a:spcAft>
            </a:pPr>
            <a:r>
              <a:rPr sz="1100" b="0">
                <a:solidFill>
                  <a:srgbClr val="5B6372"/>
                </a:solidFill>
                <a:latin typeface="Arial"/>
              </a:rPr>
              <a:t>A dashboard tracks a small set of decisions. If it answers everything, it answers nothing.</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Consistent colour</a:t>
            </a:r>
          </a:p>
          <a:p>
            <a:pPr algn="l">
              <a:spcAft>
                <a:spcPts val="300"/>
              </a:spcAft>
            </a:pPr>
            <a:r>
              <a:rPr sz="1100" b="0">
                <a:solidFill>
                  <a:srgbClr val="5B6372"/>
                </a:solidFill>
                <a:latin typeface="Arial"/>
              </a:rPr>
              <a:t>Never pick colours at random. One meaning per colour, applied identically on every panel.</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Filters and sorting</a:t>
            </a:r>
          </a:p>
          <a:p>
            <a:pPr algn="l">
              <a:spcAft>
                <a:spcPts val="300"/>
              </a:spcAft>
            </a:pPr>
            <a:r>
              <a:rPr sz="1100" b="0">
                <a:solidFill>
                  <a:srgbClr val="5B6372"/>
                </a:solidFill>
                <a:latin typeface="Arial"/>
              </a:rPr>
              <a:t>Hardcoded, interactive, visual and date filters; natural order, multi-sort, top/bottom-N and custom sorts.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Drillthrough &amp; tooltips</a:t>
            </a:r>
          </a:p>
          <a:p>
            <a:pPr algn="l">
              <a:spcAft>
                <a:spcPts val="300"/>
              </a:spcAft>
            </a:pPr>
            <a:r>
              <a:rPr sz="1100" b="0">
                <a:solidFill>
                  <a:srgbClr val="5B6372"/>
                </a:solidFill>
                <a:latin typeface="Arial"/>
              </a:rPr>
              <a:t>Keep the surface simple, and let the detail live one click away.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Labels and legends</a:t>
            </a:r>
          </a:p>
          <a:p>
            <a:pPr algn="l">
              <a:spcAft>
                <a:spcPts val="300"/>
              </a:spcAft>
            </a:pPr>
            <a:r>
              <a:rPr sz="1100" b="0">
                <a:solidFill>
                  <a:srgbClr val="5B6372"/>
                </a:solidFill>
                <a:latin typeface="Arial"/>
              </a:rPr>
              <a:t>Every axis labelled, every unit stated. An unlabelled number is not a finding.</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Test before deploy</a:t>
            </a:r>
          </a:p>
          <a:p>
            <a:pPr algn="l">
              <a:spcAft>
                <a:spcPts val="300"/>
              </a:spcAft>
            </a:pPr>
            <a:r>
              <a:rPr sz="1100" b="0">
                <a:solidFill>
                  <a:srgbClr val="5B6372"/>
                </a:solidFill>
                <a:latin typeface="Arial"/>
              </a:rPr>
              <a:t>Check the labels, test the filters, confirm permissions and licensing, then document 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p:transition spd="fast" advClick="1">
    <p:fade/>
  </p:transition>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VALIDATE REPORTING ACCURACY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Validating Reporting Accuracy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Record count</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Does it cover every row?</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Recalculate</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Get the total a second way</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Cross-validate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Check another source</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Peer review</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 second analyst checks it</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Data audit</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Verify the whole chain</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THE TEST OF A GOOD PROCESS</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validation process that has never caught an error has not been proven. In Lab 12 you plant an error deliberately to prove yours works.</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QUALITY CHECKS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Data Validation vs Data Verification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Validation</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Verification</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Checks</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FORMAT and STRUCTURE of the data</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ACCURACY of the data</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Question asked</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Is it the right shape and type?</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Is it actually true and correct?</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Example</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date field contains a parseable date</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The date matches the source system's record</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When it runs</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On entry and on import — often automated</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On review — record counts, recalculation, peer review</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Catches</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Wrong types, invalid values, missing fields</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Wrong joins, wrong formulas, transposed figures</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F59E0B"/>
                </a:solidFill>
                <a:latin typeface="Arial"/>
              </a:rPr>
              <a:t>WHEN IT MATTERS  </a:t>
            </a:r>
            <a:r>
              <a:rPr sz="1200" b="0">
                <a:solidFill>
                  <a:srgbClr val="161B26"/>
                </a:solidFill>
                <a:latin typeface="Arial"/>
              </a:rPr>
              <a:t>Both are required. Data can be perfectly valid in format and still be completely wrong in fact.</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p:transition spd="fast" advClick="1">
    <p:fade/>
  </p:transition>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04  ·  LAB 11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Lab 11 — Choose the Right Chart: Five Questions, Five Chart Types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11</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Create effective visuals: use charts, maps, tables and design elements (Domain 4); LO4 / K3 / A5.</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Chart choice is not decoration — it is determined by the question being asked. You take ONE dataset and answer five different business questions from it, each demanding a different chart type, then build a deliberately wrong chart so you can articulate exactly why it misleads.</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Five correctly chosen charts (line, bar, pie, histogram, scatter) as PNG files, plus one annotated 'wrong chart' example.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Killercoda Ubuntu, Python 3, pandas, matplotlib</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Six PNG files exist. Each of the five correct charts answers its stated question, and your critique of the wrong chart explains that a pie destroys the sequence and makes a trend impossible to read.</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p:transition spd="fast" advClick="1">
    <p:fade/>
  </p:transition>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04  ·  LAB 11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11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Create the lab folder and install matplotlib</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1 of 10</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Q1 'How is revenue trending?' → LINE CHART,</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3 of 10</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Q4 'How are order sizes distributed?' → HIST</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6 of 10</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Now build the WRONG chart on purpose</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8 of 10</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Write the critique of 06_wrong</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10 of 10</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Five correctly chosen charts (line, bar, pie, histogram, scatter) as PNG files, plus one annotated 'wrong chart' example.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04  ·  LAB 11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11 — Choose the Right Chart: Five Questions, Five Chart Types — Procedure 1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Create the lab folder and install matplotlib.</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0"/>
              </a:spcAft>
            </a:pPr>
            <a:r>
              <a:rPr sz="1050" b="0">
                <a:solidFill>
                  <a:srgbClr val="9CDCFE"/>
                </a:solidFill>
                <a:latin typeface="Arial"/>
              </a:rPr>
              <a:t>$ mkdir -p ~/dataplus/lab11 &amp;&amp; cd ~/dataplus/lab11 &amp;&amp; pip3 install matplotlib pandas --quiet</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Create the quarterly sales dataset used for every chart in this lab.</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0"/>
              </a:spcAft>
            </a:pPr>
            <a:r>
              <a:rPr sz="640" b="0">
                <a:solidFill>
                  <a:srgbClr val="9CDCFE"/>
                </a:solidFill>
                <a:latin typeface="Arial"/>
              </a:rPr>
              <a:t>$ printf</a:t>
            </a:r>
          </a:p>
          <a:p>
            <a:pPr algn="l">
              <a:spcAft>
                <a:spcPts val="0"/>
              </a:spcAft>
            </a:pPr>
            <a:r>
              <a:rPr sz="640" b="0">
                <a:solidFill>
                  <a:srgbClr val="9CDCFE"/>
                </a:solidFill>
                <a:latin typeface="Arial"/>
              </a:rPr>
              <a:t>   'month,region,revenue,orders,unit_price\nJan,Central,118,42,12.4\nFeb,Central,131,47,12.8\nMar,Central,152,55,13.1\nJa</a:t>
            </a:r>
          </a:p>
          <a:p>
            <a:pPr algn="l">
              <a:spcAft>
                <a:spcPts val="0"/>
              </a:spcAft>
            </a:pPr>
            <a:r>
              <a:rPr sz="640" b="0">
                <a:solidFill>
                  <a:srgbClr val="9CDCFE"/>
                </a:solidFill>
                <a:latin typeface="Arial"/>
              </a:rPr>
              <a:t>   n,West,88,31,11.9\nFeb,West,95,34,12.2\nMar,West,104,38,12.0\nJan,North,142,50,13.5\nFeb,North,138,49,13.3\nMar,North,</a:t>
            </a:r>
          </a:p>
          <a:p>
            <a:pPr algn="l">
              <a:spcAft>
                <a:spcPts val="0"/>
              </a:spcAft>
            </a:pPr>
            <a:r>
              <a:rPr sz="640" b="0">
                <a:solidFill>
                  <a:srgbClr val="9CDCFE"/>
                </a:solidFill>
                <a:latin typeface="Arial"/>
              </a:rPr>
              <a:t>   161,58,13.9\n' &gt; sales.csv</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1481328" y="4023360"/>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Q1 'How is revenue trending?' → LINE CHART, because the x-axis is time.</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0"/>
              </a:spcAft>
            </a:pPr>
            <a:r>
              <a:rPr sz="640" b="0">
                <a:solidFill>
                  <a:srgbClr val="9CDCFE"/>
                </a:solidFill>
                <a:latin typeface="Arial"/>
              </a:rPr>
              <a:t>$ python3 -c "import pandas as pd,matplotlib;matplotlib.use('Agg');import matplotlib.pyplot as</a:t>
            </a:r>
          </a:p>
          <a:p>
            <a:pPr algn="l">
              <a:spcAft>
                <a:spcPts val="0"/>
              </a:spcAft>
            </a:pPr>
            <a:r>
              <a:rPr sz="640" b="0">
                <a:solidFill>
                  <a:srgbClr val="9CDCFE"/>
                </a:solidFill>
                <a:latin typeface="Arial"/>
              </a:rPr>
              <a:t>   plt;d=pd.read_csv('sales.csv');p=d.pivot_table(index='month',columns='region',values='revenue').reindex(['Jan','Feb',</a:t>
            </a:r>
          </a:p>
          <a:p>
            <a:pPr algn="l">
              <a:spcAft>
                <a:spcPts val="0"/>
              </a:spcAft>
            </a:pPr>
            <a:r>
              <a:rPr sz="640" b="0">
                <a:solidFill>
                  <a:srgbClr val="9CDCFE"/>
                </a:solidFill>
                <a:latin typeface="Arial"/>
              </a:rPr>
              <a:t>   'Mar']);p.plot(marker='o');plt.title('Revenue Trend by Region');plt.ylabel('Revenue (SGD</a:t>
            </a:r>
          </a:p>
          <a:p>
            <a:pPr algn="l">
              <a:spcAft>
                <a:spcPts val="0"/>
              </a:spcAft>
            </a:pPr>
            <a:r>
              <a:rPr sz="640" b="0">
                <a:solidFill>
                  <a:srgbClr val="9CDCFE"/>
                </a:solidFill>
                <a:latin typeface="Arial"/>
              </a:rPr>
              <a:t>   k)');plt.tight_layout();plt.savefig('01_line.png',dpi=120)"</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p:transition spd="fast" advClick="1">
    <p:fade/>
  </p:transition>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04  ·  LAB 11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11 — Choose the Right Chart: Five Questions, Five Chart Types — Procedure 2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Q2 'Which region sells most?' → BAR CHART, because you are comparing categories.</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0"/>
              </a:spcAft>
            </a:pPr>
            <a:r>
              <a:rPr sz="640" b="0">
                <a:solidFill>
                  <a:srgbClr val="9CDCFE"/>
                </a:solidFill>
                <a:latin typeface="Arial"/>
              </a:rPr>
              <a:t>$ python3 -c "import pandas as pd,matplotlib;matplotlib.use('Agg');import matplotlib.pyplot as</a:t>
            </a:r>
          </a:p>
          <a:p>
            <a:pPr algn="l">
              <a:spcAft>
                <a:spcPts val="0"/>
              </a:spcAft>
            </a:pPr>
            <a:r>
              <a:rPr sz="640" b="0">
                <a:solidFill>
                  <a:srgbClr val="9CDCFE"/>
                </a:solidFill>
                <a:latin typeface="Arial"/>
              </a:rPr>
              <a:t>   plt;d=pd.read_csv('sales.csv');d.groupby('region').revenue.sum().sort_values().plot(kind='barh',color='#1F6FEB');</a:t>
            </a:r>
          </a:p>
          <a:p>
            <a:pPr algn="l">
              <a:spcAft>
                <a:spcPts val="0"/>
              </a:spcAft>
            </a:pPr>
            <a:r>
              <a:rPr sz="640" b="0">
                <a:solidFill>
                  <a:srgbClr val="9CDCFE"/>
                </a:solidFill>
                <a:latin typeface="Arial"/>
              </a:rPr>
              <a:t>   plt.title('Total Revenue by Region');plt.xlabel('Revenue (SGD</a:t>
            </a:r>
          </a:p>
          <a:p>
            <a:pPr algn="l">
              <a:spcAft>
                <a:spcPts val="0"/>
              </a:spcAft>
            </a:pPr>
            <a:r>
              <a:rPr sz="640" b="0">
                <a:solidFill>
                  <a:srgbClr val="9CDCFE"/>
                </a:solidFill>
                <a:latin typeface="Arial"/>
              </a:rPr>
              <a:t>   k)');plt.tight_layout();plt.savefig('02_bar.png',dpi=120)"</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050" b="1">
                <a:solidFill>
                  <a:srgbClr val="161B26"/>
                </a:solidFill>
                <a:latin typeface="Arial"/>
              </a:rPr>
              <a:t>Q3 'What share does each region hold?' → PIE CHART, because it is parts of one whole (and only 3 slices).</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0"/>
              </a:spcAft>
            </a:pPr>
            <a:r>
              <a:rPr sz="640" b="0">
                <a:solidFill>
                  <a:srgbClr val="9CDCFE"/>
                </a:solidFill>
                <a:latin typeface="Arial"/>
              </a:rPr>
              <a:t>$ python3 -c "import pandas as pd,matplotlib;matplotlib.use('Agg');import matplotlib.pyplot as</a:t>
            </a:r>
          </a:p>
          <a:p>
            <a:pPr algn="l">
              <a:spcAft>
                <a:spcPts val="0"/>
              </a:spcAft>
            </a:pPr>
            <a:r>
              <a:rPr sz="640" b="0">
                <a:solidFill>
                  <a:srgbClr val="9CDCFE"/>
                </a:solidFill>
                <a:latin typeface="Arial"/>
              </a:rPr>
              <a:t>   plt;d=pd.read_csv('sales.csv');d.groupby('region').revenue.sum().plot(kind='pie',autopct='%1.1f%%',colors=['#1F6FEB',</a:t>
            </a:r>
          </a:p>
          <a:p>
            <a:pPr algn="l">
              <a:spcAft>
                <a:spcPts val="0"/>
              </a:spcAft>
            </a:pPr>
            <a:r>
              <a:rPr sz="640" b="0">
                <a:solidFill>
                  <a:srgbClr val="9CDCFE"/>
                </a:solidFill>
                <a:latin typeface="Arial"/>
              </a:rPr>
              <a:t>   '#10B981','#7C3AED']);plt.title('Revenue Share by</a:t>
            </a:r>
          </a:p>
          <a:p>
            <a:pPr algn="l">
              <a:spcAft>
                <a:spcPts val="0"/>
              </a:spcAft>
            </a:pPr>
            <a:r>
              <a:rPr sz="640" b="0">
                <a:solidFill>
                  <a:srgbClr val="9CDCFE"/>
                </a:solidFill>
                <a:latin typeface="Arial"/>
              </a:rPr>
              <a:t>   Region');plt.ylabel('');plt.tight_layout();plt.savefig('03_pie.png',dpi=120)"</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25" name="TextBox 24"/>
          <p:cNvSpPr txBox="1"/>
          <p:nvPr/>
        </p:nvSpPr>
        <p:spPr>
          <a:xfrm>
            <a:off x="1481328" y="4023360"/>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Q4 'How are order sizes distributed?' → HISTOGRAM, because you want the shape of one variable.</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0"/>
              </a:spcAft>
            </a:pPr>
            <a:r>
              <a:rPr sz="640" b="0">
                <a:solidFill>
                  <a:srgbClr val="9CDCFE"/>
                </a:solidFill>
                <a:latin typeface="Arial"/>
              </a:rPr>
              <a:t>$ python3 -c "import pandas as pd,matplotlib;matplotlib.use('Agg');import matplotlib.pyplot as</a:t>
            </a:r>
          </a:p>
          <a:p>
            <a:pPr algn="l">
              <a:spcAft>
                <a:spcPts val="0"/>
              </a:spcAft>
            </a:pPr>
            <a:r>
              <a:rPr sz="640" b="0">
                <a:solidFill>
                  <a:srgbClr val="9CDCFE"/>
                </a:solidFill>
                <a:latin typeface="Arial"/>
              </a:rPr>
              <a:t>   plt;d=pd.read_csv('sales.csv');d.orders.plot(kind='hist',bins=5,color='#F59E0B',edgecolor='white');</a:t>
            </a:r>
          </a:p>
          <a:p>
            <a:pPr algn="l">
              <a:spcAft>
                <a:spcPts val="0"/>
              </a:spcAft>
            </a:pPr>
            <a:r>
              <a:rPr sz="640" b="0">
                <a:solidFill>
                  <a:srgbClr val="9CDCFE"/>
                </a:solidFill>
                <a:latin typeface="Arial"/>
              </a:rPr>
              <a:t>   plt.title('Distribution of Order Counts');plt.xlabel('Orders per</a:t>
            </a:r>
          </a:p>
          <a:p>
            <a:pPr algn="l">
              <a:spcAft>
                <a:spcPts val="0"/>
              </a:spcAft>
            </a:pPr>
            <a:r>
              <a:rPr sz="640" b="0">
                <a:solidFill>
                  <a:srgbClr val="9CDCFE"/>
                </a:solidFill>
                <a:latin typeface="Arial"/>
              </a:rPr>
              <a:t>   region-month');plt.tight_layout();plt.savefig('04_hist.png',dpi=120)"</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p:transition spd="fast" advClick="1">
    <p:fade/>
  </p:transition>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04  ·  LAB 11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11 — Choose the Right Chart: Five Questions, Five Chart Types — Procedure 3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Q5 'Do more orders mean higher revenue?' → SCATTER PLOT, because you are testing a relationship.</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0"/>
              </a:spcAft>
            </a:pPr>
            <a:r>
              <a:rPr sz="780" b="0">
                <a:solidFill>
                  <a:srgbClr val="9CDCFE"/>
                </a:solidFill>
                <a:latin typeface="Arial"/>
              </a:rPr>
              <a:t>$ python3 -c "import pandas as pd,matplotlib;matplotlib.use('Agg');import matplotlib.pyplot as</a:t>
            </a:r>
          </a:p>
          <a:p>
            <a:pPr algn="l">
              <a:spcAft>
                <a:spcPts val="0"/>
              </a:spcAft>
            </a:pPr>
            <a:r>
              <a:rPr sz="780" b="0">
                <a:solidFill>
                  <a:srgbClr val="9CDCFE"/>
                </a:solidFill>
                <a:latin typeface="Arial"/>
              </a:rPr>
              <a:t>   plt;d=pd.read_csv('sales.csv');plt.scatter(d.orders,d.revenue,c='#7C3AED',s=80);plt.title('Orders vs</a:t>
            </a:r>
          </a:p>
          <a:p>
            <a:pPr algn="l">
              <a:spcAft>
                <a:spcPts val="0"/>
              </a:spcAft>
            </a:pPr>
            <a:r>
              <a:rPr sz="780" b="0">
                <a:solidFill>
                  <a:srgbClr val="9CDCFE"/>
                </a:solidFill>
                <a:latin typeface="Arial"/>
              </a:rPr>
              <a:t>   Revenue');plt.xlabel('Orders');plt.ylabel('Revenue (SGD k)');plt.tight_layout();plt.savefig('05_scatter.png',dpi=120)"</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Now build the WRONG chart on purpose — a pie chart of a time series, which destroys the time ordering.</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0"/>
              </a:spcAft>
            </a:pPr>
            <a:r>
              <a:rPr sz="780" b="0">
                <a:solidFill>
                  <a:srgbClr val="9CDCFE"/>
                </a:solidFill>
                <a:latin typeface="Arial"/>
              </a:rPr>
              <a:t>$ python3 -c "import pandas as pd,matplotlib;matplotlib.use('Agg');import matplotlib.pyplot as</a:t>
            </a:r>
          </a:p>
          <a:p>
            <a:pPr algn="l">
              <a:spcAft>
                <a:spcPts val="0"/>
              </a:spcAft>
            </a:pPr>
            <a:r>
              <a:rPr sz="780" b="0">
                <a:solidFill>
                  <a:srgbClr val="9CDCFE"/>
                </a:solidFill>
                <a:latin typeface="Arial"/>
              </a:rPr>
              <a:t>   plt;d=pd.read_csv('sales.csv');d.groupby('month').revenue.sum().plot(kind='pie',autopct='%1.1f%%');plt.title('WRONG:</a:t>
            </a:r>
          </a:p>
          <a:p>
            <a:pPr algn="l">
              <a:spcAft>
                <a:spcPts val="0"/>
              </a:spcAft>
            </a:pPr>
            <a:r>
              <a:rPr sz="780" b="0">
                <a:solidFill>
                  <a:srgbClr val="9CDCFE"/>
                </a:solidFill>
                <a:latin typeface="Arial"/>
              </a:rPr>
              <a:t>   revenue by month as a pie');plt.ylabel('');plt.tight_layout();plt.savefig('06_wrong.png',dpi=120)"</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25" name="TextBox 24"/>
          <p:cNvSpPr txBox="1"/>
          <p:nvPr/>
        </p:nvSpPr>
        <p:spPr>
          <a:xfrm>
            <a:off x="1481328" y="4023360"/>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List the generated files and write one line per chart stating the question it answers.</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0"/>
              </a:spcAft>
            </a:pPr>
            <a:r>
              <a:rPr sz="1050" b="0">
                <a:solidFill>
                  <a:srgbClr val="9CDCFE"/>
                </a:solidFill>
                <a:latin typeface="Arial"/>
              </a:rPr>
              <a:t>$ ls -1 *.png</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p:transition spd="fast" advClick="1">
    <p:fade/>
  </p:transition>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04  ·  LAB 11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000" b="1">
                <a:solidFill>
                  <a:srgbClr val="161B26"/>
                </a:solidFill>
                <a:latin typeface="Arial"/>
              </a:rPr>
              <a:t>Lab 11 — Choose the Right Chart: Five Questions, Five Chart Types — Procedure 4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11" name="TextBox 10"/>
          <p:cNvSpPr txBox="1"/>
          <p:nvPr/>
        </p:nvSpPr>
        <p:spPr>
          <a:xfrm>
            <a:off x="1481328" y="1755648"/>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Write the critique of 06_wrong.png: what does a pie chart hide that a line chart shows?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p:transition spd="fast" advClick="1">
    <p:fade/>
  </p:transition>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04  ·  LAB 11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11 — Verify Your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Six PNG files exist. Each of the five correct charts answers its stated question, and your critique of the wrong chart explains that a pie destroys the sequence and makes a trend impossible to read.</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No display / tkinter error</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You must set matplotlib.use('Agg') BEFORE importing pyplot — headless terminals have no display.</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PNG is blank</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You saved after calling plt.show() or a new figure. Call plt.savefig() before any clf/show, and use plt.close() between charts.</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Months are out of order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Alphabetical sorting puts Feb first. The .reindex(['Jan','Feb','Mar']) call is what fixes it.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p:transition spd="fast" advClick="1">
    <p:fade/>
  </p:transition>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04  ·  LAB 11</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11 — Expected Output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1-chart-selection.png"/>
          <p:cNvPicPr>
            <a:picLocks noChangeAspect="1"/>
          </p:cNvPicPr>
          <p:nvPr/>
        </p:nvPicPr>
        <p:blipFill>
          <a:blip r:embed="rId2"/>
          <a:stretch>
            <a:fillRect/>
          </a:stretch>
        </p:blipFill>
        <p:spPr>
          <a:xfrm>
            <a:off x="2753045" y="1783080"/>
            <a:ext cx="6682862" cy="3429000"/>
          </a:xfrm>
          <a:prstGeom prst="rect">
            <a:avLst/>
          </a:prstGeom>
        </p:spPr>
      </p:pic>
      <p:sp>
        <p:nvSpPr>
          <p:cNvPr id="8" name="Rectangle 7"/>
          <p:cNvSpPr/>
          <p:nvPr/>
        </p:nvSpPr>
        <p:spPr>
          <a:xfrm>
            <a:off x="777240" y="54406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440680"/>
            <a:ext cx="100584"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532120"/>
            <a:ext cx="10149840" cy="274320"/>
          </a:xfrm>
          <a:prstGeom prst="rect">
            <a:avLst/>
          </a:prstGeom>
          <a:noFill/>
        </p:spPr>
        <p:txBody>
          <a:bodyPr wrap="square" anchor="t">
            <a:spAutoFit/>
          </a:bodyPr>
          <a:lstStyle/>
          <a:p>
            <a:pPr algn="l">
              <a:spcAft>
                <a:spcPts val="400"/>
              </a:spcAft>
            </a:pPr>
            <a:r>
              <a:rPr sz="1100" b="1">
                <a:solidFill>
                  <a:srgbClr val="10B981"/>
                </a:solidFill>
                <a:latin typeface="Arial"/>
              </a:rPr>
              <a:t>WHAT YOU SHOULD SEE</a:t>
            </a:r>
          </a:p>
        </p:txBody>
      </p:sp>
      <p:sp>
        <p:nvSpPr>
          <p:cNvPr id="11" name="TextBox 10"/>
          <p:cNvSpPr txBox="1"/>
          <p:nvPr/>
        </p:nvSpPr>
        <p:spPr>
          <a:xfrm>
            <a:off x="1051560" y="5824728"/>
            <a:ext cx="10149840" cy="475488"/>
          </a:xfrm>
          <a:prstGeom prst="rect">
            <a:avLst/>
          </a:prstGeom>
          <a:noFill/>
        </p:spPr>
        <p:txBody>
          <a:bodyPr wrap="square" anchor="t">
            <a:spAutoFit/>
          </a:bodyPr>
          <a:lstStyle/>
          <a:p>
            <a:pPr algn="l">
              <a:spcAft>
                <a:spcPts val="400"/>
              </a:spcAft>
            </a:pPr>
            <a:r>
              <a:rPr sz="1150" b="0">
                <a:solidFill>
                  <a:srgbClr val="161B26"/>
                </a:solidFill>
                <a:latin typeface="Arial"/>
              </a:rPr>
              <a:t>This is what your own run should produce. Six PNG files exist. Each of the five correct charts answers its stated question, and your critique of the wrong chart explains that a pie destroys the sequence and makes a trend impossible to read.</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p:transition spd="fast" advClick="1">
    <p:fade/>
  </p:transition>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04  ·  LAB 12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Lab 12 — Build a KPI Dashboard and Validate Its Accuracy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12</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Deliver reports: dashboards and summaries; validate reporting accuracy (Domain 4); LO4 / K3 / A5.</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assemble a four-panel executive dashboard from the integrated dataset, then run the validation checks the exam requires — record-count reconciliation, recalculation and cross-validation — and deliberately plant one error so you can prove your validation process actually catches it.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four-panel KPI dashboard PNG plus a signed validation checklist that catches a planted reporting error.</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Killercoda Ubuntu, Python 3, pandas, matplotlib</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dashboard.png shows four panels. Total revenue validates at 1129 by two independent methods. After the planted error the total jumps to 2578 and North shows 483% of target — an impossible figure your validation flags immediately.</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p:transition spd="fast" advClick="1">
    <p:fade/>
  </p:transition>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04  ·  LAB 12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12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Create the lab folder and the source data fo</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1 of 10</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Build the four-panel dashboard in one script</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3 of 10</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VALIDATION 3</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6 of 10</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Re-run validation 2 and 3 and confirm your c</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8 of 10</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Sign off the validation checklist: record co</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10 of 10</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four-panel KPI dashboard PNG plus a signed validation checklist that catches a planted reporting error.</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04  ·  LAB 12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12 — Build a KPI Dashboard and Validate Its Accuracy — Procedure 1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Create the lab folder and the source data for the dashboard.</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0"/>
              </a:spcAft>
            </a:pPr>
            <a:r>
              <a:rPr sz="640" b="0">
                <a:solidFill>
                  <a:srgbClr val="9CDCFE"/>
                </a:solidFill>
                <a:latin typeface="Arial"/>
              </a:rPr>
              <a:t>$ mkdir -p ~/dataplus/lab12 &amp;&amp; cd ~/dataplus/lab12 &amp;&amp; printf</a:t>
            </a:r>
          </a:p>
          <a:p>
            <a:pPr algn="l">
              <a:spcAft>
                <a:spcPts val="0"/>
              </a:spcAft>
            </a:pPr>
            <a:r>
              <a:rPr sz="640" b="0">
                <a:solidFill>
                  <a:srgbClr val="9CDCFE"/>
                </a:solidFill>
                <a:latin typeface="Arial"/>
              </a:rPr>
              <a:t>   'month,region,revenue,orders,target\nJan,Central,118,42,120\nFeb,Central,131,47,120\nMar,Central,152,55,120\nJan,West,</a:t>
            </a:r>
          </a:p>
          <a:p>
            <a:pPr algn="l">
              <a:spcAft>
                <a:spcPts val="0"/>
              </a:spcAft>
            </a:pPr>
            <a:r>
              <a:rPr sz="640" b="0">
                <a:solidFill>
                  <a:srgbClr val="9CDCFE"/>
                </a:solidFill>
                <a:latin typeface="Arial"/>
              </a:rPr>
              <a:t>   88,31,100\nFeb,West,95,34,100\nMar,West,104,38,100\nJan,North,142,50,130\nFeb,North,138,49,130\nMar,North,161,58,</a:t>
            </a:r>
          </a:p>
          <a:p>
            <a:pPr algn="l">
              <a:spcAft>
                <a:spcPts val="0"/>
              </a:spcAft>
            </a:pPr>
            <a:r>
              <a:rPr sz="640" b="0">
                <a:solidFill>
                  <a:srgbClr val="9CDCFE"/>
                </a:solidFill>
                <a:latin typeface="Arial"/>
              </a:rPr>
              <a:t>   130\n' &gt; kpi.csv</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Compute the headline KPIs first — you must know the true numbers BEFORE you draw anything.</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0"/>
              </a:spcAft>
            </a:pPr>
            <a:r>
              <a:rPr sz="640" b="0">
                <a:solidFill>
                  <a:srgbClr val="9CDCFE"/>
                </a:solidFill>
                <a:latin typeface="Arial"/>
              </a:rPr>
              <a:t>$ python3 -c "import pandas as pd;</a:t>
            </a:r>
          </a:p>
          <a:p>
            <a:pPr algn="l">
              <a:spcAft>
                <a:spcPts val="0"/>
              </a:spcAft>
            </a:pPr>
            <a:r>
              <a:rPr sz="640" b="0">
                <a:solidFill>
                  <a:srgbClr val="9CDCFE"/>
                </a:solidFill>
                <a:latin typeface="Arial"/>
              </a:rPr>
              <a:t>   d=pd.read_csv('kpi.csv');</a:t>
            </a:r>
          </a:p>
          <a:p>
            <a:pPr algn="l">
              <a:spcAft>
                <a:spcPts val="0"/>
              </a:spcAft>
            </a:pPr>
            <a:r>
              <a:rPr sz="640" b="0">
                <a:solidFill>
                  <a:srgbClr val="9CDCFE"/>
                </a:solidFill>
                <a:latin typeface="Arial"/>
              </a:rPr>
              <a:t>   print('total revenue',d.revenue.sum());</a:t>
            </a:r>
          </a:p>
          <a:p>
            <a:pPr algn="l">
              <a:spcAft>
                <a:spcPts val="0"/>
              </a:spcAft>
            </a:pPr>
            <a:r>
              <a:rPr sz="640" b="0">
                <a:solidFill>
                  <a:srgbClr val="9CDCFE"/>
                </a:solidFill>
                <a:latin typeface="Arial"/>
              </a:rPr>
              <a:t>   print('total orders',d.orders.sum());</a:t>
            </a:r>
          </a:p>
          <a:p>
            <a:pPr algn="l">
              <a:spcAft>
                <a:spcPts val="0"/>
              </a:spcAft>
            </a:pPr>
            <a:r>
              <a:rPr sz="640" b="0">
                <a:solidFill>
                  <a:srgbClr val="9CDCFE"/>
                </a:solidFill>
                <a:latin typeface="Arial"/>
              </a:rPr>
              <a:t>   print('avg order value',round(d.revenue.sum()*1000/d.orders.sum(),2));</a:t>
            </a:r>
          </a:p>
          <a:p>
            <a:pPr algn="l">
              <a:spcAft>
                <a:spcPts val="0"/>
              </a:spcAft>
            </a:pPr>
            <a:r>
              <a:rPr sz="640" b="0">
                <a:solidFill>
                  <a:srgbClr val="9CDCFE"/>
                </a:solidFill>
                <a:latin typeface="Arial"/>
              </a:rPr>
              <a:t>   print('vs target',round(d.revenue.sum()*100/d.target.sum(),1),'%')"</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1481328" y="4023360"/>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Build the four-panel dashboard in one script.</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0"/>
              </a:spcAft>
            </a:pPr>
            <a:r>
              <a:rPr sz="1050" b="0">
                <a:solidFill>
                  <a:srgbClr val="9CDCFE"/>
                </a:solidFill>
                <a:latin typeface="Arial"/>
              </a:rPr>
              <a:t>$ cat &gt; dashboard.py &lt;&lt;'EOF'   # full script in the Learner Guide / lab README</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p:transition spd="fast" advClick="1">
    <p:fade/>
  </p:transition>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04  ·  LAB 12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12 — Build a KPI Dashboard and Validate Its Accuracy — Procedure 2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VALIDATION 1 — record count. Does the dashboard cover every source row?</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0"/>
              </a:spcAft>
            </a:pPr>
            <a:r>
              <a:rPr sz="640" b="0">
                <a:solidFill>
                  <a:srgbClr val="9CDCFE"/>
                </a:solidFill>
                <a:latin typeface="Arial"/>
              </a:rPr>
              <a:t>$ python3 -c "import pandas as pd;</a:t>
            </a:r>
          </a:p>
          <a:p>
            <a:pPr algn="l">
              <a:spcAft>
                <a:spcPts val="0"/>
              </a:spcAft>
            </a:pPr>
            <a:r>
              <a:rPr sz="640" b="0">
                <a:solidFill>
                  <a:srgbClr val="9CDCFE"/>
                </a:solidFill>
                <a:latin typeface="Arial"/>
              </a:rPr>
              <a:t>   d=pd.read_csv('kpi.csv');</a:t>
            </a:r>
          </a:p>
          <a:p>
            <a:pPr algn="l">
              <a:spcAft>
                <a:spcPts val="0"/>
              </a:spcAft>
            </a:pPr>
            <a:r>
              <a:rPr sz="640" b="0">
                <a:solidFill>
                  <a:srgbClr val="9CDCFE"/>
                </a:solidFill>
                <a:latin typeface="Arial"/>
              </a:rPr>
              <a:t>   print('source rows',len(d));</a:t>
            </a:r>
          </a:p>
          <a:p>
            <a:pPr algn="l">
              <a:spcAft>
                <a:spcPts val="0"/>
              </a:spcAft>
            </a:pPr>
            <a:r>
              <a:rPr sz="640" b="0">
                <a:solidFill>
                  <a:srgbClr val="9CDCFE"/>
                </a:solidFill>
                <a:latin typeface="Arial"/>
              </a:rPr>
              <a:t>   print('rows charted',d.groupby(['month','region']).ngroups)"</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VALIDATION 2 — recalculate the headline total a second, independent way.</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0"/>
              </a:spcAft>
            </a:pPr>
            <a:r>
              <a:rPr sz="640" b="0">
                <a:solidFill>
                  <a:srgbClr val="9CDCFE"/>
                </a:solidFill>
                <a:latin typeface="Arial"/>
              </a:rPr>
              <a:t>$ python3 -c "import pandas as pd;</a:t>
            </a:r>
          </a:p>
          <a:p>
            <a:pPr algn="l">
              <a:spcAft>
                <a:spcPts val="0"/>
              </a:spcAft>
            </a:pPr>
            <a:r>
              <a:rPr sz="640" b="0">
                <a:solidFill>
                  <a:srgbClr val="9CDCFE"/>
                </a:solidFill>
                <a:latin typeface="Arial"/>
              </a:rPr>
              <a:t>   d=pd.read_csv('kpi.csv');</a:t>
            </a:r>
          </a:p>
          <a:p>
            <a:pPr algn="l">
              <a:spcAft>
                <a:spcPts val="0"/>
              </a:spcAft>
            </a:pPr>
            <a:r>
              <a:rPr sz="640" b="0">
                <a:solidFill>
                  <a:srgbClr val="9CDCFE"/>
                </a:solidFill>
                <a:latin typeface="Arial"/>
              </a:rPr>
              <a:t>   a=d.revenue.sum();</a:t>
            </a:r>
          </a:p>
          <a:p>
            <a:pPr algn="l">
              <a:spcAft>
                <a:spcPts val="0"/>
              </a:spcAft>
            </a:pPr>
            <a:r>
              <a:rPr sz="640" b="0">
                <a:solidFill>
                  <a:srgbClr val="9CDCFE"/>
                </a:solidFill>
                <a:latin typeface="Arial"/>
              </a:rPr>
              <a:t>   b=sum(d.groupby('region').revenue.sum());</a:t>
            </a:r>
          </a:p>
          <a:p>
            <a:pPr algn="l">
              <a:spcAft>
                <a:spcPts val="0"/>
              </a:spcAft>
            </a:pPr>
            <a:r>
              <a:rPr sz="640" b="0">
                <a:solidFill>
                  <a:srgbClr val="9CDCFE"/>
                </a:solidFill>
                <a:latin typeface="Arial"/>
              </a:rPr>
              <a:t>   print('method A',a,'method B',b,'MATCH' if a==b else 'MISMATCH')"</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25" name="TextBox 24"/>
          <p:cNvSpPr txBox="1"/>
          <p:nvPr/>
        </p:nvSpPr>
        <p:spPr>
          <a:xfrm>
            <a:off x="1481328" y="4023360"/>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VALIDATION 3 — cross-validate the % of target figure against a hand calculation.</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0"/>
              </a:spcAft>
            </a:pPr>
            <a:r>
              <a:rPr sz="780" b="0">
                <a:solidFill>
                  <a:srgbClr val="9CDCFE"/>
                </a:solidFill>
                <a:latin typeface="Arial"/>
              </a:rPr>
              <a:t>$ python3 -c "import pandas as pd;</a:t>
            </a:r>
          </a:p>
          <a:p>
            <a:pPr algn="l">
              <a:spcAft>
                <a:spcPts val="0"/>
              </a:spcAft>
            </a:pPr>
            <a:r>
              <a:rPr sz="780" b="0">
                <a:solidFill>
                  <a:srgbClr val="9CDCFE"/>
                </a:solidFill>
                <a:latin typeface="Arial"/>
              </a:rPr>
              <a:t>   d=pd.read_csv('kpi.csv');</a:t>
            </a:r>
          </a:p>
          <a:p>
            <a:pPr algn="l">
              <a:spcAft>
                <a:spcPts val="0"/>
              </a:spcAft>
            </a:pPr>
            <a:r>
              <a:rPr sz="780" b="0">
                <a:solidFill>
                  <a:srgbClr val="9CDCFE"/>
                </a:solidFill>
                <a:latin typeface="Arial"/>
              </a:rPr>
              <a:t>   print('Central', round(d[d.region=='Central'].revenue.sum()/d[d.region=='Central'].target.sum()*100,1),'% expected 111.9')"</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p:transition spd="fast" advClick="1">
    <p:fade/>
  </p:transition>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04  ·  LAB 12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12 — Build a KPI Dashboard and Validate Its Accuracy — Procedure 3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Now PLANT AN ERROR — corrupt one revenue value and rebuild the dashboard.</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0"/>
              </a:spcAft>
            </a:pPr>
            <a:r>
              <a:rPr sz="1050" b="0">
                <a:solidFill>
                  <a:srgbClr val="9CDCFE"/>
                </a:solidFill>
                <a:latin typeface="Arial"/>
              </a:rPr>
              <a:t>$ sed -i 's/Mar,North,161/Mar,North,1610/' kpi.csv &amp;&amp; python3 dashboard.py</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Re-run validation 2 and 3 and confirm your checks CATCH the planted error.</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0"/>
              </a:spcAft>
            </a:pPr>
            <a:r>
              <a:rPr sz="640" b="0">
                <a:solidFill>
                  <a:srgbClr val="9CDCFE"/>
                </a:solidFill>
                <a:latin typeface="Arial"/>
              </a:rPr>
              <a:t>$ python3 -c "import pandas as pd;</a:t>
            </a:r>
          </a:p>
          <a:p>
            <a:pPr algn="l">
              <a:spcAft>
                <a:spcPts val="0"/>
              </a:spcAft>
            </a:pPr>
            <a:r>
              <a:rPr sz="640" b="0">
                <a:solidFill>
                  <a:srgbClr val="9CDCFE"/>
                </a:solidFill>
                <a:latin typeface="Arial"/>
              </a:rPr>
              <a:t>   d=pd.read_csv('kpi.csv');</a:t>
            </a:r>
          </a:p>
          <a:p>
            <a:pPr algn="l">
              <a:spcAft>
                <a:spcPts val="0"/>
              </a:spcAft>
            </a:pPr>
            <a:r>
              <a:rPr sz="640" b="0">
                <a:solidFill>
                  <a:srgbClr val="9CDCFE"/>
                </a:solidFill>
                <a:latin typeface="Arial"/>
              </a:rPr>
              <a:t>   print('total now',d.revenue.sum(),'(was 1129)');</a:t>
            </a:r>
          </a:p>
          <a:p>
            <a:pPr algn="l">
              <a:spcAft>
                <a:spcPts val="0"/>
              </a:spcAft>
            </a:pPr>
            <a:r>
              <a:rPr sz="640" b="0">
                <a:solidFill>
                  <a:srgbClr val="9CDCFE"/>
                </a:solidFill>
                <a:latin typeface="Arial"/>
              </a:rPr>
              <a:t>   print('North % of target',round(d[d.region=='North'].revenue.sum()/d[d.region=='North'].target.sum()*100,1),'%')"</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9</a:t>
            </a:r>
          </a:p>
        </p:txBody>
      </p:sp>
      <p:sp>
        <p:nvSpPr>
          <p:cNvPr id="25" name="TextBox 24"/>
          <p:cNvSpPr txBox="1"/>
          <p:nvPr/>
        </p:nvSpPr>
        <p:spPr>
          <a:xfrm>
            <a:off x="1481328" y="4023360"/>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Restore the correct value and confirm the dashboard returns to its validated state.</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0"/>
              </a:spcAft>
            </a:pPr>
            <a:r>
              <a:rPr sz="900" b="0">
                <a:solidFill>
                  <a:srgbClr val="9CDCFE"/>
                </a:solidFill>
                <a:latin typeface="Arial"/>
              </a:rPr>
              <a:t>$ sed -i 's/Mar,North,1610/Mar,North,161/' kpi.csv &amp;&amp; python3 dashboard.py &amp;&amp; python3 -c "import pandas as pd;</a:t>
            </a:r>
          </a:p>
          <a:p>
            <a:pPr algn="l">
              <a:spcAft>
                <a:spcPts val="0"/>
              </a:spcAft>
            </a:pPr>
            <a:r>
              <a:rPr sz="900" b="0">
                <a:solidFill>
                  <a:srgbClr val="9CDCFE"/>
                </a:solidFill>
                <a:latin typeface="Arial"/>
              </a:rPr>
              <a:t>   print('total',pd.read_csv('kpi.csv').revenue.sum())"</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p:transition spd="fast" advClick="1">
    <p:fade/>
  </p:transition>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04  ·  LAB 12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12 — Build a KPI Dashboard and Validate Its Accuracy — Procedure 4 of 4</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10</a:t>
            </a:r>
          </a:p>
        </p:txBody>
      </p:sp>
      <p:sp>
        <p:nvSpPr>
          <p:cNvPr id="11" name="TextBox 10"/>
          <p:cNvSpPr txBox="1"/>
          <p:nvPr/>
        </p:nvSpPr>
        <p:spPr>
          <a:xfrm>
            <a:off x="1481328" y="1755648"/>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Sign off the validation checklist: record count, recalculation, cross-validation, and visual review.</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p:transition spd="fast" advClick="1">
    <p:fade/>
  </p:transition>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04  ·  LAB 12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12 — Verify Your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dashboard.png shows four panels. Total revenue validates at 1129 by two independent methods. After the planted error the total jumps to 2578 and North shows 483% of target — an impossible figure your validation flags immediately.</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Panels overlap or the title is cut</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Use plt.tight_layout(rect=[0,0,1,0.95]) so the suptitle gets its own space.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sed did not change anything</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Check the exact text with grep 'Mar,North' kpi.csv — sed needs a byte-exact match.</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 of target axis looks wrong</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Confirm you summed target per region (3 months × the monthly target), not just one month's value.</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p:transition spd="fast" advClick="1">
    <p:fade/>
  </p:transition>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04  ·  LAB 12</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12 — Expected Output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ab12-dashboard.png"/>
          <p:cNvPicPr>
            <a:picLocks noChangeAspect="1"/>
          </p:cNvPicPr>
          <p:nvPr/>
        </p:nvPicPr>
        <p:blipFill>
          <a:blip r:embed="rId2"/>
          <a:stretch>
            <a:fillRect/>
          </a:stretch>
        </p:blipFill>
        <p:spPr>
          <a:xfrm>
            <a:off x="2973583" y="1783080"/>
            <a:ext cx="6241786" cy="3428999"/>
          </a:xfrm>
          <a:prstGeom prst="rect">
            <a:avLst/>
          </a:prstGeom>
        </p:spPr>
      </p:pic>
      <p:sp>
        <p:nvSpPr>
          <p:cNvPr id="8" name="Rectangle 7"/>
          <p:cNvSpPr/>
          <p:nvPr/>
        </p:nvSpPr>
        <p:spPr>
          <a:xfrm>
            <a:off x="777240" y="54406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5440680"/>
            <a:ext cx="100584"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5532120"/>
            <a:ext cx="10149840" cy="274320"/>
          </a:xfrm>
          <a:prstGeom prst="rect">
            <a:avLst/>
          </a:prstGeom>
          <a:noFill/>
        </p:spPr>
        <p:txBody>
          <a:bodyPr wrap="square" anchor="t">
            <a:spAutoFit/>
          </a:bodyPr>
          <a:lstStyle/>
          <a:p>
            <a:pPr algn="l">
              <a:spcAft>
                <a:spcPts val="400"/>
              </a:spcAft>
            </a:pPr>
            <a:r>
              <a:rPr sz="1100" b="1">
                <a:solidFill>
                  <a:srgbClr val="10B981"/>
                </a:solidFill>
                <a:latin typeface="Arial"/>
              </a:rPr>
              <a:t>WHAT YOU SHOULD SEE</a:t>
            </a:r>
          </a:p>
        </p:txBody>
      </p:sp>
      <p:sp>
        <p:nvSpPr>
          <p:cNvPr id="11" name="TextBox 10"/>
          <p:cNvSpPr txBox="1"/>
          <p:nvPr/>
        </p:nvSpPr>
        <p:spPr>
          <a:xfrm>
            <a:off x="1051560" y="5824728"/>
            <a:ext cx="10149840" cy="475488"/>
          </a:xfrm>
          <a:prstGeom prst="rect">
            <a:avLst/>
          </a:prstGeom>
          <a:noFill/>
        </p:spPr>
        <p:txBody>
          <a:bodyPr wrap="square" anchor="t">
            <a:spAutoFit/>
          </a:bodyPr>
          <a:lstStyle/>
          <a:p>
            <a:pPr algn="l">
              <a:spcAft>
                <a:spcPts val="400"/>
              </a:spcAft>
            </a:pPr>
            <a:r>
              <a:rPr sz="1150" b="0">
                <a:solidFill>
                  <a:srgbClr val="161B26"/>
                </a:solidFill>
                <a:latin typeface="Arial"/>
              </a:rPr>
              <a:t>This is what your own run should produce. dashboard.png shows four panels. Total revenue validates at 1129 by two independent methods.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p:transition spd="fast" advClick="1">
    <p:fade/>
  </p:transition>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04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Visualization and Reporting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71907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71907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Question first</a:t>
            </a:r>
          </a:p>
          <a:p>
            <a:pPr algn="l">
              <a:spcAft>
                <a:spcPts val="300"/>
              </a:spcAft>
            </a:pPr>
            <a:r>
              <a:rPr sz="1000" b="0">
                <a:solidFill>
                  <a:srgbClr val="5B6372"/>
                </a:solidFill>
                <a:latin typeface="Arial"/>
              </a:rPr>
              <a:t>The business question determines the chart: composition, comparison, distribution, relationship or trend.</a:t>
            </a:r>
          </a:p>
        </p:txBody>
      </p:sp>
      <p:sp>
        <p:nvSpPr>
          <p:cNvPr id="12" name="Rectangle 11"/>
          <p:cNvSpPr/>
          <p:nvPr/>
        </p:nvSpPr>
        <p:spPr>
          <a:xfrm>
            <a:off x="777240" y="244144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441448"/>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37744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37744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56946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Chart selection</a:t>
            </a:r>
          </a:p>
          <a:p>
            <a:pPr algn="l">
              <a:spcAft>
                <a:spcPts val="300"/>
              </a:spcAft>
            </a:pPr>
            <a:r>
              <a:rPr sz="1000" b="0">
                <a:solidFill>
                  <a:srgbClr val="5B6372"/>
                </a:solidFill>
                <a:latin typeface="Arial"/>
              </a:rPr>
              <a:t>Line for time, bar for categories, pie for a few parts of a whole, histogram for distribution, scatter for relationship.</a:t>
            </a:r>
          </a:p>
        </p:txBody>
      </p:sp>
      <p:sp>
        <p:nvSpPr>
          <p:cNvPr id="17" name="Rectangle 16"/>
          <p:cNvSpPr/>
          <p:nvPr/>
        </p:nvSpPr>
        <p:spPr>
          <a:xfrm>
            <a:off x="777240" y="3099816"/>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099816"/>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03580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0358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227832"/>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Maps &amp; magnitude</a:t>
            </a:r>
          </a:p>
          <a:p>
            <a:pPr algn="l">
              <a:spcAft>
                <a:spcPts val="300"/>
              </a:spcAft>
            </a:pPr>
            <a:r>
              <a:rPr sz="1000" b="0">
                <a:solidFill>
                  <a:srgbClr val="5B6372"/>
                </a:solidFill>
                <a:latin typeface="Arial"/>
              </a:rPr>
              <a:t>Maps come as dot, filled (choropleth) or layered; heat maps and tree maps encode magnitude and hierarchy.</a:t>
            </a:r>
          </a:p>
        </p:txBody>
      </p:sp>
      <p:sp>
        <p:nvSpPr>
          <p:cNvPr id="22" name="Rectangle 21"/>
          <p:cNvSpPr/>
          <p:nvPr/>
        </p:nvSpPr>
        <p:spPr>
          <a:xfrm>
            <a:off x="777240" y="3758184"/>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3758184"/>
            <a:ext cx="91440" cy="42062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3886200"/>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Audience &amp; sharing</a:t>
            </a:r>
          </a:p>
          <a:p>
            <a:pPr algn="l">
              <a:spcAft>
                <a:spcPts val="300"/>
              </a:spcAft>
            </a:pPr>
            <a:r>
              <a:rPr sz="1000" b="0">
                <a:solidFill>
                  <a:srgbClr val="5B6372"/>
                </a:solidFill>
                <a:latin typeface="Arial"/>
              </a:rPr>
              <a:t>Agree the audience and the distribution list before you build — they set the detail level and what may be shared.</a:t>
            </a:r>
          </a:p>
        </p:txBody>
      </p:sp>
      <p:sp>
        <p:nvSpPr>
          <p:cNvPr id="27" name="Rectangle 26"/>
          <p:cNvSpPr/>
          <p:nvPr/>
        </p:nvSpPr>
        <p:spPr>
          <a:xfrm>
            <a:off x="777240" y="4416552"/>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416552"/>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35254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35254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544568"/>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Report types</a:t>
            </a:r>
          </a:p>
          <a:p>
            <a:pPr algn="l">
              <a:spcAft>
                <a:spcPts val="300"/>
              </a:spcAft>
            </a:pPr>
            <a:r>
              <a:rPr sz="1000" b="0">
                <a:solidFill>
                  <a:srgbClr val="5B6372"/>
                </a:solidFill>
                <a:latin typeface="Arial"/>
              </a:rPr>
              <a:t>Reports are static, dynamic, operational, compliance, ad hoc or self-service, and each carries standard elements.</a:t>
            </a:r>
          </a:p>
        </p:txBody>
      </p:sp>
      <p:sp>
        <p:nvSpPr>
          <p:cNvPr id="32" name="Rectangle 31"/>
          <p:cNvSpPr/>
          <p:nvPr/>
        </p:nvSpPr>
        <p:spPr>
          <a:xfrm>
            <a:off x="777240" y="507492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074920"/>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272" y="501091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 y="501091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1764792" y="520293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Dashboard design</a:t>
            </a:r>
          </a:p>
          <a:p>
            <a:pPr algn="l">
              <a:spcAft>
                <a:spcPts val="300"/>
              </a:spcAft>
            </a:pPr>
            <a:r>
              <a:rPr sz="1000" b="0">
                <a:solidFill>
                  <a:srgbClr val="5B6372"/>
                </a:solidFill>
                <a:latin typeface="Arial"/>
              </a:rPr>
              <a:t>A good dashboard has one purpose, consistent colour, labelled axes and detail hidden behind drillthrough.</a:t>
            </a:r>
          </a:p>
        </p:txBody>
      </p:sp>
      <p:sp>
        <p:nvSpPr>
          <p:cNvPr id="37" name="Rectangle 36"/>
          <p:cNvSpPr/>
          <p:nvPr/>
        </p:nvSpPr>
        <p:spPr>
          <a:xfrm>
            <a:off x="777240" y="573328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733288"/>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66928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66928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86130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Validation</a:t>
            </a:r>
          </a:p>
          <a:p>
            <a:pPr algn="l">
              <a:spcAft>
                <a:spcPts val="300"/>
              </a:spcAft>
            </a:pPr>
            <a:r>
              <a:rPr sz="1000" b="0">
                <a:solidFill>
                  <a:srgbClr val="5B6372"/>
                </a:solidFill>
                <a:latin typeface="Arial"/>
              </a:rPr>
              <a:t>Validate by record count, recalculation, cross-validation, peer review and audit — and prove the process catches errors.</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p:transition spd="fast" advClick="1">
    <p:fade/>
  </p:transition>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56832"/>
            <a:ext cx="12191695" cy="20116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2148840"/>
            <a:ext cx="23134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0" y="2514600"/>
            <a:ext cx="12191695" cy="1097280"/>
          </a:xfrm>
          <a:prstGeom prst="rect">
            <a:avLst/>
          </a:prstGeom>
          <a:noFill/>
        </p:spPr>
        <p:txBody>
          <a:bodyPr wrap="square" anchor="t">
            <a:spAutoFit/>
          </a:bodyPr>
          <a:lstStyle/>
          <a:p>
            <a:pPr algn="ctr">
              <a:spcAft>
                <a:spcPts val="400"/>
              </a:spcAft>
            </a:pPr>
            <a:r>
              <a:rPr sz="4800" b="1">
                <a:solidFill>
                  <a:srgbClr val="161B26"/>
                </a:solidFill>
                <a:latin typeface="Arial"/>
              </a:rPr>
              <a:t>Tea Break</a:t>
            </a:r>
          </a:p>
        </p:txBody>
      </p:sp>
      <p:sp>
        <p:nvSpPr>
          <p:cNvPr id="7" name="TextBox 6"/>
          <p:cNvSpPr txBox="1"/>
          <p:nvPr/>
        </p:nvSpPr>
        <p:spPr>
          <a:xfrm>
            <a:off x="0" y="3703320"/>
            <a:ext cx="12191695" cy="731520"/>
          </a:xfrm>
          <a:prstGeom prst="rect">
            <a:avLst/>
          </a:prstGeom>
          <a:noFill/>
        </p:spPr>
        <p:txBody>
          <a:bodyPr wrap="square" anchor="t">
            <a:spAutoFit/>
          </a:bodyPr>
          <a:lstStyle/>
          <a:p>
            <a:pPr algn="ctr">
              <a:spcAft>
                <a:spcPts val="400"/>
              </a:spcAft>
            </a:pPr>
            <a:r>
              <a:rPr sz="2200" b="1">
                <a:solidFill>
                  <a:srgbClr val="10B981"/>
                </a:solidFill>
                <a:latin typeface="Arial"/>
              </a:rPr>
              <a:t>15 minutes</a:t>
            </a:r>
          </a:p>
        </p:txBody>
      </p:sp>
    </p:spTree>
  </p:cSld>
  <p:clrMapOvr>
    <a:masterClrMapping/>
  </p:clrMapOvr>
  <p:transition spd="fast" advClick="1">
    <p:fade/>
  </p:transition>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DOMAIN 05  ·  14% OF THE EXAM</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Data Governance, Quality and Controls</a:t>
            </a:r>
          </a:p>
        </p:txBody>
      </p:sp>
      <p:sp>
        <p:nvSpPr>
          <p:cNvPr id="7" name="TextBox 6"/>
          <p:cNvSpPr txBox="1"/>
          <p:nvPr/>
        </p:nvSpPr>
        <p:spPr>
          <a:xfrm>
            <a:off x="1161288" y="4160520"/>
            <a:ext cx="10058400" cy="731520"/>
          </a:xfrm>
          <a:prstGeom prst="rect">
            <a:avLst/>
          </a:prstGeom>
          <a:noFill/>
        </p:spPr>
        <p:txBody>
          <a:bodyPr wrap="square" anchor="t">
            <a:spAutoFit/>
          </a:bodyPr>
          <a:lstStyle/>
          <a:p>
            <a:pPr algn="l">
              <a:spcAft>
                <a:spcPts val="400"/>
              </a:spcAft>
            </a:pPr>
            <a:r>
              <a:rPr sz="1600" b="0">
                <a:solidFill>
                  <a:srgbClr val="5B6372"/>
                </a:solidFill>
                <a:latin typeface="Arial"/>
              </a:rPr>
              <a:t>Documentation · versioning · lineage · compliance · retention · privacy · encryption · masking · quality assurance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05</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p:transition spd="med" advClick="1">
    <p:push dir="l"/>
  </p:transition>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THIS DOMAIN COVERS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Domain 5 — Key Concepts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71907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71907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Governance spans the lifecycle</a:t>
            </a:r>
          </a:p>
          <a:p>
            <a:pPr algn="l">
              <a:spcAft>
                <a:spcPts val="300"/>
              </a:spcAft>
            </a:pPr>
            <a:r>
              <a:rPr sz="1000" b="0">
                <a:solidFill>
                  <a:srgbClr val="5B6372"/>
                </a:solidFill>
                <a:latin typeface="Arial"/>
              </a:rPr>
              <a:t>Data governance keeps data high-quality and controlled across its full lifecycle: creation, storage, use, archive and destruction.</a:t>
            </a:r>
          </a:p>
        </p:txBody>
      </p:sp>
      <p:sp>
        <p:nvSpPr>
          <p:cNvPr id="12" name="Rectangle 11"/>
          <p:cNvSpPr/>
          <p:nvPr/>
        </p:nvSpPr>
        <p:spPr>
          <a:xfrm>
            <a:off x="777240" y="244144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441448"/>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37744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37744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56946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Roles split accountability</a:t>
            </a:r>
          </a:p>
          <a:p>
            <a:pPr algn="l">
              <a:spcAft>
                <a:spcPts val="300"/>
              </a:spcAft>
            </a:pPr>
            <a:r>
              <a:rPr sz="1000" b="0">
                <a:solidFill>
                  <a:srgbClr val="5B6372"/>
                </a:solidFill>
                <a:latin typeface="Arial"/>
              </a:rPr>
              <a:t>Data roles separate accountability: data owner, data steward, data custodian and privacy officer.</a:t>
            </a:r>
          </a:p>
        </p:txBody>
      </p:sp>
      <p:sp>
        <p:nvSpPr>
          <p:cNvPr id="17" name="Rectangle 16"/>
          <p:cNvSpPr/>
          <p:nvPr/>
        </p:nvSpPr>
        <p:spPr>
          <a:xfrm>
            <a:off x="777240" y="3099816"/>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099816"/>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03580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0358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227832"/>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Classification and data types</a:t>
            </a:r>
          </a:p>
          <a:p>
            <a:pPr algn="l">
              <a:spcAft>
                <a:spcPts val="300"/>
              </a:spcAft>
            </a:pPr>
            <a:r>
              <a:rPr sz="1000" b="0">
                <a:solidFill>
                  <a:srgbClr val="5B6372"/>
                </a:solidFill>
                <a:latin typeface="Arial"/>
              </a:rPr>
              <a:t>Data is classified by sensitivity (public, internal, sensitive, confidential/restricted) and tagged by type (PII, PHI, PIFI, IP).</a:t>
            </a:r>
          </a:p>
        </p:txBody>
      </p:sp>
      <p:sp>
        <p:nvSpPr>
          <p:cNvPr id="22" name="Rectangle 21"/>
          <p:cNvSpPr/>
          <p:nvPr/>
        </p:nvSpPr>
        <p:spPr>
          <a:xfrm>
            <a:off x="777240" y="3758184"/>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3758184"/>
            <a:ext cx="91440" cy="42062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3886200"/>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Compliance obligations</a:t>
            </a:r>
          </a:p>
          <a:p>
            <a:pPr algn="l">
              <a:spcAft>
                <a:spcPts val="300"/>
              </a:spcAft>
            </a:pPr>
            <a:r>
              <a:rPr sz="1000" b="0">
                <a:solidFill>
                  <a:srgbClr val="5B6372"/>
                </a:solidFill>
                <a:latin typeface="Arial"/>
              </a:rPr>
              <a:t>Regulations impose retention, audit and sovereignty duties — Singapore's PDPA, the EU GDPR, HIPAA and SOX are the common examples.</a:t>
            </a:r>
          </a:p>
        </p:txBody>
      </p:sp>
      <p:sp>
        <p:nvSpPr>
          <p:cNvPr id="27" name="Rectangle 26"/>
          <p:cNvSpPr/>
          <p:nvPr/>
        </p:nvSpPr>
        <p:spPr>
          <a:xfrm>
            <a:off x="777240" y="4416552"/>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416552"/>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35254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35254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544568"/>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Layered protection</a:t>
            </a:r>
          </a:p>
          <a:p>
            <a:pPr algn="l">
              <a:spcAft>
                <a:spcPts val="300"/>
              </a:spcAft>
            </a:pPr>
            <a:r>
              <a:rPr sz="1000" b="0">
                <a:solidFill>
                  <a:srgbClr val="5B6372"/>
                </a:solidFill>
                <a:latin typeface="Arial"/>
              </a:rPr>
              <a:t>Protection strategies layer access control (role-based, group-based), encryption at rest/in transit/in use, masking and de-identification.</a:t>
            </a:r>
          </a:p>
        </p:txBody>
      </p:sp>
      <p:sp>
        <p:nvSpPr>
          <p:cNvPr id="32" name="Rectangle 31"/>
          <p:cNvSpPr/>
          <p:nvPr/>
        </p:nvSpPr>
        <p:spPr>
          <a:xfrm>
            <a:off x="777240" y="507492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074920"/>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272" y="501091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 y="501091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1764792" y="520293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Lineage and version control</a:t>
            </a:r>
          </a:p>
          <a:p>
            <a:pPr algn="l">
              <a:spcAft>
                <a:spcPts val="300"/>
              </a:spcAft>
            </a:pPr>
            <a:r>
              <a:rPr sz="1000" b="0">
                <a:solidFill>
                  <a:srgbClr val="5B6372"/>
                </a:solidFill>
                <a:latin typeface="Arial"/>
              </a:rPr>
              <a:t>Data lineage, a data dictionary and version control make a pipeline auditable and reproducible.</a:t>
            </a:r>
          </a:p>
        </p:txBody>
      </p:sp>
      <p:sp>
        <p:nvSpPr>
          <p:cNvPr id="37" name="Rectangle 36"/>
          <p:cNvSpPr/>
          <p:nvPr/>
        </p:nvSpPr>
        <p:spPr>
          <a:xfrm>
            <a:off x="777240" y="573328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733288"/>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66928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66928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86130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Continuous quality assurance</a:t>
            </a:r>
          </a:p>
          <a:p>
            <a:pPr algn="l">
              <a:spcAft>
                <a:spcPts val="300"/>
              </a:spcAft>
            </a:pPr>
            <a:r>
              <a:rPr sz="1000" b="0">
                <a:solidFill>
                  <a:srgbClr val="5B6372"/>
                </a:solidFill>
                <a:latin typeface="Arial"/>
              </a:rPr>
              <a:t>Quality assurance runs continuously: profiling, automated validation on entry, monitoring, and testing against agreed quality dimensions.</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p:transition spd="fast" advClick="1">
    <p:fade/>
  </p:transition>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DATA GOVERNANCE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Governance is a set of decisions, not a document.</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Data governance is an organisation's capability to ensure high-quality data exists across the complete data lifecycle, with controls implemented to support its business objectives. Every control is somebody's decision, written down and enforced.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p:transition spd="fast" advClick="1">
    <p:fade/>
  </p:transition>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DATA LIFECYCLE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Data Lifecycle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Creation</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Entry, capture or import</a:t>
            </a:r>
          </a:p>
        </p:txBody>
      </p:sp>
      <p:cxnSp>
        <p:nvCxnSpPr>
          <p:cNvPr id="13" name="Connector 12"/>
          <p:cNvCxnSpPr/>
          <p:nvPr/>
        </p:nvCxnSpPr>
        <p:spPr>
          <a:xfrm>
            <a:off x="2651760"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Storage</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At rest, permission-controlled</a:t>
            </a:r>
          </a:p>
        </p:txBody>
      </p:sp>
      <p:cxnSp>
        <p:nvCxnSpPr>
          <p:cNvPr id="20" name="Connector 19"/>
          <p:cNvCxnSpPr/>
          <p:nvPr/>
        </p:nvCxnSpPr>
        <p:spPr>
          <a:xfrm>
            <a:off x="4855464"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Use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View, process, modify</a:t>
            </a:r>
          </a:p>
        </p:txBody>
      </p:sp>
      <p:cxnSp>
        <p:nvCxnSpPr>
          <p:cNvPr id="27" name="Connector 26"/>
          <p:cNvCxnSpPr/>
          <p:nvPr/>
        </p:nvCxnSpPr>
        <p:spPr>
          <a:xfrm>
            <a:off x="7059168"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Archive</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Retained but not active</a:t>
            </a:r>
          </a:p>
        </p:txBody>
      </p:sp>
      <p:cxnSp>
        <p:nvCxnSpPr>
          <p:cNvPr id="34" name="Connector 33"/>
          <p:cNvCxnSpPr/>
          <p:nvPr/>
        </p:nvCxnSpPr>
        <p:spPr>
          <a:xfrm>
            <a:off x="9262872" y="3223260"/>
            <a:ext cx="274320" cy="0"/>
          </a:xfrm>
          <a:prstGeom prst="line">
            <a:avLst/>
          </a:prstGeom>
          <a:ln w="25400">
            <a:solidFill>
              <a:srgbClr val="7C3AED"/>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Destruction</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Beyond its useful life</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7C3AED"/>
                </a:solidFill>
                <a:latin typeface="Arial"/>
              </a:rPr>
              <a:t>WHY IT DRIVES POLICY</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Every governance policy you write must say what happens at each of these five stages — otherwise there is a stage where nobody is accountable.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DATA ROLES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Data Roles and Accountability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owner</a:t>
            </a:r>
          </a:p>
          <a:p>
            <a:pPr algn="l">
              <a:spcAft>
                <a:spcPts val="300"/>
              </a:spcAft>
            </a:pPr>
            <a:r>
              <a:rPr sz="1100" b="0">
                <a:solidFill>
                  <a:srgbClr val="5B6372"/>
                </a:solidFill>
                <a:latin typeface="Arial"/>
              </a:rPr>
              <a:t>A senior executive accountable for the confidentiality, integrity and availability of the data asset.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steward</a:t>
            </a:r>
          </a:p>
          <a:p>
            <a:pPr algn="l">
              <a:spcAft>
                <a:spcPts val="300"/>
              </a:spcAft>
            </a:pPr>
            <a:r>
              <a:rPr sz="1100" b="0">
                <a:solidFill>
                  <a:srgbClr val="5B6372"/>
                </a:solidFill>
                <a:latin typeface="Arial"/>
              </a:rPr>
              <a:t>Ensures data is properly labelled, identified, collected and stored. The day-to-day quality role.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custodian</a:t>
            </a:r>
          </a:p>
          <a:p>
            <a:pPr algn="l">
              <a:spcAft>
                <a:spcPts val="300"/>
              </a:spcAft>
            </a:pPr>
            <a:r>
              <a:rPr sz="1100" b="0">
                <a:solidFill>
                  <a:srgbClr val="5B6372"/>
                </a:solidFill>
                <a:latin typeface="Arial"/>
              </a:rPr>
              <a:t>Manages the SYSTEM the data lives on — the technical operator of storage and backup.</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Privacy officer</a:t>
            </a:r>
          </a:p>
          <a:p>
            <a:pPr algn="l">
              <a:spcAft>
                <a:spcPts val="300"/>
              </a:spcAft>
            </a:pPr>
            <a:r>
              <a:rPr sz="1100" b="0">
                <a:solidFill>
                  <a:srgbClr val="5B6372"/>
                </a:solidFill>
                <a:latin typeface="Arial"/>
              </a:rPr>
              <a:t>Oversees privacy-related data, and owns minimisation, sovereignty, retention and destruction policy.</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Why separate them</a:t>
            </a:r>
          </a:p>
          <a:p>
            <a:pPr algn="l">
              <a:spcAft>
                <a:spcPts val="300"/>
              </a:spcAft>
            </a:pPr>
            <a:r>
              <a:rPr sz="1100" b="0">
                <a:solidFill>
                  <a:srgbClr val="5B6372"/>
                </a:solidFill>
                <a:latin typeface="Arial"/>
              </a:rPr>
              <a:t>Separation of duties: the person who authorises access should not be the person who grants it.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In practice</a:t>
            </a:r>
          </a:p>
          <a:p>
            <a:pPr algn="l">
              <a:spcAft>
                <a:spcPts val="300"/>
              </a:spcAft>
            </a:pPr>
            <a:r>
              <a:rPr sz="1100" b="0">
                <a:solidFill>
                  <a:srgbClr val="5B6372"/>
                </a:solidFill>
                <a:latin typeface="Arial"/>
              </a:rPr>
              <a:t>In Lab 14 you build the access matrix that assigns each of these roles a specific level of access.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p:transition spd="fast" advClick="1">
    <p:fade/>
  </p:transition>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DATA CLASSIFICATION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Data Classification — Commercial and Government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Level</a:t>
            </a:r>
          </a:p>
        </p:txBody>
      </p:sp>
      <p:sp>
        <p:nvSpPr>
          <p:cNvPr id="9" name="Rectangle 8"/>
          <p:cNvSpPr/>
          <p:nvPr/>
        </p:nvSpPr>
        <p:spPr>
          <a:xfrm>
            <a:off x="3542202" y="1783080"/>
            <a:ext cx="3934755"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Commercial sector</a:t>
            </a:r>
          </a:p>
        </p:txBody>
      </p:sp>
      <p:sp>
        <p:nvSpPr>
          <p:cNvPr id="11" name="Rectangle 10"/>
          <p:cNvSpPr/>
          <p:nvPr/>
        </p:nvSpPr>
        <p:spPr>
          <a:xfrm>
            <a:off x="7476957" y="1783080"/>
            <a:ext cx="3934755"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04973" y="1783080"/>
            <a:ext cx="3678723" cy="475488"/>
          </a:xfrm>
          <a:prstGeom prst="rect">
            <a:avLst/>
          </a:prstGeom>
          <a:noFill/>
        </p:spPr>
        <p:txBody>
          <a:bodyPr wrap="square" anchor="ctr">
            <a:spAutoFit/>
          </a:bodyPr>
          <a:lstStyle/>
          <a:p>
            <a:pPr algn="l">
              <a:spcAft>
                <a:spcPts val="400"/>
              </a:spcAft>
            </a:pPr>
            <a:r>
              <a:rPr sz="1300" b="1">
                <a:solidFill>
                  <a:srgbClr val="FFFFFF"/>
                </a:solidFill>
                <a:latin typeface="Arial"/>
              </a:rPr>
              <a:t>Government sector</a:t>
            </a:r>
          </a:p>
        </p:txBody>
      </p:sp>
      <p:sp>
        <p:nvSpPr>
          <p:cNvPr id="13" name="Rectangle 12"/>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Lowest</a:t>
            </a:r>
          </a:p>
        </p:txBody>
      </p:sp>
      <p:sp>
        <p:nvSpPr>
          <p:cNvPr id="15" name="Rectangle 14"/>
          <p:cNvSpPr/>
          <p:nvPr/>
        </p:nvSpPr>
        <p:spPr>
          <a:xfrm>
            <a:off x="3542202"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70218"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Public — the front-facing website</a:t>
            </a:r>
          </a:p>
        </p:txBody>
      </p:sp>
      <p:sp>
        <p:nvSpPr>
          <p:cNvPr id="17" name="Rectangle 16"/>
          <p:cNvSpPr/>
          <p:nvPr/>
        </p:nvSpPr>
        <p:spPr>
          <a:xfrm>
            <a:off x="7476957" y="2258568"/>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04973" y="2258568"/>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Unclassified — public information</a:t>
            </a:r>
          </a:p>
        </p:txBody>
      </p:sp>
      <p:sp>
        <p:nvSpPr>
          <p:cNvPr id="19" name="Rectangle 18"/>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Low-mid</a:t>
            </a:r>
          </a:p>
        </p:txBody>
      </p:sp>
      <p:sp>
        <p:nvSpPr>
          <p:cNvPr id="21" name="Rectangle 20"/>
          <p:cNvSpPr/>
          <p:nvPr/>
        </p:nvSpPr>
        <p:spPr>
          <a:xfrm>
            <a:off x="3542202"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70218"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Sensitive — financial data</a:t>
            </a:r>
          </a:p>
        </p:txBody>
      </p:sp>
      <p:sp>
        <p:nvSpPr>
          <p:cNvPr id="23" name="Rectangle 22"/>
          <p:cNvSpPr/>
          <p:nvPr/>
        </p:nvSpPr>
        <p:spPr>
          <a:xfrm>
            <a:off x="7476957" y="2838297"/>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604973" y="2838297"/>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Controlled Unclassified (CUI) — medical records</a:t>
            </a:r>
          </a:p>
        </p:txBody>
      </p:sp>
      <p:sp>
        <p:nvSpPr>
          <p:cNvPr id="25" name="Rectangle 24"/>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Mid</a:t>
            </a:r>
          </a:p>
        </p:txBody>
      </p:sp>
      <p:sp>
        <p:nvSpPr>
          <p:cNvPr id="27" name="Rectangle 26"/>
          <p:cNvSpPr/>
          <p:nvPr/>
        </p:nvSpPr>
        <p:spPr>
          <a:xfrm>
            <a:off x="3542202"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70218"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Private — personnel records</a:t>
            </a:r>
          </a:p>
        </p:txBody>
      </p:sp>
      <p:sp>
        <p:nvSpPr>
          <p:cNvPr id="29" name="Rectangle 28"/>
          <p:cNvSpPr/>
          <p:nvPr/>
        </p:nvSpPr>
        <p:spPr>
          <a:xfrm>
            <a:off x="7476957" y="3418026"/>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604973" y="3418026"/>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Confidential — trade secrets</a:t>
            </a:r>
          </a:p>
        </p:txBody>
      </p:sp>
      <p:sp>
        <p:nvSpPr>
          <p:cNvPr id="31" name="Rectangle 30"/>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High</a:t>
            </a:r>
          </a:p>
        </p:txBody>
      </p:sp>
      <p:sp>
        <p:nvSpPr>
          <p:cNvPr id="33" name="Rectangle 32"/>
          <p:cNvSpPr/>
          <p:nvPr/>
        </p:nvSpPr>
        <p:spPr>
          <a:xfrm>
            <a:off x="3542202"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Confidential — intellectual property</a:t>
            </a:r>
          </a:p>
        </p:txBody>
      </p:sp>
      <p:sp>
        <p:nvSpPr>
          <p:cNvPr id="35" name="Rectangle 34"/>
          <p:cNvSpPr/>
          <p:nvPr/>
        </p:nvSpPr>
        <p:spPr>
          <a:xfrm>
            <a:off x="7476957" y="3997755"/>
            <a:ext cx="3934755"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604973" y="3997755"/>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Secret — military plans</a:t>
            </a:r>
          </a:p>
        </p:txBody>
      </p:sp>
      <p:sp>
        <p:nvSpPr>
          <p:cNvPr id="37" name="Rectangle 3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Highest</a:t>
            </a:r>
          </a:p>
        </p:txBody>
      </p:sp>
      <p:sp>
        <p:nvSpPr>
          <p:cNvPr id="39" name="Rectangle 38"/>
          <p:cNvSpPr/>
          <p:nvPr/>
        </p:nvSpPr>
        <p:spPr>
          <a:xfrm>
            <a:off x="3542202"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70218"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Restricted — regulated or contractual</a:t>
            </a:r>
          </a:p>
        </p:txBody>
      </p:sp>
      <p:sp>
        <p:nvSpPr>
          <p:cNvPr id="41" name="Rectangle 40"/>
          <p:cNvSpPr/>
          <p:nvPr/>
        </p:nvSpPr>
        <p:spPr>
          <a:xfrm>
            <a:off x="7476957" y="4577484"/>
            <a:ext cx="3934755"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604973" y="4577484"/>
            <a:ext cx="3678723" cy="579729"/>
          </a:xfrm>
          <a:prstGeom prst="rect">
            <a:avLst/>
          </a:prstGeom>
          <a:noFill/>
        </p:spPr>
        <p:txBody>
          <a:bodyPr wrap="square" anchor="ctr">
            <a:spAutoFit/>
          </a:bodyPr>
          <a:lstStyle/>
          <a:p>
            <a:pPr algn="l">
              <a:spcAft>
                <a:spcPts val="400"/>
              </a:spcAft>
            </a:pPr>
            <a:r>
              <a:rPr sz="1150" b="0">
                <a:solidFill>
                  <a:srgbClr val="5B6372"/>
                </a:solidFill>
                <a:latin typeface="Arial"/>
              </a:rPr>
              <a:t>Top Secret — weapon blueprints</a:t>
            </a:r>
          </a:p>
        </p:txBody>
      </p:sp>
      <p:sp>
        <p:nvSpPr>
          <p:cNvPr id="43" name="Rectangle 42"/>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77240" y="5358381"/>
            <a:ext cx="100584" cy="8412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F59E0B"/>
                </a:solidFill>
                <a:latin typeface="Arial"/>
              </a:rPr>
              <a:t>WHEN IT MATTERS  </a:t>
            </a:r>
            <a:r>
              <a:rPr sz="1200" b="0">
                <a:solidFill>
                  <a:srgbClr val="161B26"/>
                </a:solidFill>
                <a:latin typeface="Arial"/>
              </a:rPr>
              <a:t>Classification sets the sensitivity. A separate DATA TYPE tag — PII, PHI, PIFI, IP — says what kind of data it is.</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p:transition spd="fast" advClick="1">
    <p:fade/>
  </p:transition>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COMPLIANCE REQUIREMENTS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Compliance and Regulation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Regulation vs compliance</a:t>
            </a:r>
          </a:p>
          <a:p>
            <a:pPr algn="l">
              <a:spcAft>
                <a:spcPts val="300"/>
              </a:spcAft>
            </a:pPr>
            <a:r>
              <a:rPr sz="1100" b="0">
                <a:solidFill>
                  <a:srgbClr val="5B6372"/>
                </a:solidFill>
                <a:latin typeface="Arial"/>
              </a:rPr>
              <a:t>A regulation is a rule backed by law. Compliance is demonstrating that you meet it.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Singapore PDPA</a:t>
            </a:r>
          </a:p>
          <a:p>
            <a:pPr algn="l">
              <a:spcAft>
                <a:spcPts val="300"/>
              </a:spcAft>
            </a:pPr>
            <a:r>
              <a:rPr sz="1100" b="0">
                <a:solidFill>
                  <a:srgbClr val="5B6372"/>
                </a:solidFill>
                <a:latin typeface="Arial"/>
              </a:rPr>
              <a:t>Governs collection, use and disclosure of personal data, and mandates breach notification.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GDPR (EU)</a:t>
            </a:r>
          </a:p>
          <a:p>
            <a:pPr algn="l">
              <a:spcAft>
                <a:spcPts val="300"/>
              </a:spcAft>
            </a:pPr>
            <a:r>
              <a:rPr sz="1100" b="0">
                <a:solidFill>
                  <a:srgbClr val="5B6372"/>
                </a:solidFill>
                <a:latin typeface="Arial"/>
              </a:rPr>
              <a:t>Rights of access, rectification, erasure and portability — applies to EU residents' data wherever it is held.</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HIPAA / SOX</a:t>
            </a:r>
          </a:p>
          <a:p>
            <a:pPr algn="l">
              <a:spcAft>
                <a:spcPts val="300"/>
              </a:spcAft>
            </a:pPr>
            <a:r>
              <a:rPr sz="1100" b="0">
                <a:solidFill>
                  <a:srgbClr val="5B6372"/>
                </a:solidFill>
                <a:latin typeface="Arial"/>
              </a:rPr>
              <a:t>US health information privacy; and financial reporting controls with retention obligations.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sovereignty</a:t>
            </a:r>
          </a:p>
          <a:p>
            <a:pPr algn="l">
              <a:spcAft>
                <a:spcPts val="300"/>
              </a:spcAft>
            </a:pPr>
            <a:r>
              <a:rPr sz="1100" b="0">
                <a:solidFill>
                  <a:srgbClr val="5B6372"/>
                </a:solidFill>
                <a:latin typeface="Arial"/>
              </a:rPr>
              <a:t>The jurisdiction whose law governs the data — usually determined by where it is physically stored.</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Audits</a:t>
            </a:r>
          </a:p>
          <a:p>
            <a:pPr algn="l">
              <a:spcAft>
                <a:spcPts val="300"/>
              </a:spcAft>
            </a:pPr>
            <a:r>
              <a:rPr sz="1100" b="0">
                <a:solidFill>
                  <a:srgbClr val="5B6372"/>
                </a:solidFill>
                <a:latin typeface="Arial"/>
              </a:rPr>
              <a:t>Periodic independent verification that the controls you documented are actually operating.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p:transition spd="fast" advClick="1">
    <p:fade/>
  </p:transition>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RETENTION AND DESTRUCTION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Retention, Preservation and Destruction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retention</a:t>
            </a:r>
          </a:p>
          <a:p>
            <a:pPr algn="l">
              <a:spcAft>
                <a:spcPts val="300"/>
              </a:spcAft>
            </a:pPr>
            <a:r>
              <a:rPr sz="1100" b="0">
                <a:solidFill>
                  <a:srgbClr val="5B6372"/>
                </a:solidFill>
                <a:latin typeface="Arial"/>
              </a:rPr>
              <a:t>Keeping data for a defined period to satisfy business policy and applicable law. Consult legal counsel.</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preservation</a:t>
            </a:r>
          </a:p>
          <a:p>
            <a:pPr algn="l">
              <a:spcAft>
                <a:spcPts val="300"/>
              </a:spcAft>
            </a:pPr>
            <a:r>
              <a:rPr sz="1100" b="0">
                <a:solidFill>
                  <a:srgbClr val="5B6372"/>
                </a:solidFill>
                <a:latin typeface="Arial"/>
              </a:rPr>
              <a:t>Holding data for a specific purpose OUTSIDE the retention policy — for example, a litigation hold.</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removal</a:t>
            </a:r>
          </a:p>
          <a:p>
            <a:pPr algn="l">
              <a:spcAft>
                <a:spcPts val="300"/>
              </a:spcAft>
            </a:pPr>
            <a:r>
              <a:rPr sz="1100" b="0">
                <a:solidFill>
                  <a:srgbClr val="5B6372"/>
                </a:solidFill>
                <a:latin typeface="Arial"/>
              </a:rPr>
              <a:t>Deleting data or making it inaccessible. Appropriate only for the least sensitive data.</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destruction</a:t>
            </a:r>
          </a:p>
          <a:p>
            <a:pPr algn="l">
              <a:spcAft>
                <a:spcPts val="300"/>
              </a:spcAft>
            </a:pPr>
            <a:r>
              <a:rPr sz="1100" b="0">
                <a:solidFill>
                  <a:srgbClr val="5B6372"/>
                </a:solidFill>
                <a:latin typeface="Arial"/>
              </a:rPr>
              <a:t>Deleting the data AND destroying the underlying medium so it cannot be reconstructed.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sanitisation</a:t>
            </a:r>
          </a:p>
          <a:p>
            <a:pPr algn="l">
              <a:spcAft>
                <a:spcPts val="300"/>
              </a:spcAft>
            </a:pPr>
            <a:r>
              <a:rPr sz="1100" b="0">
                <a:solidFill>
                  <a:srgbClr val="5B6372"/>
                </a:solidFill>
                <a:latin typeface="Arial"/>
              </a:rPr>
              <a:t>The verification step that PROVES the data was wiped and is no longer recoverable.</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Document it</a:t>
            </a:r>
          </a:p>
          <a:p>
            <a:pPr algn="l">
              <a:spcAft>
                <a:spcPts val="300"/>
              </a:spcAft>
            </a:pPr>
            <a:r>
              <a:rPr sz="1100" b="0">
                <a:solidFill>
                  <a:srgbClr val="5B6372"/>
                </a:solidFill>
                <a:latin typeface="Arial"/>
              </a:rPr>
              <a:t>An undocumented retention period is itself an audit finding — record the period and its rationale.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p:transition spd="fast" advClick="1">
    <p:fade/>
  </p:transition>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PRIVACY AND PROTECTION</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Protection Strategies Compared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2764962"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1783080"/>
            <a:ext cx="2508930" cy="475488"/>
          </a:xfrm>
          <a:prstGeom prst="rect">
            <a:avLst/>
          </a:prstGeom>
          <a:noFill/>
        </p:spPr>
        <p:txBody>
          <a:bodyPr wrap="square" anchor="ctr">
            <a:spAutoFit/>
          </a:bodyPr>
          <a:lstStyle/>
          <a:p>
            <a:pPr algn="l">
              <a:spcAft>
                <a:spcPts val="400"/>
              </a:spcAft>
            </a:pPr>
            <a:r>
              <a:rPr sz="1300" b="1">
                <a:solidFill>
                  <a:srgbClr val="FFFFFF"/>
                </a:solidFill>
                <a:latin typeface="Arial"/>
              </a:rPr>
              <a:t>Technique</a:t>
            </a:r>
          </a:p>
        </p:txBody>
      </p:sp>
      <p:sp>
        <p:nvSpPr>
          <p:cNvPr id="9" name="Rectangle 8"/>
          <p:cNvSpPr/>
          <p:nvPr/>
        </p:nvSpPr>
        <p:spPr>
          <a:xfrm>
            <a:off x="3542202" y="1783080"/>
            <a:ext cx="2623170" cy="4754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7021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What it does</a:t>
            </a:r>
          </a:p>
        </p:txBody>
      </p:sp>
      <p:sp>
        <p:nvSpPr>
          <p:cNvPr id="11" name="Rectangle 10"/>
          <p:cNvSpPr/>
          <p:nvPr/>
        </p:nvSpPr>
        <p:spPr>
          <a:xfrm>
            <a:off x="6165372" y="1783080"/>
            <a:ext cx="2623170" cy="47548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338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Reversible?</a:t>
            </a:r>
          </a:p>
        </p:txBody>
      </p:sp>
      <p:sp>
        <p:nvSpPr>
          <p:cNvPr id="13" name="Rectangle 12"/>
          <p:cNvSpPr/>
          <p:nvPr/>
        </p:nvSpPr>
        <p:spPr>
          <a:xfrm>
            <a:off x="8788542" y="1783080"/>
            <a:ext cx="2623170" cy="47548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6558" y="1783080"/>
            <a:ext cx="2367138" cy="475488"/>
          </a:xfrm>
          <a:prstGeom prst="rect">
            <a:avLst/>
          </a:prstGeom>
          <a:noFill/>
        </p:spPr>
        <p:txBody>
          <a:bodyPr wrap="square" anchor="ctr">
            <a:spAutoFit/>
          </a:bodyPr>
          <a:lstStyle/>
          <a:p>
            <a:pPr algn="l">
              <a:spcAft>
                <a:spcPts val="400"/>
              </a:spcAft>
            </a:pPr>
            <a:r>
              <a:rPr sz="1300" b="1">
                <a:solidFill>
                  <a:srgbClr val="FFFFFF"/>
                </a:solidFill>
                <a:latin typeface="Arial"/>
              </a:rPr>
              <a:t>Analysis still possible?</a:t>
            </a:r>
          </a:p>
        </p:txBody>
      </p:sp>
      <p:sp>
        <p:nvSpPr>
          <p:cNvPr id="15" name="Rectangle 14"/>
          <p:cNvSpPr/>
          <p:nvPr/>
        </p:nvSpPr>
        <p:spPr>
          <a:xfrm>
            <a:off x="777240" y="2258568"/>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5256" y="2258568"/>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Access control</a:t>
            </a:r>
          </a:p>
        </p:txBody>
      </p:sp>
      <p:sp>
        <p:nvSpPr>
          <p:cNvPr id="17" name="Rectangle 16"/>
          <p:cNvSpPr/>
          <p:nvPr/>
        </p:nvSpPr>
        <p:spPr>
          <a:xfrm>
            <a:off x="354220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7021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Restricts WHO can see the data</a:t>
            </a:r>
          </a:p>
        </p:txBody>
      </p:sp>
      <p:sp>
        <p:nvSpPr>
          <p:cNvPr id="19" name="Rectangle 18"/>
          <p:cNvSpPr/>
          <p:nvPr/>
        </p:nvSpPr>
        <p:spPr>
          <a:xfrm>
            <a:off x="616537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338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n/a</a:t>
            </a:r>
          </a:p>
        </p:txBody>
      </p:sp>
      <p:sp>
        <p:nvSpPr>
          <p:cNvPr id="21" name="Rectangle 20"/>
          <p:cNvSpPr/>
          <p:nvPr/>
        </p:nvSpPr>
        <p:spPr>
          <a:xfrm>
            <a:off x="8788542" y="2258568"/>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16558" y="2258568"/>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Yes, for authorised users</a:t>
            </a:r>
          </a:p>
        </p:txBody>
      </p:sp>
      <p:sp>
        <p:nvSpPr>
          <p:cNvPr id="23" name="Rectangle 22"/>
          <p:cNvSpPr/>
          <p:nvPr/>
        </p:nvSpPr>
        <p:spPr>
          <a:xfrm>
            <a:off x="777240" y="2838297"/>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5256" y="2838297"/>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Encryption</a:t>
            </a:r>
          </a:p>
        </p:txBody>
      </p:sp>
      <p:sp>
        <p:nvSpPr>
          <p:cNvPr id="25" name="Rectangle 24"/>
          <p:cNvSpPr/>
          <p:nvPr/>
        </p:nvSpPr>
        <p:spPr>
          <a:xfrm>
            <a:off x="354220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67021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Scrambles data into ciphertext</a:t>
            </a:r>
          </a:p>
        </p:txBody>
      </p:sp>
      <p:sp>
        <p:nvSpPr>
          <p:cNvPr id="27" name="Rectangle 26"/>
          <p:cNvSpPr/>
          <p:nvPr/>
        </p:nvSpPr>
        <p:spPr>
          <a:xfrm>
            <a:off x="616537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9338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Yes, with the key</a:t>
            </a:r>
          </a:p>
        </p:txBody>
      </p:sp>
      <p:sp>
        <p:nvSpPr>
          <p:cNvPr id="29" name="Rectangle 28"/>
          <p:cNvSpPr/>
          <p:nvPr/>
        </p:nvSpPr>
        <p:spPr>
          <a:xfrm>
            <a:off x="8788542" y="2838297"/>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916558" y="2838297"/>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Only after decryption</a:t>
            </a:r>
          </a:p>
        </p:txBody>
      </p:sp>
      <p:sp>
        <p:nvSpPr>
          <p:cNvPr id="31" name="Rectangle 30"/>
          <p:cNvSpPr/>
          <p:nvPr/>
        </p:nvSpPr>
        <p:spPr>
          <a:xfrm>
            <a:off x="777240" y="3418026"/>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05256" y="3418026"/>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Masking</a:t>
            </a:r>
          </a:p>
        </p:txBody>
      </p:sp>
      <p:sp>
        <p:nvSpPr>
          <p:cNvPr id="33" name="Rectangle 32"/>
          <p:cNvSpPr/>
          <p:nvPr/>
        </p:nvSpPr>
        <p:spPr>
          <a:xfrm>
            <a:off x="354220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67021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Hides part of the value (S****A)</a:t>
            </a:r>
          </a:p>
        </p:txBody>
      </p:sp>
      <p:sp>
        <p:nvSpPr>
          <p:cNvPr id="35" name="Rectangle 34"/>
          <p:cNvSpPr/>
          <p:nvPr/>
        </p:nvSpPr>
        <p:spPr>
          <a:xfrm>
            <a:off x="616537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9338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No</a:t>
            </a:r>
          </a:p>
        </p:txBody>
      </p:sp>
      <p:sp>
        <p:nvSpPr>
          <p:cNvPr id="37" name="Rectangle 36"/>
          <p:cNvSpPr/>
          <p:nvPr/>
        </p:nvSpPr>
        <p:spPr>
          <a:xfrm>
            <a:off x="8788542" y="3418026"/>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916558" y="3418026"/>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Partially — recognition only</a:t>
            </a:r>
          </a:p>
        </p:txBody>
      </p:sp>
      <p:sp>
        <p:nvSpPr>
          <p:cNvPr id="39" name="Rectangle 38"/>
          <p:cNvSpPr/>
          <p:nvPr/>
        </p:nvSpPr>
        <p:spPr>
          <a:xfrm>
            <a:off x="777240" y="3997755"/>
            <a:ext cx="2764962"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5256" y="3997755"/>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De-identification</a:t>
            </a:r>
          </a:p>
        </p:txBody>
      </p:sp>
      <p:sp>
        <p:nvSpPr>
          <p:cNvPr id="41" name="Rectangle 40"/>
          <p:cNvSpPr/>
          <p:nvPr/>
        </p:nvSpPr>
        <p:spPr>
          <a:xfrm>
            <a:off x="354220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7021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Removes the identifying fields</a:t>
            </a:r>
          </a:p>
        </p:txBody>
      </p:sp>
      <p:sp>
        <p:nvSpPr>
          <p:cNvPr id="43" name="Rectangle 42"/>
          <p:cNvSpPr/>
          <p:nvPr/>
        </p:nvSpPr>
        <p:spPr>
          <a:xfrm>
            <a:off x="616537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9338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No</a:t>
            </a:r>
          </a:p>
        </p:txBody>
      </p:sp>
      <p:sp>
        <p:nvSpPr>
          <p:cNvPr id="45" name="Rectangle 44"/>
          <p:cNvSpPr/>
          <p:nvPr/>
        </p:nvSpPr>
        <p:spPr>
          <a:xfrm>
            <a:off x="8788542" y="3997755"/>
            <a:ext cx="2623170" cy="579729"/>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916558" y="3997755"/>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Yes, on remaining fields</a:t>
            </a:r>
          </a:p>
        </p:txBody>
      </p:sp>
      <p:sp>
        <p:nvSpPr>
          <p:cNvPr id="47" name="Rectangle 46"/>
          <p:cNvSpPr/>
          <p:nvPr/>
        </p:nvSpPr>
        <p:spPr>
          <a:xfrm>
            <a:off x="777240" y="4577484"/>
            <a:ext cx="2764962"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5256" y="4577484"/>
            <a:ext cx="2508930" cy="579729"/>
          </a:xfrm>
          <a:prstGeom prst="rect">
            <a:avLst/>
          </a:prstGeom>
          <a:noFill/>
        </p:spPr>
        <p:txBody>
          <a:bodyPr wrap="square" anchor="ctr">
            <a:spAutoFit/>
          </a:bodyPr>
          <a:lstStyle/>
          <a:p>
            <a:pPr algn="l">
              <a:spcAft>
                <a:spcPts val="400"/>
              </a:spcAft>
            </a:pPr>
            <a:r>
              <a:rPr sz="1150" b="1">
                <a:solidFill>
                  <a:srgbClr val="161B26"/>
                </a:solidFill>
                <a:latin typeface="Arial"/>
              </a:rPr>
              <a:t>Pseudonymisation</a:t>
            </a:r>
          </a:p>
        </p:txBody>
      </p:sp>
      <p:sp>
        <p:nvSpPr>
          <p:cNvPr id="49" name="Rectangle 48"/>
          <p:cNvSpPr/>
          <p:nvPr/>
        </p:nvSpPr>
        <p:spPr>
          <a:xfrm>
            <a:off x="354220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7021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Replaces the ID with a surrogate key</a:t>
            </a:r>
          </a:p>
        </p:txBody>
      </p:sp>
      <p:sp>
        <p:nvSpPr>
          <p:cNvPr id="51" name="Rectangle 50"/>
          <p:cNvSpPr/>
          <p:nvPr/>
        </p:nvSpPr>
        <p:spPr>
          <a:xfrm>
            <a:off x="616537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9338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Only with the mapping</a:t>
            </a:r>
          </a:p>
        </p:txBody>
      </p:sp>
      <p:sp>
        <p:nvSpPr>
          <p:cNvPr id="53" name="Rectangle 52"/>
          <p:cNvSpPr/>
          <p:nvPr/>
        </p:nvSpPr>
        <p:spPr>
          <a:xfrm>
            <a:off x="8788542" y="4577484"/>
            <a:ext cx="2623170" cy="57972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916558" y="4577484"/>
            <a:ext cx="2367138" cy="579729"/>
          </a:xfrm>
          <a:prstGeom prst="rect">
            <a:avLst/>
          </a:prstGeom>
          <a:noFill/>
        </p:spPr>
        <p:txBody>
          <a:bodyPr wrap="square" anchor="ctr">
            <a:spAutoFit/>
          </a:bodyPr>
          <a:lstStyle/>
          <a:p>
            <a:pPr algn="l">
              <a:spcAft>
                <a:spcPts val="400"/>
              </a:spcAft>
            </a:pPr>
            <a:r>
              <a:rPr sz="1150" b="0">
                <a:solidFill>
                  <a:srgbClr val="5B6372"/>
                </a:solidFill>
                <a:latin typeface="Arial"/>
              </a:rPr>
              <a:t>Yes — joins still work</a:t>
            </a:r>
          </a:p>
        </p:txBody>
      </p:sp>
      <p:sp>
        <p:nvSpPr>
          <p:cNvPr id="55" name="Rectangle 54"/>
          <p:cNvSpPr/>
          <p:nvPr/>
        </p:nvSpPr>
        <p:spPr>
          <a:xfrm>
            <a:off x="777240" y="5358381"/>
            <a:ext cx="10634472" cy="8412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777240" y="5358381"/>
            <a:ext cx="100584" cy="8412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51560" y="5468109"/>
            <a:ext cx="10085832" cy="603504"/>
          </a:xfrm>
          <a:prstGeom prst="rect">
            <a:avLst/>
          </a:prstGeom>
          <a:noFill/>
        </p:spPr>
        <p:txBody>
          <a:bodyPr wrap="square" anchor="t">
            <a:spAutoFit/>
          </a:bodyPr>
          <a:lstStyle/>
          <a:p>
            <a:pPr algn="l">
              <a:spcAft>
                <a:spcPts val="400"/>
              </a:spcAft>
            </a:pPr>
            <a:r>
              <a:rPr sz="1100" b="1">
                <a:solidFill>
                  <a:srgbClr val="10B981"/>
                </a:solidFill>
                <a:latin typeface="Arial"/>
              </a:rPr>
              <a:t>WHEN IT MATTERS  </a:t>
            </a:r>
            <a:r>
              <a:rPr sz="1200" b="0">
                <a:solidFill>
                  <a:srgbClr val="161B26"/>
                </a:solidFill>
                <a:latin typeface="Arial"/>
              </a:rPr>
              <a:t>You apply masking, de-identification and pseudonymisation to the same dataset in Lab 13 — and prove the analysis survives.</a:t>
            </a:r>
          </a:p>
        </p:txBody>
      </p:sp>
      <p:sp>
        <p:nvSpPr>
          <p:cNvPr id="58" name="TextBox 5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59" name="TextBox 5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60" name="TextBox 5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p:transition spd="fast" advClick="1">
    <p:fade/>
  </p:transition>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DATA SECURITY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Encryption and Access Control</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at rest</a:t>
            </a:r>
          </a:p>
          <a:p>
            <a:pPr algn="l">
              <a:spcAft>
                <a:spcPts val="300"/>
              </a:spcAft>
            </a:pPr>
            <a:r>
              <a:rPr sz="1100" b="0">
                <a:solidFill>
                  <a:srgbClr val="5B6372"/>
                </a:solidFill>
                <a:latin typeface="Arial"/>
              </a:rPr>
              <a:t>Stored as ciphertext on disk; re-encrypted on every write.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in transit</a:t>
            </a:r>
          </a:p>
          <a:p>
            <a:pPr algn="l">
              <a:spcAft>
                <a:spcPts val="300"/>
              </a:spcAft>
            </a:pPr>
            <a:r>
              <a:rPr sz="1100" b="0">
                <a:solidFill>
                  <a:srgbClr val="5B6372"/>
                </a:solidFill>
                <a:latin typeface="Arial"/>
              </a:rPr>
              <a:t>Encrypted while moving between systems — TLS/HTTPS is the baseline expectation.</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in use</a:t>
            </a:r>
          </a:p>
          <a:p>
            <a:pPr algn="l">
              <a:spcAft>
                <a:spcPts val="300"/>
              </a:spcAft>
            </a:pPr>
            <a:r>
              <a:rPr sz="1100" b="0">
                <a:solidFill>
                  <a:srgbClr val="5B6372"/>
                </a:solidFill>
                <a:latin typeface="Arial"/>
              </a:rPr>
              <a:t>Being processed in memory. The hardest state to protect, and the target of modern attacks.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Read/write permissions</a:t>
            </a:r>
          </a:p>
          <a:p>
            <a:pPr algn="l">
              <a:spcAft>
                <a:spcPts val="300"/>
              </a:spcAft>
            </a:pPr>
            <a:r>
              <a:rPr sz="1100" b="0">
                <a:solidFill>
                  <a:srgbClr val="5B6372"/>
                </a:solidFill>
                <a:latin typeface="Arial"/>
              </a:rPr>
              <a:t>The most basic control: who may read, and who may also change.</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Role-based access (RBAC)</a:t>
            </a:r>
          </a:p>
          <a:p>
            <a:pPr algn="l">
              <a:spcAft>
                <a:spcPts val="300"/>
              </a:spcAft>
            </a:pPr>
            <a:r>
              <a:rPr sz="1100" b="0">
                <a:solidFill>
                  <a:srgbClr val="5B6372"/>
                </a:solidFill>
                <a:latin typeface="Arial"/>
              </a:rPr>
              <a:t>Access assigned by JOB FUNCTION, not by individual. Scales, and survives staff changes.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User-group permissions</a:t>
            </a:r>
          </a:p>
          <a:p>
            <a:pPr algn="l">
              <a:spcAft>
                <a:spcPts val="300"/>
              </a:spcAft>
            </a:pPr>
            <a:r>
              <a:rPr sz="1100" b="0">
                <a:solidFill>
                  <a:srgbClr val="5B6372"/>
                </a:solidFill>
                <a:latin typeface="Arial"/>
              </a:rPr>
              <a:t>Access granted by group membership. Simple, but drifts unless it is reviewed regularly.</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p:transition spd="fast" advClick="1">
    <p:fade/>
  </p:transition>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DATA MANAGEMENT PRACTICES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Documentation, Versioning and Lineage</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lineage</a:t>
            </a:r>
          </a:p>
          <a:p>
            <a:pPr algn="l">
              <a:spcAft>
                <a:spcPts val="300"/>
              </a:spcAft>
            </a:pPr>
            <a:r>
              <a:rPr sz="1100" b="0">
                <a:solidFill>
                  <a:srgbClr val="5B6372"/>
                </a:solidFill>
                <a:latin typeface="Arial"/>
              </a:rPr>
              <a:t>The traceable path from origin through every transformation to the final report. Answers 'where did this number come from?'</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dictionary</a:t>
            </a:r>
          </a:p>
          <a:p>
            <a:pPr algn="l">
              <a:spcAft>
                <a:spcPts val="300"/>
              </a:spcAft>
            </a:pPr>
            <a:r>
              <a:rPr sz="1100" b="0">
                <a:solidFill>
                  <a:srgbClr val="5B6372"/>
                </a:solidFill>
                <a:latin typeface="Arial"/>
              </a:rPr>
              <a:t>Defines every field: its meaning, type, valid values, owner and source. The reference everyone shares.</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Version control</a:t>
            </a:r>
          </a:p>
          <a:p>
            <a:pPr algn="l">
              <a:spcAft>
                <a:spcPts val="300"/>
              </a:spcAft>
            </a:pPr>
            <a:r>
              <a:rPr sz="1100" b="0">
                <a:solidFill>
                  <a:srgbClr val="5B6372"/>
                </a:solidFill>
                <a:latin typeface="Arial"/>
              </a:rPr>
              <a:t>Tracks changes to queries, models and reports over time, so any figure can be reproduced later.</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Entity relationship models</a:t>
            </a:r>
          </a:p>
          <a:p>
            <a:pPr algn="l">
              <a:spcAft>
                <a:spcPts val="300"/>
              </a:spcAft>
            </a:pPr>
            <a:r>
              <a:rPr sz="1100" b="0">
                <a:solidFill>
                  <a:srgbClr val="5B6372"/>
                </a:solidFill>
                <a:latin typeface="Arial"/>
              </a:rPr>
              <a:t>Conceptual (what exists), logical (fields and relationships), physical (actual tables and types).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Data constraints</a:t>
            </a:r>
          </a:p>
          <a:p>
            <a:pPr algn="l">
              <a:spcAft>
                <a:spcPts val="300"/>
              </a:spcAft>
            </a:pPr>
            <a:r>
              <a:rPr sz="1100" b="0">
                <a:solidFill>
                  <a:srgbClr val="5B6372"/>
                </a:solidFill>
                <a:latin typeface="Arial"/>
              </a:rPr>
              <a:t>Integrity rules limiting what may enter a column — the schema enforcing quality automatically.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Record linkage</a:t>
            </a:r>
          </a:p>
          <a:p>
            <a:pPr algn="l">
              <a:spcAft>
                <a:spcPts val="300"/>
              </a:spcAft>
            </a:pPr>
            <a:r>
              <a:rPr sz="1100" b="0">
                <a:solidFill>
                  <a:srgbClr val="5B6372"/>
                </a:solidFill>
                <a:latin typeface="Arial"/>
              </a:rPr>
              <a:t>Matching records across datasets — with link restrictions preventing protected sets being combined.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p:transition spd="fast" advClick="1">
    <p:fade/>
  </p:transition>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IMPLEMENT QUALITY ASSURANCE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The Data Quality Dimensions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Completeness</a:t>
            </a:r>
          </a:p>
          <a:p>
            <a:pPr algn="l">
              <a:spcAft>
                <a:spcPts val="300"/>
              </a:spcAft>
            </a:pPr>
            <a:r>
              <a:rPr sz="1100" b="0">
                <a:solidFill>
                  <a:srgbClr val="5B6372"/>
                </a:solidFill>
                <a:latin typeface="Arial"/>
              </a:rPr>
              <a:t>No required data is missing. Measured as the null rate on mandatory fields.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Accuracy</a:t>
            </a:r>
          </a:p>
          <a:p>
            <a:pPr algn="l">
              <a:spcAft>
                <a:spcPts val="300"/>
              </a:spcAft>
            </a:pPr>
            <a:r>
              <a:rPr sz="1100" b="0">
                <a:solidFill>
                  <a:srgbClr val="5B6372"/>
                </a:solidFill>
                <a:latin typeface="Arial"/>
              </a:rPr>
              <a:t>The values are actually correct — they match the real-world fact they describe.</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Consistency</a:t>
            </a:r>
          </a:p>
          <a:p>
            <a:pPr algn="l">
              <a:spcAft>
                <a:spcPts val="300"/>
              </a:spcAft>
            </a:pPr>
            <a:r>
              <a:rPr sz="1100" b="0">
                <a:solidFill>
                  <a:srgbClr val="5B6372"/>
                </a:solidFill>
                <a:latin typeface="Arial"/>
              </a:rPr>
              <a:t>The same thing is recorded the same way everywhere. 'SG', 'Singapore' and 'sg' break this.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Uniqueness</a:t>
            </a:r>
          </a:p>
          <a:p>
            <a:pPr algn="l">
              <a:spcAft>
                <a:spcPts val="300"/>
              </a:spcAft>
            </a:pPr>
            <a:r>
              <a:rPr sz="1100" b="0">
                <a:solidFill>
                  <a:srgbClr val="5B6372"/>
                </a:solidFill>
                <a:latin typeface="Arial"/>
              </a:rPr>
              <a:t>No unintended duplicates. The primary key must identify exactly one record.</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Validity</a:t>
            </a:r>
          </a:p>
          <a:p>
            <a:pPr algn="l">
              <a:spcAft>
                <a:spcPts val="300"/>
              </a:spcAft>
            </a:pPr>
            <a:r>
              <a:rPr sz="1100" b="0">
                <a:solidFill>
                  <a:srgbClr val="5B6372"/>
                </a:solidFill>
                <a:latin typeface="Arial"/>
              </a:rPr>
              <a:t>Values conform to the defined format, type, range and domain.</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Timeliness</a:t>
            </a:r>
          </a:p>
          <a:p>
            <a:pPr algn="l">
              <a:spcAft>
                <a:spcPts val="300"/>
              </a:spcAft>
            </a:pPr>
            <a:r>
              <a:rPr sz="1100" b="0">
                <a:solidFill>
                  <a:srgbClr val="5B6372"/>
                </a:solidFill>
                <a:latin typeface="Arial"/>
              </a:rPr>
              <a:t>The data is current enough for the decision it supports. A stale figure is a wrong figure.</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p:transition spd="fast" advClick="1">
    <p:fade/>
  </p:transition>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PROFILE · MONITOR · TEST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Quality Assurance in Operation</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Profile</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Measure the current state</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Define rules</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One rule per dimension</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Automate</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Validate on entry</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Monitor</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Run every load, score it</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Act</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Block load, alert owner</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WHAT MAKES IT MONITORING</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report tells you the data was bad. A non-zero exit code STOPS the bad data loading — that is the difference you build in Lab 15.</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MASTER DATA MANAGEMENT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Master Data Management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Master data</a:t>
            </a:r>
          </a:p>
          <a:p>
            <a:pPr algn="l">
              <a:spcAft>
                <a:spcPts val="300"/>
              </a:spcAft>
            </a:pPr>
            <a:r>
              <a:rPr sz="1100" b="0">
                <a:solidFill>
                  <a:srgbClr val="5B6372"/>
                </a:solidFill>
                <a:latin typeface="Arial"/>
              </a:rPr>
              <a:t>The golden record — the single authoritative version of a core entity such as a customer or product.</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MDM</a:t>
            </a:r>
          </a:p>
          <a:p>
            <a:pPr algn="l">
              <a:spcAft>
                <a:spcPts val="300"/>
              </a:spcAft>
            </a:pPr>
            <a:r>
              <a:rPr sz="1100" b="0">
                <a:solidFill>
                  <a:srgbClr val="5B6372"/>
                </a:solidFill>
                <a:latin typeface="Arial"/>
              </a:rPr>
              <a:t>The discipline of creating and maintaining that golden record across every system that holds a copy.</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How golden records are built</a:t>
            </a:r>
          </a:p>
          <a:p>
            <a:pPr algn="l">
              <a:spcAft>
                <a:spcPts val="300"/>
              </a:spcAft>
            </a:pPr>
            <a:r>
              <a:rPr sz="1100" b="0">
                <a:solidFill>
                  <a:srgbClr val="5B6372"/>
                </a:solidFill>
                <a:latin typeface="Arial"/>
              </a:rPr>
              <a:t>Consolidate duplicate fields, fill gaps from other systems, and standardise the field formats.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Why it matters</a:t>
            </a:r>
          </a:p>
          <a:p>
            <a:pPr algn="l">
              <a:spcAft>
                <a:spcPts val="300"/>
              </a:spcAft>
            </a:pPr>
            <a:r>
              <a:rPr sz="1100" b="0">
                <a:solidFill>
                  <a:srgbClr val="5B6372"/>
                </a:solidFill>
                <a:latin typeface="Arial"/>
              </a:rPr>
              <a:t>Without it, Finance, Sales and Support each report a different customer count — all defensible, all different.</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MDM and governance</a:t>
            </a:r>
          </a:p>
          <a:p>
            <a:pPr algn="l">
              <a:spcAft>
                <a:spcPts val="300"/>
              </a:spcAft>
            </a:pPr>
            <a:r>
              <a:rPr sz="1100" b="0">
                <a:solidFill>
                  <a:srgbClr val="5B6372"/>
                </a:solidFill>
                <a:latin typeface="Arial"/>
              </a:rPr>
              <a:t>They work together: governance sets the rules, MDM enforces them on the core entities.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Tooling</a:t>
            </a:r>
          </a:p>
          <a:p>
            <a:pPr algn="l">
              <a:spcAft>
                <a:spcPts val="300"/>
              </a:spcAft>
            </a:pPr>
            <a:r>
              <a:rPr sz="1100" b="0">
                <a:solidFill>
                  <a:srgbClr val="5B6372"/>
                </a:solidFill>
                <a:latin typeface="Arial"/>
              </a:rPr>
              <a:t>Informatica and Reltio are common enterprise MDM platforms.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p:transition spd="fast" advClick="1">
    <p:fade/>
  </p:transition>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05  ·  LAB 13</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Lab 13 — Classify, Mask and De-Identify a Dataset (PDPA/GDPR)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13</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Compare privacy and protection strategies: access control, encryption and masking (Domain 5); LO5 / A4.</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You receive a customer extract containing NRIC numbers, emails and salaries. You classify every column by sensitivity, then apply the three protection techniques the exam distinguishes — masking, de-identification and pseudonymisation via a surrogate index field — and prove the analytical value survives the treatment.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classification matrix for every column plus three protected versions of the dataset (masked, de-identified, pseudonymised) with the analysis still working.</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Killercoda Ubuntu, Python 3, pandas, hashlib</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Masking shows S****A. De-identification drops three columns. Pseudonymisation gives a stable 12-character key, and the departmental salary averages (Ops 4050, Sales 4500, Tech 5200) are identical to the originals.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Tree>
  </p:cSld>
  <p:clrMapOvr>
    <a:masterClrMapping/>
  </p:clrMapOvr>
  <p:transition spd="fast" advClick="1">
    <p:fade/>
  </p:transition>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05  ·  LAB 13</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13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Create the lab folder and the sensitive sour</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1 of 8</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Apply MASKING</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3 of 8</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Apply PSEUDONYMISATION</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5 of 8</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Test the re-identification risk</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7 of 8</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Save the release-ready pseudonymised extract</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8 of 8</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classification matrix for every column plus three protected versions of the dataset (masked, de-identified, pseudonymised) with the analysis still working.</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05  ·  LAB 13</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13 — Classify, Mask and De-Identify a Dataset (PDPA/GDPR) — Procedure 1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Create the lab folder and the sensitive source extract.</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0"/>
              </a:spcAft>
            </a:pPr>
            <a:r>
              <a:rPr sz="640" b="0">
                <a:solidFill>
                  <a:srgbClr val="9CDCFE"/>
                </a:solidFill>
                <a:latin typeface="Arial"/>
              </a:rPr>
              <a:t>$ mkdir -p ~/dataplus/lab13 &amp;&amp; cd ~/dataplus/lab13 &amp;&amp; printf 'cust_id,name,nric,email,postal,dept,salary\n1,Mei</a:t>
            </a:r>
          </a:p>
          <a:p>
            <a:pPr algn="l">
              <a:spcAft>
                <a:spcPts val="0"/>
              </a:spcAft>
            </a:pPr>
            <a:r>
              <a:rPr sz="640" b="0">
                <a:solidFill>
                  <a:srgbClr val="9CDCFE"/>
                </a:solidFill>
                <a:latin typeface="Arial"/>
              </a:rPr>
              <a:t>   Tan,S1234567A,mei.tan@example.sg,738099,Ops,4200\n2,Ravi Kumar,S2345678B,ravi.k@example.sg,600123,Sales,4500\n3,Siti</a:t>
            </a:r>
          </a:p>
          <a:p>
            <a:pPr algn="l">
              <a:spcAft>
                <a:spcPts val="0"/>
              </a:spcAft>
            </a:pPr>
            <a:r>
              <a:rPr sz="640" b="0">
                <a:solidFill>
                  <a:srgbClr val="9CDCFE"/>
                </a:solidFill>
                <a:latin typeface="Arial"/>
              </a:rPr>
              <a:t>   Nur,S3456789C,siti@example.sg,310045,Tech,5200\n4,John Lee,S4567890D,john.lee@example.sg,529536,Ops,3900\n' &gt;</a:t>
            </a:r>
          </a:p>
          <a:p>
            <a:pPr algn="l">
              <a:spcAft>
                <a:spcPts val="0"/>
              </a:spcAft>
            </a:pPr>
            <a:r>
              <a:rPr sz="640" b="0">
                <a:solidFill>
                  <a:srgbClr val="9CDCFE"/>
                </a:solidFill>
                <a:latin typeface="Arial"/>
              </a:rPr>
              <a:t>   customers.csv</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2871216"/>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CLASSIFY first. For each column write down its classification (public / internal / sensitive / confidential) and its data type tag (PII, PIFI, none). NRIC is confidential PII; salary is sensitive PIFI; dept is internal.</a:t>
            </a:r>
          </a:p>
        </p:txBody>
      </p:sp>
      <p:sp>
        <p:nvSpPr>
          <p:cNvPr id="19" name="Rectangle 18"/>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3" name="TextBox 22"/>
          <p:cNvSpPr txBox="1"/>
          <p:nvPr/>
        </p:nvSpPr>
        <p:spPr>
          <a:xfrm>
            <a:off x="1481328" y="4023360"/>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Apply MASKING — the value stays partly visible so it can still be recognised by an authorised human.</a:t>
            </a:r>
          </a:p>
        </p:txBody>
      </p:sp>
      <p:sp>
        <p:nvSpPr>
          <p:cNvPr id="24" name="Rectangle 23"/>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627632" y="4389120"/>
            <a:ext cx="9326880" cy="530352"/>
          </a:xfrm>
          <a:prstGeom prst="rect">
            <a:avLst/>
          </a:prstGeom>
          <a:noFill/>
        </p:spPr>
        <p:txBody>
          <a:bodyPr wrap="square" anchor="ctr">
            <a:spAutoFit/>
          </a:bodyPr>
          <a:lstStyle/>
          <a:p>
            <a:pPr algn="l">
              <a:spcAft>
                <a:spcPts val="0"/>
              </a:spcAft>
            </a:pPr>
            <a:r>
              <a:rPr sz="640" b="0">
                <a:solidFill>
                  <a:srgbClr val="9CDCFE"/>
                </a:solidFill>
                <a:latin typeface="Arial"/>
              </a:rPr>
              <a:t>$ python3 -c "import pandas as pd;</a:t>
            </a:r>
          </a:p>
          <a:p>
            <a:pPr algn="l">
              <a:spcAft>
                <a:spcPts val="0"/>
              </a:spcAft>
            </a:pPr>
            <a:r>
              <a:rPr sz="640" b="0">
                <a:solidFill>
                  <a:srgbClr val="9CDCFE"/>
                </a:solidFill>
                <a:latin typeface="Arial"/>
              </a:rPr>
              <a:t>   d=pd.read_csv('customers.csv');</a:t>
            </a:r>
          </a:p>
          <a:p>
            <a:pPr algn="l">
              <a:spcAft>
                <a:spcPts val="0"/>
              </a:spcAft>
            </a:pPr>
            <a:r>
              <a:rPr sz="640" b="0">
                <a:solidFill>
                  <a:srgbClr val="9CDCFE"/>
                </a:solidFill>
                <a:latin typeface="Arial"/>
              </a:rPr>
              <a:t>   d['nric']=d.nric.str[0]+'****'+d.nric.str[-1];</a:t>
            </a:r>
          </a:p>
          <a:p>
            <a:pPr algn="l">
              <a:spcAft>
                <a:spcPts val="0"/>
              </a:spcAft>
            </a:pPr>
            <a:r>
              <a:rPr sz="640" b="0">
                <a:solidFill>
                  <a:srgbClr val="9CDCFE"/>
                </a:solidFill>
                <a:latin typeface="Arial"/>
              </a:rPr>
              <a:t>   d['email']=d.email.str.replace(r'(.).*(@.*)',r'\1****\2',regex=True);</a:t>
            </a:r>
          </a:p>
          <a:p>
            <a:pPr algn="l">
              <a:spcAft>
                <a:spcPts val="0"/>
              </a:spcAft>
            </a:pPr>
            <a:r>
              <a:rPr sz="640" b="0">
                <a:solidFill>
                  <a:srgbClr val="9CDCFE"/>
                </a:solidFill>
                <a:latin typeface="Arial"/>
              </a:rPr>
              <a:t>   print(d[['cust_id','name','nric','email']])"</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Tree>
  </p:cSld>
  <p:clrMapOvr>
    <a:masterClrMapping/>
  </p:clrMapOvr>
  <p:transition spd="fast" advClick="1">
    <p:fade/>
  </p:transition>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05  ·  LAB 13</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13 — Classify, Mask and De-Identify a Dataset (PDPA/GDPR) — Procedure 2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Apply DE-IDENTIFICATION — the identifying columns are removed outright.</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0"/>
              </a:spcAft>
            </a:pPr>
            <a:r>
              <a:rPr sz="640" b="0">
                <a:solidFill>
                  <a:srgbClr val="9CDCFE"/>
                </a:solidFill>
                <a:latin typeface="Arial"/>
              </a:rPr>
              <a:t>$ python3 -c "import pandas as pd;</a:t>
            </a:r>
          </a:p>
          <a:p>
            <a:pPr algn="l">
              <a:spcAft>
                <a:spcPts val="0"/>
              </a:spcAft>
            </a:pPr>
            <a:r>
              <a:rPr sz="640" b="0">
                <a:solidFill>
                  <a:srgbClr val="9CDCFE"/>
                </a:solidFill>
                <a:latin typeface="Arial"/>
              </a:rPr>
              <a:t>   d=pd.read_csv('customers.csv');</a:t>
            </a:r>
          </a:p>
          <a:p>
            <a:pPr algn="l">
              <a:spcAft>
                <a:spcPts val="0"/>
              </a:spcAft>
            </a:pPr>
            <a:r>
              <a:rPr sz="640" b="0">
                <a:solidFill>
                  <a:srgbClr val="9CDCFE"/>
                </a:solidFill>
                <a:latin typeface="Arial"/>
              </a:rPr>
              <a:t>   deid=d.drop(columns=['name','nric','email']);</a:t>
            </a:r>
          </a:p>
          <a:p>
            <a:pPr algn="l">
              <a:spcAft>
                <a:spcPts val="0"/>
              </a:spcAft>
            </a:pPr>
            <a:r>
              <a:rPr sz="640" b="0">
                <a:solidFill>
                  <a:srgbClr val="9CDCFE"/>
                </a:solidFill>
                <a:latin typeface="Arial"/>
              </a:rPr>
              <a:t>   print(deid)"</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Apply PSEUDONYMISATION — replace the identifier with a non-reversible surrogate INDEX FIELD.</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0"/>
              </a:spcAft>
            </a:pPr>
            <a:r>
              <a:rPr sz="640" b="0">
                <a:solidFill>
                  <a:srgbClr val="9CDCFE"/>
                </a:solidFill>
                <a:latin typeface="Arial"/>
              </a:rPr>
              <a:t>$ python3 -c "import pandas as pd,hashlib;</a:t>
            </a:r>
          </a:p>
          <a:p>
            <a:pPr algn="l">
              <a:spcAft>
                <a:spcPts val="0"/>
              </a:spcAft>
            </a:pPr>
            <a:r>
              <a:rPr sz="640" b="0">
                <a:solidFill>
                  <a:srgbClr val="9CDCFE"/>
                </a:solidFill>
                <a:latin typeface="Arial"/>
              </a:rPr>
              <a:t>   d=pd.read_csv('customers.csv');</a:t>
            </a:r>
          </a:p>
          <a:p>
            <a:pPr algn="l">
              <a:spcAft>
                <a:spcPts val="0"/>
              </a:spcAft>
            </a:pPr>
            <a:r>
              <a:rPr sz="640" b="0">
                <a:solidFill>
                  <a:srgbClr val="9CDCFE"/>
                </a:solidFill>
                <a:latin typeface="Arial"/>
              </a:rPr>
              <a:t>   d['subject_key']=d.nric.map(lambda v: hashlib.sha256(v.encode()).hexdigest()[:12]);</a:t>
            </a:r>
          </a:p>
          <a:p>
            <a:pPr algn="l">
              <a:spcAft>
                <a:spcPts val="0"/>
              </a:spcAft>
            </a:pPr>
            <a:r>
              <a:rPr sz="640" b="0">
                <a:solidFill>
                  <a:srgbClr val="9CDCFE"/>
                </a:solidFill>
                <a:latin typeface="Arial"/>
              </a:rPr>
              <a:t>   print(d[['cust_id','subject_key','dept','salary']])"</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25" name="TextBox 24"/>
          <p:cNvSpPr txBox="1"/>
          <p:nvPr/>
        </p:nvSpPr>
        <p:spPr>
          <a:xfrm>
            <a:off x="1481328" y="4023360"/>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Prove the ANALYSIS STILL WORKS on the protected data — this is the whole point of the technique.</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0"/>
              </a:spcAft>
            </a:pPr>
            <a:r>
              <a:rPr sz="640" b="0">
                <a:solidFill>
                  <a:srgbClr val="9CDCFE"/>
                </a:solidFill>
                <a:latin typeface="Arial"/>
              </a:rPr>
              <a:t>$ python3 -c "import pandas as pd,hashlib;</a:t>
            </a:r>
          </a:p>
          <a:p>
            <a:pPr algn="l">
              <a:spcAft>
                <a:spcPts val="0"/>
              </a:spcAft>
            </a:pPr>
            <a:r>
              <a:rPr sz="640" b="0">
                <a:solidFill>
                  <a:srgbClr val="9CDCFE"/>
                </a:solidFill>
                <a:latin typeface="Arial"/>
              </a:rPr>
              <a:t>   d=pd.read_csv('customers.csv');</a:t>
            </a:r>
          </a:p>
          <a:p>
            <a:pPr algn="l">
              <a:spcAft>
                <a:spcPts val="0"/>
              </a:spcAft>
            </a:pPr>
            <a:r>
              <a:rPr sz="640" b="0">
                <a:solidFill>
                  <a:srgbClr val="9CDCFE"/>
                </a:solidFill>
                <a:latin typeface="Arial"/>
              </a:rPr>
              <a:t>   d['subject_key']=d.nric.map(lambda v: hashlib.sha256(v.encode()).hexdigest()[:12]);</a:t>
            </a:r>
          </a:p>
          <a:p>
            <a:pPr algn="l">
              <a:spcAft>
                <a:spcPts val="0"/>
              </a:spcAft>
            </a:pPr>
            <a:r>
              <a:rPr sz="640" b="0">
                <a:solidFill>
                  <a:srgbClr val="9CDCFE"/>
                </a:solidFill>
                <a:latin typeface="Arial"/>
              </a:rPr>
              <a:t>   print(d.groupby('dept').salary.mean().round(2))"</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p:transition spd="fast" advClick="1">
    <p:fade/>
  </p:transition>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05  ·  LAB 13</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13 — Classify, Mask and De-Identify a Dataset (PDPA/GDPR) — Procedure 3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050" b="1">
                <a:solidFill>
                  <a:srgbClr val="161B26"/>
                </a:solidFill>
                <a:latin typeface="Arial"/>
              </a:rPr>
              <a:t>Test the re-identification risk. With only 4 rows, does the postal code alone identify someone? Discuss why small groups defeat de-identification (the k-anonymity problem).</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0"/>
              </a:spcAft>
            </a:pPr>
            <a:r>
              <a:rPr sz="1050" b="0">
                <a:solidFill>
                  <a:srgbClr val="9CDCFE"/>
                </a:solidFill>
                <a:latin typeface="Arial"/>
              </a:rPr>
              <a:t>$ python3 -c "import pandas as pd;d=pd.read_csv('customers.csv');print(d.groupby('postal').size())"</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Save the release-ready pseudonymised extract and note who may access it under which role.</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0"/>
              </a:spcAft>
            </a:pPr>
            <a:r>
              <a:rPr sz="780" b="0">
                <a:solidFill>
                  <a:srgbClr val="9CDCFE"/>
                </a:solidFill>
                <a:latin typeface="Arial"/>
              </a:rPr>
              <a:t>$ python3 -c "import pandas as pd,hashlib;d=pd.read_csv('customers.csv');d['subject_key']=d.nric.map(lambda v:</a:t>
            </a:r>
          </a:p>
          <a:p>
            <a:pPr algn="l">
              <a:spcAft>
                <a:spcPts val="0"/>
              </a:spcAft>
            </a:pPr>
            <a:r>
              <a:rPr sz="780" b="0">
                <a:solidFill>
                  <a:srgbClr val="9CDCFE"/>
                </a:solidFill>
                <a:latin typeface="Arial"/>
              </a:rPr>
              <a:t>   hashlib.sha256(v.encode()).hexdigest()[:12]);d[['subject_key','postal','dept',</a:t>
            </a:r>
          </a:p>
          <a:p>
            <a:pPr algn="l">
              <a:spcAft>
                <a:spcPts val="0"/>
              </a:spcAft>
            </a:pPr>
            <a:r>
              <a:rPr sz="780" b="0">
                <a:solidFill>
                  <a:srgbClr val="9CDCFE"/>
                </a:solidFill>
                <a:latin typeface="Arial"/>
              </a:rPr>
              <a:t>   'salary']].to_csv('customers_release.csv',index=False)" &amp;&amp; cat customers_release.csv</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p:transition spd="fast" advClick="1">
    <p:fade/>
  </p:transition>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05  ·  LAB 13</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13 — Verify Your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Masking shows S****A. De-identification drops three columns. Pseudonymisation gives a stable 12-character key, and the departmental salary averages (Ops 4050, Sales 4500, Tech 5200) are identical to the originals.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email regex did not mask</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Confirm regex=True is passed to str.replace and the backreferences use \1 and \2.</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hash changes between runs</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SHA-256 is deterministic — if it changes, your input has stray whitespace. Strip it first.</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Every postal group has size 1</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Exactly the point — with n=4 every quasi-identifier is unique, so de-identification alone is not enough. Record that finding.</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p:transition spd="fast" advClick="1">
    <p:fade/>
  </p:transition>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05  ·  LAB 14</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Lab 14 — Assess Data-Leakage Risk and Set Access Controls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14</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Summarize compliance requirements; compare privacy and protection strategies (Domain 5); LO5 / A4.</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Governance is a set of decisions, not a document. You use the Cybersecurity Threat Simulator's data-leakage risk estimator to score a realistic set of handling practices, then translate the score into a concrete role-based access matrix and a retention schedule for the Lab 13 dataset.</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completed risk assessment with a before/after score, a role-based access control matrix, and a retention &amp; destruction schedule.</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Cybersecurity Threat Simulator (https://alfredang.github.io/cybersecuritysimulator/), the Lab 13 dataset</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Your risk score drops from Critical to Medium or lower once encryption, RBAC, review and retention are enabled. Your access matrix gives the Analyst the pseudonymised release ONLY, never the raw NRIC.</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p:transition spd="fast" advClick="1">
    <p:fade/>
  </p:transition>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05  ·  LAB 14</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14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Open the Cybersecurity Threat Simulator and</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1 of 8</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Now switch on the controls one at a time</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3 of 8</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Open the Password Strength Analyzer and test</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5 of 8</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Write the RETENTION SCHEDULE: how long is ea</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7 of 8</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Map each decision to its compliance driver</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8 of 8</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completed risk assessment with a before/after score, a role-based access control matrix, and a retention &amp; destruction schedule.</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05  ·  LAB 14</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14 — Assess Data-Leakage Risk and Set Access Controls — Procedure 1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55648"/>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Open the Cybersecurity Threat Simulator and go to the Data Leakage Risk Estimator.</a:t>
            </a:r>
          </a:p>
        </p:txBody>
      </p:sp>
      <p:sp>
        <p:nvSpPr>
          <p:cNvPr id="12" name="Rectangle 11"/>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6" name="TextBox 15"/>
          <p:cNvSpPr txBox="1"/>
          <p:nvPr/>
        </p:nvSpPr>
        <p:spPr>
          <a:xfrm>
            <a:off x="1481328" y="2871216"/>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Set the toggles to describe a BAD baseline: no encryption, shared logins, no access review, data kept forever. Record the risk score and its level (Critical / High / Medium).</a:t>
            </a:r>
          </a:p>
        </p:txBody>
      </p:sp>
      <p:sp>
        <p:nvSpPr>
          <p:cNvPr id="17" name="Rectangle 16"/>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1" name="TextBox 20"/>
          <p:cNvSpPr txBox="1"/>
          <p:nvPr/>
        </p:nvSpPr>
        <p:spPr>
          <a:xfrm>
            <a:off x="1481328" y="3986784"/>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Now switch on the controls one at a time — encryption at rest, role-based access, periodic review, defined retention. Record how much each single control moves the score.</a:t>
            </a:r>
          </a:p>
        </p:txBody>
      </p:sp>
      <p:sp>
        <p:nvSpPr>
          <p:cNvPr id="22" name="Rectangle 21"/>
          <p:cNvSpPr/>
          <p:nvPr/>
        </p:nvSpPr>
        <p:spPr>
          <a:xfrm>
            <a:off x="777240" y="5102352"/>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102352"/>
            <a:ext cx="82296" cy="10241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69264" y="5431536"/>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9264" y="543153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26" name="TextBox 25"/>
          <p:cNvSpPr txBox="1"/>
          <p:nvPr/>
        </p:nvSpPr>
        <p:spPr>
          <a:xfrm>
            <a:off x="1481328" y="5102352"/>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Note which single control reduced the risk most. That is where governance effort pays off first.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p:transition spd="fast" advClick="1">
    <p:fade/>
  </p:transition>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05  ·  LAB 14</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14 — Assess Data-Leakage Risk and Set Access Controls — Procedure 2 of 2</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1" name="TextBox 10"/>
          <p:cNvSpPr txBox="1"/>
          <p:nvPr/>
        </p:nvSpPr>
        <p:spPr>
          <a:xfrm>
            <a:off x="1481328" y="1755648"/>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Open the Password Strength Analyzer and test a weak versus a strong credential — this is the access control layer protecting everything you built in Lab 13.</a:t>
            </a:r>
          </a:p>
        </p:txBody>
      </p:sp>
      <p:sp>
        <p:nvSpPr>
          <p:cNvPr id="12" name="Rectangle 11"/>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16" name="TextBox 15"/>
          <p:cNvSpPr txBox="1"/>
          <p:nvPr/>
        </p:nvSpPr>
        <p:spPr>
          <a:xfrm>
            <a:off x="1481328" y="2871216"/>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Build the ACCESS MATRIX for the Lab 13 dataset. For each of the four roles (Data Owner, Data Steward, Data Custodian, Analyst) decide access to: raw NRIC, masked extract, pseudonymised release, salary.</a:t>
            </a:r>
          </a:p>
        </p:txBody>
      </p:sp>
      <p:sp>
        <p:nvSpPr>
          <p:cNvPr id="17" name="Rectangle 16"/>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21" name="TextBox 20"/>
          <p:cNvSpPr txBox="1"/>
          <p:nvPr/>
        </p:nvSpPr>
        <p:spPr>
          <a:xfrm>
            <a:off x="1481328" y="3986784"/>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Write the RETENTION SCHEDULE: how long is each artefact kept, what triggers destruction, and which method is used (removal vs destruction vs sanitisation)?</a:t>
            </a:r>
          </a:p>
        </p:txBody>
      </p:sp>
      <p:sp>
        <p:nvSpPr>
          <p:cNvPr id="22" name="Rectangle 21"/>
          <p:cNvSpPr/>
          <p:nvPr/>
        </p:nvSpPr>
        <p:spPr>
          <a:xfrm>
            <a:off x="777240" y="5102352"/>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5102352"/>
            <a:ext cx="82296" cy="10241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69264" y="5431536"/>
            <a:ext cx="365760" cy="36576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9264" y="5431536"/>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26" name="TextBox 25"/>
          <p:cNvSpPr txBox="1"/>
          <p:nvPr/>
        </p:nvSpPr>
        <p:spPr>
          <a:xfrm>
            <a:off x="1481328" y="5102352"/>
            <a:ext cx="9692640" cy="1024128"/>
          </a:xfrm>
          <a:prstGeom prst="rect">
            <a:avLst/>
          </a:prstGeom>
          <a:noFill/>
        </p:spPr>
        <p:txBody>
          <a:bodyPr wrap="square" anchor="ctr">
            <a:spAutoFit/>
          </a:bodyPr>
          <a:lstStyle/>
          <a:p>
            <a:pPr algn="l">
              <a:spcAft>
                <a:spcPts val="400"/>
              </a:spcAft>
            </a:pPr>
            <a:r>
              <a:rPr sz="1250" b="0">
                <a:solidFill>
                  <a:srgbClr val="161B26"/>
                </a:solidFill>
                <a:latin typeface="Arial"/>
              </a:rPr>
              <a:t>Map each decision to its compliance driver — Singapore PDPA for the personal data, and the organisation's own audit requirement for the retention log.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p:transition spd="fast" advClick="1">
    <p:fade/>
  </p:transition>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05  ·  LAB 14</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14 — Verify Your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Your risk score drops from Critical to Medium or lower once encryption, RBAC, review and retention are enabled. Your access matrix gives the Analyst the pseudonymised release ONLY, never the raw NRIC.</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score does not change</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Some toggles only affect certain threat categories. Change one at a time and re-read the score after each.</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Unsure which role gets what</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Apply least privilege: the Analyst needs the analytical columns, never the identifiers. Only the Data Owner authorises raw access.</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Retention period unclear</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Where no statutory period applies, set it from business need and document the rationale — an undocumented period is itself an audit finding.</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200</a:t>
            </a:r>
          </a:p>
        </p:txBody>
      </p:sp>
    </p:spTree>
  </p:cSld>
  <p:clrMapOvr>
    <a:masterClrMapping/>
  </p:clrMapOvr>
  <p:transition spd="fast" advClick="1">
    <p:fade/>
  </p:transition>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05  ·  LAB 15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500" b="1">
                <a:solidFill>
                  <a:srgbClr val="161B26"/>
                </a:solidFill>
                <a:latin typeface="Arial"/>
              </a:rPr>
              <a:t>Lab 15 — Automated Quality Assurance: Profile, Rule, Monitor</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19072"/>
            <a:ext cx="155448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1554480" cy="420624"/>
          </a:xfrm>
          <a:prstGeom prst="rect">
            <a:avLst/>
          </a:prstGeom>
          <a:noFill/>
        </p:spPr>
        <p:txBody>
          <a:bodyPr wrap="square" anchor="ctr">
            <a:spAutoFit/>
          </a:bodyPr>
          <a:lstStyle/>
          <a:p>
            <a:pPr algn="ctr">
              <a:spcAft>
                <a:spcPts val="400"/>
              </a:spcAft>
            </a:pPr>
            <a:r>
              <a:rPr sz="1500" b="1">
                <a:solidFill>
                  <a:srgbClr val="FFFFFF"/>
                </a:solidFill>
                <a:latin typeface="Arial"/>
              </a:rPr>
              <a:t>LAB 15</a:t>
            </a:r>
          </a:p>
        </p:txBody>
      </p:sp>
      <p:sp>
        <p:nvSpPr>
          <p:cNvPr id="9" name="TextBox 8"/>
          <p:cNvSpPr txBox="1"/>
          <p:nvPr/>
        </p:nvSpPr>
        <p:spPr>
          <a:xfrm>
            <a:off x="2487168" y="1719072"/>
            <a:ext cx="8869680" cy="420624"/>
          </a:xfrm>
          <a:prstGeom prst="rect">
            <a:avLst/>
          </a:prstGeom>
          <a:noFill/>
        </p:spPr>
        <p:txBody>
          <a:bodyPr wrap="square" anchor="ctr">
            <a:spAutoFit/>
          </a:bodyPr>
          <a:lstStyle/>
          <a:p>
            <a:pPr algn="l">
              <a:spcAft>
                <a:spcPts val="400"/>
              </a:spcAft>
            </a:pPr>
            <a:r>
              <a:rPr sz="1200" b="0">
                <a:solidFill>
                  <a:srgbClr val="5B6372"/>
                </a:solidFill>
                <a:latin typeface="Arial"/>
              </a:rPr>
              <a:t>Implement quality assurance: profiling, monitoring and testing for data quality; explain data management practices (Domain 5); LO5 / A4.</a:t>
            </a:r>
          </a:p>
        </p:txBody>
      </p:sp>
      <p:sp>
        <p:nvSpPr>
          <p:cNvPr id="10" name="TextBox 9"/>
          <p:cNvSpPr txBox="1"/>
          <p:nvPr/>
        </p:nvSpPr>
        <p:spPr>
          <a:xfrm>
            <a:off x="777240" y="2286000"/>
            <a:ext cx="10634472" cy="1051560"/>
          </a:xfrm>
          <a:prstGeom prst="rect">
            <a:avLst/>
          </a:prstGeom>
          <a:noFill/>
        </p:spPr>
        <p:txBody>
          <a:bodyPr wrap="square" anchor="t">
            <a:spAutoFit/>
          </a:bodyPr>
          <a:lstStyle/>
          <a:p>
            <a:pPr algn="l">
              <a:spcAft>
                <a:spcPts val="400"/>
              </a:spcAft>
            </a:pPr>
            <a:r>
              <a:rPr sz="1700" b="0">
                <a:solidFill>
                  <a:srgbClr val="161B26"/>
                </a:solidFill>
                <a:latin typeface="Arial"/>
              </a:rPr>
              <a:t>The capstone governance lab. You write an automated data-quality suite that tests a daily feed against explicit rules across the exam's quality dimensions — completeness, accuracy, consistency, uniqueness and validity — then run it against a clean file and a broken one so it proves it can actually fail.</a:t>
            </a:r>
          </a:p>
        </p:txBody>
      </p:sp>
      <p:sp>
        <p:nvSpPr>
          <p:cNvPr id="11" name="Rectangle 10"/>
          <p:cNvSpPr/>
          <p:nvPr/>
        </p:nvSpPr>
        <p:spPr>
          <a:xfrm>
            <a:off x="777240"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74720"/>
            <a:ext cx="3392424"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96696" y="3639312"/>
            <a:ext cx="2980944" cy="310896"/>
          </a:xfrm>
          <a:prstGeom prst="rect">
            <a:avLst/>
          </a:prstGeom>
          <a:noFill/>
        </p:spPr>
        <p:txBody>
          <a:bodyPr wrap="square" anchor="t">
            <a:spAutoFit/>
          </a:bodyPr>
          <a:lstStyle/>
          <a:p>
            <a:pPr algn="l">
              <a:spcAft>
                <a:spcPts val="400"/>
              </a:spcAft>
            </a:pPr>
            <a:r>
              <a:rPr sz="1100" b="1">
                <a:solidFill>
                  <a:srgbClr val="1F6FEB"/>
                </a:solidFill>
                <a:latin typeface="Arial"/>
              </a:rPr>
              <a:t>YOU'LL BUILD</a:t>
            </a:r>
          </a:p>
        </p:txBody>
      </p:sp>
      <p:sp>
        <p:nvSpPr>
          <p:cNvPr id="14" name="TextBox 13"/>
          <p:cNvSpPr txBox="1"/>
          <p:nvPr/>
        </p:nvSpPr>
        <p:spPr>
          <a:xfrm>
            <a:off x="996696"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A reusable dq_check.py suite that scores five quality dimensions, exits non-zero on failure, and produces a dated quality report.</a:t>
            </a:r>
          </a:p>
        </p:txBody>
      </p:sp>
      <p:sp>
        <p:nvSpPr>
          <p:cNvPr id="15" name="Rectangle 14"/>
          <p:cNvSpPr/>
          <p:nvPr/>
        </p:nvSpPr>
        <p:spPr>
          <a:xfrm>
            <a:off x="4398264"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98264" y="3474720"/>
            <a:ext cx="3392424"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17720" y="3639312"/>
            <a:ext cx="2980944" cy="310896"/>
          </a:xfrm>
          <a:prstGeom prst="rect">
            <a:avLst/>
          </a:prstGeom>
          <a:noFill/>
        </p:spPr>
        <p:txBody>
          <a:bodyPr wrap="square" anchor="t">
            <a:spAutoFit/>
          </a:bodyPr>
          <a:lstStyle/>
          <a:p>
            <a:pPr algn="l">
              <a:spcAft>
                <a:spcPts val="400"/>
              </a:spcAft>
            </a:pPr>
            <a:r>
              <a:rPr sz="1100" b="1">
                <a:solidFill>
                  <a:srgbClr val="10B981"/>
                </a:solidFill>
                <a:latin typeface="Arial"/>
              </a:rPr>
              <a:t>TOOLCHAIN</a:t>
            </a:r>
          </a:p>
        </p:txBody>
      </p:sp>
      <p:sp>
        <p:nvSpPr>
          <p:cNvPr id="18" name="TextBox 17"/>
          <p:cNvSpPr txBox="1"/>
          <p:nvPr/>
        </p:nvSpPr>
        <p:spPr>
          <a:xfrm>
            <a:off x="4617720"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Killercoda Ubuntu, Python 3, pandas</a:t>
            </a:r>
          </a:p>
        </p:txBody>
      </p:sp>
      <p:sp>
        <p:nvSpPr>
          <p:cNvPr id="19" name="Rectangle 18"/>
          <p:cNvSpPr/>
          <p:nvPr/>
        </p:nvSpPr>
        <p:spPr>
          <a:xfrm>
            <a:off x="8019288" y="3474720"/>
            <a:ext cx="3392424" cy="1874519"/>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19288" y="3474720"/>
            <a:ext cx="3392424"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38744" y="3639312"/>
            <a:ext cx="2980944" cy="310896"/>
          </a:xfrm>
          <a:prstGeom prst="rect">
            <a:avLst/>
          </a:prstGeom>
          <a:noFill/>
        </p:spPr>
        <p:txBody>
          <a:bodyPr wrap="square" anchor="t">
            <a:spAutoFit/>
          </a:bodyPr>
          <a:lstStyle/>
          <a:p>
            <a:pPr algn="l">
              <a:spcAft>
                <a:spcPts val="400"/>
              </a:spcAft>
            </a:pPr>
            <a:r>
              <a:rPr sz="1100" b="1">
                <a:solidFill>
                  <a:srgbClr val="7C3AED"/>
                </a:solidFill>
                <a:latin typeface="Arial"/>
              </a:rPr>
              <a:t>DONE WHEN</a:t>
            </a:r>
          </a:p>
        </p:txBody>
      </p:sp>
      <p:sp>
        <p:nvSpPr>
          <p:cNvPr id="22" name="TextBox 21"/>
          <p:cNvSpPr txBox="1"/>
          <p:nvPr/>
        </p:nvSpPr>
        <p:spPr>
          <a:xfrm>
            <a:off x="8238744" y="3968496"/>
            <a:ext cx="2980944" cy="1280160"/>
          </a:xfrm>
          <a:prstGeom prst="rect">
            <a:avLst/>
          </a:prstGeom>
          <a:noFill/>
        </p:spPr>
        <p:txBody>
          <a:bodyPr wrap="square" anchor="t">
            <a:spAutoFit/>
          </a:bodyPr>
          <a:lstStyle/>
          <a:p>
            <a:pPr algn="l">
              <a:spcAft>
                <a:spcPts val="400"/>
              </a:spcAft>
            </a:pPr>
            <a:r>
              <a:rPr sz="1200" b="0">
                <a:solidFill>
                  <a:srgbClr val="161B26"/>
                </a:solidFill>
                <a:latin typeface="Arial"/>
              </a:rPr>
              <a:t>feed_good.csv scores 5/5 and exits 0. feed_bad.csv fails completeness, uniqueness, validity and consistency — 1/5 — and exits 1, so the 'LOAD BLOCKED' branch fires.</a:t>
            </a:r>
          </a:p>
        </p:txBody>
      </p:sp>
      <p:sp>
        <p:nvSpPr>
          <p:cNvPr id="23" name="TextBox 2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4" name="TextBox 2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5" name="TextBox 2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201</a:t>
            </a:r>
          </a:p>
        </p:txBody>
      </p:sp>
    </p:spTree>
  </p:cSld>
  <p:clrMapOvr>
    <a:masterClrMapping/>
  </p:clrMapOvr>
  <p:transition spd="fast" advClick="1">
    <p:fade/>
  </p:transition>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05  ·  LAB 15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How Lab 15 Runs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Create the lab folder and today's clean feed</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1 of 8</a:t>
            </a:r>
          </a:p>
        </p:txBody>
      </p:sp>
      <p:cxnSp>
        <p:nvCxnSpPr>
          <p:cNvPr id="13" name="Connector 12"/>
          <p:cNvCxnSpPr/>
          <p:nvPr/>
        </p:nvCxnSpPr>
        <p:spPr>
          <a:xfrm>
            <a:off x="2651760"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Write the quality suite</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3 of 8</a:t>
            </a:r>
          </a:p>
        </p:txBody>
      </p:sp>
      <p:cxnSp>
        <p:nvCxnSpPr>
          <p:cNvPr id="20" name="Connector 19"/>
          <p:cNvCxnSpPr/>
          <p:nvPr/>
        </p:nvCxnSpPr>
        <p:spPr>
          <a:xfrm>
            <a:off x="4855464"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200" b="1">
                <a:solidFill>
                  <a:srgbClr val="161B26"/>
                </a:solidFill>
                <a:latin typeface="Arial"/>
              </a:rPr>
              <a:t>Run it against the BROKEN feed</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5 of 8</a:t>
            </a:r>
          </a:p>
        </p:txBody>
      </p:sp>
      <p:cxnSp>
        <p:nvCxnSpPr>
          <p:cNvPr id="27" name="Connector 26"/>
          <p:cNvCxnSpPr/>
          <p:nvPr/>
        </p:nvCxnSpPr>
        <p:spPr>
          <a:xfrm>
            <a:off x="7059168"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Save a dated quality report so you build a q</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7 of 8</a:t>
            </a:r>
          </a:p>
        </p:txBody>
      </p:sp>
      <p:cxnSp>
        <p:nvCxnSpPr>
          <p:cNvPr id="34" name="Connector 33"/>
          <p:cNvCxnSpPr/>
          <p:nvPr/>
        </p:nvCxnSpPr>
        <p:spPr>
          <a:xfrm>
            <a:off x="9262872" y="3223260"/>
            <a:ext cx="274320" cy="0"/>
          </a:xfrm>
          <a:prstGeom prst="line">
            <a:avLst/>
          </a:prstGeom>
          <a:ln w="25400">
            <a:solidFill>
              <a:srgbClr val="10B981"/>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100" b="1">
                <a:solidFill>
                  <a:srgbClr val="161B26"/>
                </a:solidFill>
                <a:latin typeface="Arial"/>
              </a:rPr>
              <a:t>Add the lineage note: record the source, the</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step 8 of 8</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0B981"/>
                </a:solidFill>
                <a:latin typeface="Arial"/>
              </a:rPr>
              <a:t>YOU'LL PRODUCE</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 reusable dq_check.py suite that scores five quality dimensions, exits non-zero on failure, and produces a dated quality report.</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202</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05  ·  LAB 15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15 — Automated Quality Assurance: Profile, Rule, Monitor — Procedure 1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1</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Create the lab folder and today's clean feed.</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0"/>
              </a:spcAft>
            </a:pPr>
            <a:r>
              <a:rPr sz="780" b="0">
                <a:solidFill>
                  <a:srgbClr val="9CDCFE"/>
                </a:solidFill>
                <a:latin typeface="Arial"/>
              </a:rPr>
              <a:t>$ mkdir -p ~/dataplus/lab15 &amp;&amp; cd ~/dataplus/lab15 &amp;&amp; printf</a:t>
            </a:r>
          </a:p>
          <a:p>
            <a:pPr algn="l">
              <a:spcAft>
                <a:spcPts val="0"/>
              </a:spcAft>
            </a:pPr>
            <a:r>
              <a:rPr sz="780" b="0">
                <a:solidFill>
                  <a:srgbClr val="9CDCFE"/>
                </a:solidFill>
                <a:latin typeface="Arial"/>
              </a:rPr>
              <a:t>   'order_id,customer_id,order_date,amount,status\n1,101,2025-03-01,240.50,SHIPPED\n2,102,2025-03-01,89.00,SHIPPED\n3,103</a:t>
            </a:r>
          </a:p>
          <a:p>
            <a:pPr algn="l">
              <a:spcAft>
                <a:spcPts val="0"/>
              </a:spcAft>
            </a:pPr>
            <a:r>
              <a:rPr sz="780" b="0">
                <a:solidFill>
                  <a:srgbClr val="9CDCFE"/>
                </a:solidFill>
                <a:latin typeface="Arial"/>
              </a:rPr>
              <a:t>   ,2025-03-02,145.25,PENDING\n4,104,2025-03-02,310.00,SHIPPED\n' &gt; feed_good.csv</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2</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Create tomorrow's BROKEN feed — a null, a duplicate id, a negative amount and an invalid status.</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0"/>
              </a:spcAft>
            </a:pPr>
            <a:r>
              <a:rPr sz="780" b="0">
                <a:solidFill>
                  <a:srgbClr val="9CDCFE"/>
                </a:solidFill>
                <a:latin typeface="Arial"/>
              </a:rPr>
              <a:t>$ printf</a:t>
            </a:r>
          </a:p>
          <a:p>
            <a:pPr algn="l">
              <a:spcAft>
                <a:spcPts val="0"/>
              </a:spcAft>
            </a:pPr>
            <a:r>
              <a:rPr sz="780" b="0">
                <a:solidFill>
                  <a:srgbClr val="9CDCFE"/>
                </a:solidFill>
                <a:latin typeface="Arial"/>
              </a:rPr>
              <a:t>   'order_id,customer_id,order_date,amount,status\n5,105,2025-03-03,120.00,SHIPPED\n6,,2025-03-03,75.00,SHIPPED\n6,107,20</a:t>
            </a:r>
          </a:p>
          <a:p>
            <a:pPr algn="l">
              <a:spcAft>
                <a:spcPts val="0"/>
              </a:spcAft>
            </a:pPr>
            <a:r>
              <a:rPr sz="780" b="0">
                <a:solidFill>
                  <a:srgbClr val="9CDCFE"/>
                </a:solidFill>
                <a:latin typeface="Arial"/>
              </a:rPr>
              <a:t>   25-03-03,-45.00,SHIPPED\n8,108,2025-03-03,99.00,TELEPORTED\n' &gt; feed_bad.csv</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3</a:t>
            </a:r>
          </a:p>
        </p:txBody>
      </p:sp>
      <p:sp>
        <p:nvSpPr>
          <p:cNvPr id="25" name="TextBox 24"/>
          <p:cNvSpPr txBox="1"/>
          <p:nvPr/>
        </p:nvSpPr>
        <p:spPr>
          <a:xfrm>
            <a:off x="1481328" y="4023360"/>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Write the quality suite — one function per quality dimension.</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0"/>
              </a:spcAft>
            </a:pPr>
            <a:r>
              <a:rPr sz="1050" b="0">
                <a:solidFill>
                  <a:srgbClr val="9CDCFE"/>
                </a:solidFill>
                <a:latin typeface="Arial"/>
              </a:rPr>
              <a:t>$ cat &gt; dq_check.py &lt;&lt;'EOF'   # full script in the Learner Guide / lab README</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203</a:t>
            </a:r>
          </a:p>
        </p:txBody>
      </p:sp>
    </p:spTree>
  </p:cSld>
  <p:clrMapOvr>
    <a:masterClrMapping/>
  </p:clrMapOvr>
  <p:transition spd="fast" advClick="1">
    <p:fade/>
  </p:transition>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05  ·  LAB 15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15 — Automated Quality Assurance: Profile, Rule, Monitor — Procedure 2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4</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Run the suite against the GOOD feed — it must pass all five and exit 0.</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0"/>
              </a:spcAft>
            </a:pPr>
            <a:r>
              <a:rPr sz="1050" b="0">
                <a:solidFill>
                  <a:srgbClr val="9CDCFE"/>
                </a:solidFill>
                <a:latin typeface="Arial"/>
              </a:rPr>
              <a:t>$ python3 dq_check.py feed_good.csv; echo "exit code: $?"</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5</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Run it against the BROKEN feed — it must fail four dimensions and exit 1.</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0"/>
              </a:spcAft>
            </a:pPr>
            <a:r>
              <a:rPr sz="1050" b="0">
                <a:solidFill>
                  <a:srgbClr val="9CDCFE"/>
                </a:solidFill>
                <a:latin typeface="Arial"/>
              </a:rPr>
              <a:t>$ python3 dq_check.py feed_bad.csv; echo "exit code: $?"</a:t>
            </a:r>
          </a:p>
        </p:txBody>
      </p:sp>
      <p:sp>
        <p:nvSpPr>
          <p:cNvPr id="21" name="Rectangle 20"/>
          <p:cNvSpPr/>
          <p:nvPr/>
        </p:nvSpPr>
        <p:spPr>
          <a:xfrm>
            <a:off x="777240" y="3986784"/>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77240" y="3986784"/>
            <a:ext cx="82296" cy="10241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315968"/>
            <a:ext cx="365760" cy="36576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315968"/>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6</a:t>
            </a:r>
          </a:p>
        </p:txBody>
      </p:sp>
      <p:sp>
        <p:nvSpPr>
          <p:cNvPr id="25" name="TextBox 24"/>
          <p:cNvSpPr txBox="1"/>
          <p:nvPr/>
        </p:nvSpPr>
        <p:spPr>
          <a:xfrm>
            <a:off x="1481328" y="4023360"/>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This exit code is what makes it MONITORING rather than a report — a scheduler can now block a bad load.</a:t>
            </a:r>
          </a:p>
        </p:txBody>
      </p:sp>
      <p:sp>
        <p:nvSpPr>
          <p:cNvPr id="26" name="Rectangle 25"/>
          <p:cNvSpPr/>
          <p:nvPr/>
        </p:nvSpPr>
        <p:spPr>
          <a:xfrm>
            <a:off x="1481328" y="4389120"/>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627632" y="4389120"/>
            <a:ext cx="9326880" cy="530352"/>
          </a:xfrm>
          <a:prstGeom prst="rect">
            <a:avLst/>
          </a:prstGeom>
          <a:noFill/>
        </p:spPr>
        <p:txBody>
          <a:bodyPr wrap="square" anchor="ctr">
            <a:spAutoFit/>
          </a:bodyPr>
          <a:lstStyle/>
          <a:p>
            <a:pPr algn="l">
              <a:spcAft>
                <a:spcPts val="0"/>
              </a:spcAft>
            </a:pPr>
            <a:r>
              <a:rPr sz="1050" b="0">
                <a:solidFill>
                  <a:srgbClr val="9CDCFE"/>
                </a:solidFill>
                <a:latin typeface="Arial"/>
              </a:rPr>
              <a:t>$ python3 dq_check.py feed_bad.csv &gt; /dev/null 2&gt;&amp;1 &amp;&amp; echo 'LOAD APPROVED' || echo 'LOAD BLOCKED - do not ingest'</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204</a:t>
            </a:r>
          </a:p>
        </p:txBody>
      </p:sp>
    </p:spTree>
  </p:cSld>
  <p:clrMapOvr>
    <a:masterClrMapping/>
  </p:clrMapOvr>
  <p:transition spd="fast" advClick="1">
    <p:fade/>
  </p:transition>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05  ·  LAB 15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200" b="1">
                <a:solidFill>
                  <a:srgbClr val="161B26"/>
                </a:solidFill>
                <a:latin typeface="Arial"/>
              </a:rPr>
              <a:t>Lab 15 — Automated Quality Assurance: Profile, Rule, Monitor — Procedure 3 of 3</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55648"/>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55648"/>
            <a:ext cx="82296" cy="10241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69264" y="2084832"/>
            <a:ext cx="365760" cy="3657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2084832"/>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7</a:t>
            </a:r>
          </a:p>
        </p:txBody>
      </p:sp>
      <p:sp>
        <p:nvSpPr>
          <p:cNvPr id="11" name="TextBox 10"/>
          <p:cNvSpPr txBox="1"/>
          <p:nvPr/>
        </p:nvSpPr>
        <p:spPr>
          <a:xfrm>
            <a:off x="1481328" y="1792224"/>
            <a:ext cx="9692640" cy="365760"/>
          </a:xfrm>
          <a:prstGeom prst="rect">
            <a:avLst/>
          </a:prstGeom>
          <a:noFill/>
        </p:spPr>
        <p:txBody>
          <a:bodyPr wrap="square" anchor="t">
            <a:spAutoFit/>
          </a:bodyPr>
          <a:lstStyle/>
          <a:p>
            <a:pPr algn="l">
              <a:spcAft>
                <a:spcPts val="400"/>
              </a:spcAft>
            </a:pPr>
            <a:r>
              <a:rPr sz="1200" b="1">
                <a:solidFill>
                  <a:srgbClr val="161B26"/>
                </a:solidFill>
                <a:latin typeface="Arial"/>
              </a:rPr>
              <a:t>Save a dated quality report so you build a quality history, not just a snapshot.</a:t>
            </a:r>
          </a:p>
        </p:txBody>
      </p:sp>
      <p:sp>
        <p:nvSpPr>
          <p:cNvPr id="12" name="Rectangle 11"/>
          <p:cNvSpPr/>
          <p:nvPr/>
        </p:nvSpPr>
        <p:spPr>
          <a:xfrm>
            <a:off x="1481328" y="2157984"/>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627632" y="2157984"/>
            <a:ext cx="9326880" cy="530352"/>
          </a:xfrm>
          <a:prstGeom prst="rect">
            <a:avLst/>
          </a:prstGeom>
          <a:noFill/>
        </p:spPr>
        <p:txBody>
          <a:bodyPr wrap="square" anchor="ctr">
            <a:spAutoFit/>
          </a:bodyPr>
          <a:lstStyle/>
          <a:p>
            <a:pPr algn="l">
              <a:spcAft>
                <a:spcPts val="0"/>
              </a:spcAft>
            </a:pPr>
            <a:r>
              <a:rPr sz="1050" b="0">
                <a:solidFill>
                  <a:srgbClr val="9CDCFE"/>
                </a:solidFill>
                <a:latin typeface="Arial"/>
              </a:rPr>
              <a:t>$ python3 dq_check.py feed_good.csv &gt; dq_report_$(date +%Y%m%d).txt; ls -1 dq_report_*.txt</a:t>
            </a:r>
          </a:p>
        </p:txBody>
      </p:sp>
      <p:sp>
        <p:nvSpPr>
          <p:cNvPr id="14" name="Rectangle 13"/>
          <p:cNvSpPr/>
          <p:nvPr/>
        </p:nvSpPr>
        <p:spPr>
          <a:xfrm>
            <a:off x="777240" y="2871216"/>
            <a:ext cx="10634472" cy="102412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2871216"/>
            <a:ext cx="82296" cy="10241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69264" y="3200400"/>
            <a:ext cx="365760" cy="3657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264" y="3200400"/>
            <a:ext cx="365760" cy="365760"/>
          </a:xfrm>
          <a:prstGeom prst="rect">
            <a:avLst/>
          </a:prstGeom>
          <a:noFill/>
        </p:spPr>
        <p:txBody>
          <a:bodyPr wrap="square" anchor="ctr">
            <a:spAutoFit/>
          </a:bodyPr>
          <a:lstStyle/>
          <a:p>
            <a:pPr algn="ctr">
              <a:spcAft>
                <a:spcPts val="400"/>
              </a:spcAft>
            </a:pPr>
            <a:r>
              <a:rPr sz="1300" b="1">
                <a:solidFill>
                  <a:srgbClr val="FFFFFF"/>
                </a:solidFill>
                <a:latin typeface="Arial"/>
              </a:rPr>
              <a:t>8</a:t>
            </a:r>
          </a:p>
        </p:txBody>
      </p:sp>
      <p:sp>
        <p:nvSpPr>
          <p:cNvPr id="18" name="TextBox 17"/>
          <p:cNvSpPr txBox="1"/>
          <p:nvPr/>
        </p:nvSpPr>
        <p:spPr>
          <a:xfrm>
            <a:off x="1481328" y="2907792"/>
            <a:ext cx="9692640" cy="365760"/>
          </a:xfrm>
          <a:prstGeom prst="rect">
            <a:avLst/>
          </a:prstGeom>
          <a:noFill/>
        </p:spPr>
        <p:txBody>
          <a:bodyPr wrap="square" anchor="t">
            <a:spAutoFit/>
          </a:bodyPr>
          <a:lstStyle/>
          <a:p>
            <a:pPr algn="l">
              <a:spcAft>
                <a:spcPts val="400"/>
              </a:spcAft>
            </a:pPr>
            <a:r>
              <a:rPr sz="1050" b="1">
                <a:solidFill>
                  <a:srgbClr val="161B26"/>
                </a:solidFill>
                <a:latin typeface="Arial"/>
              </a:rPr>
              <a:t>Add the lineage note: record the source, the owner, the rule version and the run date. This is the documentation half of the exam's data-management objective.</a:t>
            </a:r>
          </a:p>
        </p:txBody>
      </p:sp>
      <p:sp>
        <p:nvSpPr>
          <p:cNvPr id="19" name="Rectangle 18"/>
          <p:cNvSpPr/>
          <p:nvPr/>
        </p:nvSpPr>
        <p:spPr>
          <a:xfrm>
            <a:off x="1481328" y="3273552"/>
            <a:ext cx="9601200" cy="530352"/>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27632" y="3273552"/>
            <a:ext cx="9326880" cy="530352"/>
          </a:xfrm>
          <a:prstGeom prst="rect">
            <a:avLst/>
          </a:prstGeom>
          <a:noFill/>
        </p:spPr>
        <p:txBody>
          <a:bodyPr wrap="square" anchor="ctr">
            <a:spAutoFit/>
          </a:bodyPr>
          <a:lstStyle/>
          <a:p>
            <a:pPr algn="l">
              <a:spcAft>
                <a:spcPts val="0"/>
              </a:spcAft>
            </a:pPr>
            <a:r>
              <a:rPr sz="900" b="0">
                <a:solidFill>
                  <a:srgbClr val="9CDCFE"/>
                </a:solidFill>
                <a:latin typeface="Arial"/>
              </a:rPr>
              <a:t>$ printf 'source: orders feed (daily)\nowner: Sales Ops\nsteward: Data Quality team\nrules version: 1.0\nrun: %s\n'</a:t>
            </a:r>
          </a:p>
          <a:p>
            <a:pPr algn="l">
              <a:spcAft>
                <a:spcPts val="0"/>
              </a:spcAft>
            </a:pPr>
            <a:r>
              <a:rPr sz="900" b="0">
                <a:solidFill>
                  <a:srgbClr val="9CDCFE"/>
                </a:solidFill>
                <a:latin typeface="Arial"/>
              </a:rPr>
              <a:t>   "$(date +%F)" &gt; lineage.txt &amp;&amp; cat lineage.txt</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205</a:t>
            </a:r>
          </a:p>
        </p:txBody>
      </p:sp>
    </p:spTree>
  </p:cSld>
  <p:clrMapOvr>
    <a:masterClrMapping/>
  </p:clrMapOvr>
  <p:transition spd="fast" advClick="1">
    <p:fade/>
  </p:transition>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DOMAIN 05  ·  LAB 15</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Lab 15 — Verify Your Work</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196596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100584" cy="1965960"/>
          </a:xfrm>
          <a:prstGeom prst="rect">
            <a:avLst/>
          </a:prstGeom>
          <a:solidFill>
            <a:srgbClr val="12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1938528"/>
            <a:ext cx="10058400" cy="402336"/>
          </a:xfrm>
          <a:prstGeom prst="rect">
            <a:avLst/>
          </a:prstGeom>
          <a:noFill/>
        </p:spPr>
        <p:txBody>
          <a:bodyPr wrap="square" anchor="t">
            <a:spAutoFit/>
          </a:bodyPr>
          <a:lstStyle/>
          <a:p>
            <a:pPr algn="l">
              <a:spcAft>
                <a:spcPts val="400"/>
              </a:spcAft>
            </a:pPr>
            <a:r>
              <a:rPr sz="1700" b="1">
                <a:solidFill>
                  <a:srgbClr val="127A3E"/>
                </a:solidFill>
                <a:latin typeface="Arial"/>
              </a:rPr>
              <a:t>✅  Expected result</a:t>
            </a:r>
          </a:p>
        </p:txBody>
      </p:sp>
      <p:sp>
        <p:nvSpPr>
          <p:cNvPr id="10" name="TextBox 9"/>
          <p:cNvSpPr txBox="1"/>
          <p:nvPr/>
        </p:nvSpPr>
        <p:spPr>
          <a:xfrm>
            <a:off x="1097280" y="2395728"/>
            <a:ext cx="10058400" cy="1234440"/>
          </a:xfrm>
          <a:prstGeom prst="rect">
            <a:avLst/>
          </a:prstGeom>
          <a:noFill/>
        </p:spPr>
        <p:txBody>
          <a:bodyPr wrap="square" anchor="t">
            <a:spAutoFit/>
          </a:bodyPr>
          <a:lstStyle/>
          <a:p>
            <a:pPr algn="l">
              <a:spcAft>
                <a:spcPts val="400"/>
              </a:spcAft>
            </a:pPr>
            <a:r>
              <a:rPr sz="1500" b="0">
                <a:solidFill>
                  <a:srgbClr val="161B26"/>
                </a:solidFill>
                <a:latin typeface="Arial"/>
              </a:rPr>
              <a:t>feed_good.csv scores 5/5 and exits 0. feed_bad.csv fails completeness, uniqueness, validity and consistency — 1/5 — and exits 1, so the 'LOAD BLOCKED' branch fires.</a:t>
            </a:r>
          </a:p>
        </p:txBody>
      </p:sp>
      <p:sp>
        <p:nvSpPr>
          <p:cNvPr id="11" name="TextBox 10"/>
          <p:cNvSpPr txBox="1"/>
          <p:nvPr/>
        </p:nvSpPr>
        <p:spPr>
          <a:xfrm>
            <a:off x="777240" y="3950208"/>
            <a:ext cx="10634472" cy="310896"/>
          </a:xfrm>
          <a:prstGeom prst="rect">
            <a:avLst/>
          </a:prstGeom>
          <a:noFill/>
        </p:spPr>
        <p:txBody>
          <a:bodyPr wrap="square" anchor="t">
            <a:spAutoFit/>
          </a:bodyPr>
          <a:lstStyle/>
          <a:p>
            <a:pPr algn="l">
              <a:spcAft>
                <a:spcPts val="400"/>
              </a:spcAft>
            </a:pPr>
            <a:r>
              <a:rPr sz="1100" b="1">
                <a:solidFill>
                  <a:srgbClr val="F59E0B"/>
                </a:solidFill>
                <a:latin typeface="Arial"/>
              </a:rPr>
              <a:t>IF IT DOESN'T WORK</a:t>
            </a:r>
          </a:p>
        </p:txBody>
      </p:sp>
      <p:sp>
        <p:nvSpPr>
          <p:cNvPr id="12" name="Rectangle 11"/>
          <p:cNvSpPr/>
          <p:nvPr/>
        </p:nvSpPr>
        <p:spPr>
          <a:xfrm>
            <a:off x="777240"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6696"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The heredoc breaks on the f-strings</a:t>
            </a:r>
          </a:p>
        </p:txBody>
      </p:sp>
      <p:sp>
        <p:nvSpPr>
          <p:cNvPr id="15" name="TextBox 14"/>
          <p:cNvSpPr txBox="1"/>
          <p:nvPr/>
        </p:nvSpPr>
        <p:spPr>
          <a:xfrm>
            <a:off x="996696"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Ensure you used &lt;&lt;'EOF' with the quotes — that stops the shell expanding anything inside.</a:t>
            </a:r>
          </a:p>
        </p:txBody>
      </p:sp>
      <p:sp>
        <p:nvSpPr>
          <p:cNvPr id="16" name="Rectangle 15"/>
          <p:cNvSpPr/>
          <p:nvPr/>
        </p:nvSpPr>
        <p:spPr>
          <a:xfrm>
            <a:off x="4398264"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98264"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617720"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Exit code is always 0</a:t>
            </a:r>
          </a:p>
        </p:txBody>
      </p:sp>
      <p:sp>
        <p:nvSpPr>
          <p:cNvPr id="19" name="TextBox 18"/>
          <p:cNvSpPr txBox="1"/>
          <p:nvPr/>
        </p:nvSpPr>
        <p:spPr>
          <a:xfrm>
            <a:off x="4617720"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You ran it inside another command. Test with python3 dq_check.py feed_bad.csv; echo $? on its own line.</a:t>
            </a:r>
          </a:p>
        </p:txBody>
      </p:sp>
      <p:sp>
        <p:nvSpPr>
          <p:cNvPr id="20" name="Rectangle 19"/>
          <p:cNvSpPr/>
          <p:nvPr/>
        </p:nvSpPr>
        <p:spPr>
          <a:xfrm>
            <a:off x="8019288" y="4297680"/>
            <a:ext cx="3392424" cy="15727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19288" y="4297680"/>
            <a:ext cx="3392424"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38744" y="4453128"/>
            <a:ext cx="2980944" cy="329184"/>
          </a:xfrm>
          <a:prstGeom prst="rect">
            <a:avLst/>
          </a:prstGeom>
          <a:noFill/>
        </p:spPr>
        <p:txBody>
          <a:bodyPr wrap="square" anchor="t">
            <a:spAutoFit/>
          </a:bodyPr>
          <a:lstStyle/>
          <a:p>
            <a:pPr algn="l">
              <a:spcAft>
                <a:spcPts val="400"/>
              </a:spcAft>
            </a:pPr>
            <a:r>
              <a:rPr sz="1250" b="1">
                <a:solidFill>
                  <a:srgbClr val="161B26"/>
                </a:solidFill>
                <a:latin typeface="Arial"/>
              </a:rPr>
              <a:t>accuracy fails on the good feed</a:t>
            </a:r>
          </a:p>
        </p:txBody>
      </p:sp>
      <p:sp>
        <p:nvSpPr>
          <p:cNvPr id="23" name="TextBox 22"/>
          <p:cNvSpPr txBox="1"/>
          <p:nvPr/>
        </p:nvSpPr>
        <p:spPr>
          <a:xfrm>
            <a:off x="8238744" y="4809744"/>
            <a:ext cx="2980944" cy="960120"/>
          </a:xfrm>
          <a:prstGeom prst="rect">
            <a:avLst/>
          </a:prstGeom>
          <a:noFill/>
        </p:spPr>
        <p:txBody>
          <a:bodyPr wrap="square" anchor="t">
            <a:spAutoFit/>
          </a:bodyPr>
          <a:lstStyle/>
          <a:p>
            <a:pPr algn="l">
              <a:spcAft>
                <a:spcPts val="400"/>
              </a:spcAft>
            </a:pPr>
            <a:r>
              <a:rPr sz="1100" b="0">
                <a:solidFill>
                  <a:srgbClr val="5B6372"/>
                </a:solidFill>
                <a:latin typeface="Arial"/>
              </a:rPr>
              <a:t>Your dates are not ISO format. pandas parses YYYY-MM-DD reliably — normalise the feed first.</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206</a:t>
            </a:r>
          </a:p>
        </p:txBody>
      </p:sp>
    </p:spTree>
  </p:cSld>
  <p:clrMapOvr>
    <a:masterClrMapping/>
  </p:clrMapOvr>
  <p:transition spd="fast" advClick="1">
    <p:fade/>
  </p:transition>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DOMAIN 05 RECAP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Recap — Data Governance, Quality and Controls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71907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71907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Lifecycle</a:t>
            </a:r>
          </a:p>
          <a:p>
            <a:pPr algn="l">
              <a:spcAft>
                <a:spcPts val="300"/>
              </a:spcAft>
            </a:pPr>
            <a:r>
              <a:rPr sz="1000" b="0">
                <a:solidFill>
                  <a:srgbClr val="5B6372"/>
                </a:solidFill>
                <a:latin typeface="Arial"/>
              </a:rPr>
              <a:t>Governance ensures quality data across the full lifecycle: creation, storage, use, archive and destruction.</a:t>
            </a:r>
          </a:p>
        </p:txBody>
      </p:sp>
      <p:sp>
        <p:nvSpPr>
          <p:cNvPr id="12" name="Rectangle 11"/>
          <p:cNvSpPr/>
          <p:nvPr/>
        </p:nvSpPr>
        <p:spPr>
          <a:xfrm>
            <a:off x="777240" y="244144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441448"/>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37744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37744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56946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Roles</a:t>
            </a:r>
          </a:p>
          <a:p>
            <a:pPr algn="l">
              <a:spcAft>
                <a:spcPts val="300"/>
              </a:spcAft>
            </a:pPr>
            <a:r>
              <a:rPr sz="1000" b="0">
                <a:solidFill>
                  <a:srgbClr val="5B6372"/>
                </a:solidFill>
                <a:latin typeface="Arial"/>
              </a:rPr>
              <a:t>Owner, steward, custodian and privacy officer separate accountability — no single person holds every duty.</a:t>
            </a:r>
          </a:p>
        </p:txBody>
      </p:sp>
      <p:sp>
        <p:nvSpPr>
          <p:cNvPr id="17" name="Rectangle 16"/>
          <p:cNvSpPr/>
          <p:nvPr/>
        </p:nvSpPr>
        <p:spPr>
          <a:xfrm>
            <a:off x="777240" y="3099816"/>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099816"/>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035808"/>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03580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227832"/>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Classification</a:t>
            </a:r>
          </a:p>
          <a:p>
            <a:pPr algn="l">
              <a:spcAft>
                <a:spcPts val="300"/>
              </a:spcAft>
            </a:pPr>
            <a:r>
              <a:rPr sz="1000" b="0">
                <a:solidFill>
                  <a:srgbClr val="5B6372"/>
                </a:solidFill>
                <a:latin typeface="Arial"/>
              </a:rPr>
              <a:t>Classification sets sensitivity; a data-type tag (PII, PHI, PIFI, IP) says what kind of data it is.</a:t>
            </a:r>
          </a:p>
        </p:txBody>
      </p:sp>
      <p:sp>
        <p:nvSpPr>
          <p:cNvPr id="22" name="Rectangle 21"/>
          <p:cNvSpPr/>
          <p:nvPr/>
        </p:nvSpPr>
        <p:spPr>
          <a:xfrm>
            <a:off x="777240" y="3758184"/>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3758184"/>
            <a:ext cx="91440" cy="42062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3886200"/>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Compliance</a:t>
            </a:r>
          </a:p>
          <a:p>
            <a:pPr algn="l">
              <a:spcAft>
                <a:spcPts val="300"/>
              </a:spcAft>
            </a:pPr>
            <a:r>
              <a:rPr sz="1000" b="0">
                <a:solidFill>
                  <a:srgbClr val="5B6372"/>
                </a:solidFill>
                <a:latin typeface="Arial"/>
              </a:rPr>
              <a:t>PDPA, GDPR, HIPAA and SOX impose retention, audit and sovereignty duties you must be able to evidence.</a:t>
            </a:r>
          </a:p>
        </p:txBody>
      </p:sp>
      <p:sp>
        <p:nvSpPr>
          <p:cNvPr id="27" name="Rectangle 26"/>
          <p:cNvSpPr/>
          <p:nvPr/>
        </p:nvSpPr>
        <p:spPr>
          <a:xfrm>
            <a:off x="777240" y="4416552"/>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416552"/>
            <a:ext cx="91440" cy="42062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435254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435254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544568"/>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Layered protection</a:t>
            </a:r>
          </a:p>
          <a:p>
            <a:pPr algn="l">
              <a:spcAft>
                <a:spcPts val="300"/>
              </a:spcAft>
            </a:pPr>
            <a:r>
              <a:rPr sz="1000" b="0">
                <a:solidFill>
                  <a:srgbClr val="5B6372"/>
                </a:solidFill>
                <a:latin typeface="Arial"/>
              </a:rPr>
              <a:t>Access control, encryption, masking, de-identification and pseudonymisation are layered, not alternatives.</a:t>
            </a:r>
          </a:p>
        </p:txBody>
      </p:sp>
      <p:sp>
        <p:nvSpPr>
          <p:cNvPr id="32" name="Rectangle 31"/>
          <p:cNvSpPr/>
          <p:nvPr/>
        </p:nvSpPr>
        <p:spPr>
          <a:xfrm>
            <a:off x="777240" y="5074920"/>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77240" y="5074920"/>
            <a:ext cx="91440" cy="42062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33272" y="501091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3272" y="501091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1764792" y="5202936"/>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Lineage</a:t>
            </a:r>
          </a:p>
          <a:p>
            <a:pPr algn="l">
              <a:spcAft>
                <a:spcPts val="300"/>
              </a:spcAft>
            </a:pPr>
            <a:r>
              <a:rPr sz="1000" b="0">
                <a:solidFill>
                  <a:srgbClr val="5B6372"/>
                </a:solidFill>
                <a:latin typeface="Arial"/>
              </a:rPr>
              <a:t>Lineage, a data dictionary and version control are what make a number reproducible and auditable.</a:t>
            </a:r>
          </a:p>
        </p:txBody>
      </p:sp>
      <p:sp>
        <p:nvSpPr>
          <p:cNvPr id="37" name="Rectangle 36"/>
          <p:cNvSpPr/>
          <p:nvPr/>
        </p:nvSpPr>
        <p:spPr>
          <a:xfrm>
            <a:off x="777240" y="5733288"/>
            <a:ext cx="10634472" cy="42062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77240" y="5733288"/>
            <a:ext cx="91440" cy="42062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33272" y="566928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3272" y="566928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7</a:t>
            </a:r>
          </a:p>
        </p:txBody>
      </p:sp>
      <p:sp>
        <p:nvSpPr>
          <p:cNvPr id="41" name="TextBox 40"/>
          <p:cNvSpPr txBox="1"/>
          <p:nvPr/>
        </p:nvSpPr>
        <p:spPr>
          <a:xfrm>
            <a:off x="1764792" y="5861304"/>
            <a:ext cx="9427464" cy="237744"/>
          </a:xfrm>
          <a:prstGeom prst="rect">
            <a:avLst/>
          </a:prstGeom>
          <a:noFill/>
        </p:spPr>
        <p:txBody>
          <a:bodyPr wrap="square" anchor="ctr">
            <a:spAutoFit/>
          </a:bodyPr>
          <a:lstStyle/>
          <a:p>
            <a:pPr algn="l">
              <a:spcAft>
                <a:spcPts val="300"/>
              </a:spcAft>
            </a:pPr>
            <a:r>
              <a:rPr sz="1400" b="1">
                <a:solidFill>
                  <a:srgbClr val="161B26"/>
                </a:solidFill>
                <a:latin typeface="Arial"/>
              </a:rPr>
              <a:t>Quality assurance</a:t>
            </a:r>
          </a:p>
          <a:p>
            <a:pPr algn="l">
              <a:spcAft>
                <a:spcPts val="300"/>
              </a:spcAft>
            </a:pPr>
            <a:r>
              <a:rPr sz="1000" b="0">
                <a:solidFill>
                  <a:srgbClr val="5B6372"/>
                </a:solidFill>
                <a:latin typeface="Arial"/>
              </a:rPr>
              <a:t>Quality assurance runs continuously: profile, define rules, automate validation, monitor and act on failure.</a:t>
            </a:r>
          </a:p>
        </p:txBody>
      </p:sp>
      <p:sp>
        <p:nvSpPr>
          <p:cNvPr id="42" name="TextBox 4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43" name="TextBox 4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4" name="TextBox 4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207</a:t>
            </a:r>
          </a:p>
        </p:txBody>
      </p:sp>
    </p:spTree>
  </p:cSld>
  <p:clrMapOvr>
    <a:masterClrMapping/>
  </p:clrMapOvr>
  <p:transition spd="fast" advClick="1">
    <p:fade/>
  </p:transition>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Tools, Revision and Next Steps</a:t>
            </a:r>
          </a:p>
        </p:txBody>
      </p:sp>
      <p:sp>
        <p:nvSpPr>
          <p:cNvPr id="7" name="TextBox 6"/>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208</a:t>
            </a:r>
          </a:p>
        </p:txBody>
      </p:sp>
    </p:spTree>
  </p:cSld>
  <p:clrMapOvr>
    <a:masterClrMapping/>
  </p:clrMapOvr>
  <p:transition spd="med" advClick="1">
    <p:push dir="l"/>
  </p:transition>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CODING ENVIRONMENTS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Data Analytic Tools — Languages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SQL</a:t>
            </a:r>
          </a:p>
          <a:p>
            <a:pPr algn="l">
              <a:spcAft>
                <a:spcPts val="300"/>
              </a:spcAft>
            </a:pPr>
            <a:r>
              <a:rPr sz="1100" b="0">
                <a:solidFill>
                  <a:srgbClr val="5B6372"/>
                </a:solidFill>
                <a:latin typeface="Arial"/>
              </a:rPr>
              <a:t>The query language for relational databases. Non-negotiable for any data role.</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Python</a:t>
            </a:r>
          </a:p>
          <a:p>
            <a:pPr algn="l">
              <a:spcAft>
                <a:spcPts val="300"/>
              </a:spcAft>
            </a:pPr>
            <a:r>
              <a:rPr sz="1100" b="0">
                <a:solidFill>
                  <a:srgbClr val="5B6372"/>
                </a:solidFill>
                <a:latin typeface="Arial"/>
              </a:rPr>
              <a:t>General-purpose, with pandas, NumPy, matplotlib and scikit-learn — the dominant analysis stack.</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R</a:t>
            </a:r>
          </a:p>
          <a:p>
            <a:pPr algn="l">
              <a:spcAft>
                <a:spcPts val="300"/>
              </a:spcAft>
            </a:pPr>
            <a:r>
              <a:rPr sz="1100" b="0">
                <a:solidFill>
                  <a:srgbClr val="5B6372"/>
                </a:solidFill>
                <a:latin typeface="Arial"/>
              </a:rPr>
              <a:t>Purpose-built for statistical computing and graphics; strong among statisticians and researchers.</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Excel / Power Query</a:t>
            </a:r>
          </a:p>
          <a:p>
            <a:pPr algn="l">
              <a:spcAft>
                <a:spcPts val="300"/>
              </a:spcAft>
            </a:pPr>
            <a:r>
              <a:rPr sz="1100" b="0">
                <a:solidFill>
                  <a:srgbClr val="5B6372"/>
                </a:solidFill>
                <a:latin typeface="Arial"/>
              </a:rPr>
              <a:t>Still the most widely used analysis tool on earth. Pivot tables, formulas and Power Query transforms.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Notebooks</a:t>
            </a:r>
          </a:p>
          <a:p>
            <a:pPr algn="l">
              <a:spcAft>
                <a:spcPts val="300"/>
              </a:spcAft>
            </a:pPr>
            <a:r>
              <a:rPr sz="1100" b="0">
                <a:solidFill>
                  <a:srgbClr val="5B6372"/>
                </a:solidFill>
                <a:latin typeface="Arial"/>
              </a:rPr>
              <a:t>Jupyter and Colab combine code, output and narrative in one reproducible document.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Version control</a:t>
            </a:r>
          </a:p>
          <a:p>
            <a:pPr algn="l">
              <a:spcAft>
                <a:spcPts val="300"/>
              </a:spcAft>
            </a:pPr>
            <a:r>
              <a:rPr sz="1100" b="0">
                <a:solidFill>
                  <a:srgbClr val="5B6372"/>
                </a:solidFill>
                <a:latin typeface="Arial"/>
              </a:rPr>
              <a:t>Git tracks every change to your queries and scripts, so any result can be reproduced.</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209</a:t>
            </a:r>
          </a:p>
        </p:txBody>
      </p:sp>
    </p:spTree>
  </p:cSld>
  <p:clrMapOvr>
    <a:masterClrMapping/>
  </p:clrMapOvr>
  <p:transition spd="fast" advClick="1">
    <p:fade/>
  </p:transition>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BI SOFTWARE AND ANALYSIS PLATFORMS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BI, Visualisation and Statistical Platforms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Power BI</a:t>
            </a:r>
          </a:p>
          <a:p>
            <a:pPr algn="l">
              <a:spcAft>
                <a:spcPts val="300"/>
              </a:spcAft>
            </a:pPr>
            <a:r>
              <a:rPr sz="1100" b="0">
                <a:solidFill>
                  <a:srgbClr val="5B6372"/>
                </a:solidFill>
                <a:latin typeface="Arial"/>
              </a:rPr>
              <a:t>Microsoft's interactive BI product — Power Query for prep, DAX for measures, dashboards for delivery.</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Tableau</a:t>
            </a:r>
          </a:p>
          <a:p>
            <a:pPr algn="l">
              <a:spcAft>
                <a:spcPts val="300"/>
              </a:spcAft>
            </a:pPr>
            <a:r>
              <a:rPr sz="1100" b="0">
                <a:solidFill>
                  <a:srgbClr val="5B6372"/>
                </a:solidFill>
                <a:latin typeface="Arial"/>
              </a:rPr>
              <a:t>Leading visual-analysis tool, strong at exploratory visualisation and mapping.</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Qlik / Domo / MicroStrategy</a:t>
            </a:r>
          </a:p>
          <a:p>
            <a:pPr algn="l">
              <a:spcAft>
                <a:spcPts val="300"/>
              </a:spcAft>
            </a:pPr>
            <a:r>
              <a:rPr sz="1100" b="0">
                <a:solidFill>
                  <a:srgbClr val="5B6372"/>
                </a:solidFill>
                <a:latin typeface="Arial"/>
              </a:rPr>
              <a:t>Enterprise BI platforms combining data sources, dashboards and distribution.</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AWS QuickSight / Oracle Analytics</a:t>
            </a:r>
          </a:p>
          <a:p>
            <a:pPr algn="l">
              <a:spcAft>
                <a:spcPts val="300"/>
              </a:spcAft>
            </a:pPr>
            <a:r>
              <a:rPr sz="1100" b="0">
                <a:solidFill>
                  <a:srgbClr val="5B6372"/>
                </a:solidFill>
                <a:latin typeface="Arial"/>
              </a:rPr>
              <a:t>Cloud-native BI delivering dashboards over cloud data warehouses.</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SAS · SPSS · Stata · Minitab</a:t>
            </a:r>
          </a:p>
          <a:p>
            <a:pPr algn="l">
              <a:spcAft>
                <a:spcPts val="300"/>
              </a:spcAft>
            </a:pPr>
            <a:r>
              <a:rPr sz="1100" b="0">
                <a:solidFill>
                  <a:srgbClr val="5B6372"/>
                </a:solidFill>
                <a:latin typeface="Arial"/>
              </a:rPr>
              <a:t>Established statistical packages used for advanced and regulated analysis.</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SSRS · Crystal Reports</a:t>
            </a:r>
          </a:p>
          <a:p>
            <a:pPr algn="l">
              <a:spcAft>
                <a:spcPts val="300"/>
              </a:spcAft>
            </a:pPr>
            <a:r>
              <a:rPr sz="1100" b="0">
                <a:solidFill>
                  <a:srgbClr val="5B6372"/>
                </a:solidFill>
                <a:latin typeface="Arial"/>
              </a:rPr>
              <a:t>Paginated, pixel-perfect operational and compliance reporting.</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210</a:t>
            </a:r>
          </a:p>
        </p:txBody>
      </p:sp>
    </p:spTree>
  </p:cSld>
  <p:clrMapOvr>
    <a:masterClrMapping/>
  </p:clrMapOvr>
  <p:transition spd="fast" advClick="1">
    <p:fade/>
  </p:transition>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LEARNING OUTCOMES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What You Achieved</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LO1 · Integrate datasets</a:t>
            </a:r>
          </a:p>
          <a:p>
            <a:pPr algn="l">
              <a:spcAft>
                <a:spcPts val="300"/>
              </a:spcAft>
            </a:pPr>
            <a:r>
              <a:rPr sz="1100" b="0">
                <a:solidFill>
                  <a:srgbClr val="5B6372"/>
                </a:solidFill>
                <a:latin typeface="Arial"/>
              </a:rPr>
              <a:t>Built a normalised schema with enforced referential integrity and integrated three sources with SQL joins (Labs 1, 7).</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LO2 · Mine for trends</a:t>
            </a:r>
          </a:p>
          <a:p>
            <a:pPr algn="l">
              <a:spcAft>
                <a:spcPts val="300"/>
              </a:spcAft>
            </a:pPr>
            <a:r>
              <a:rPr sz="1100" b="0">
                <a:solidFill>
                  <a:srgbClr val="5B6372"/>
                </a:solidFill>
                <a:latin typeface="Arial"/>
              </a:rPr>
              <a:t>Profiled a dirty dataset, parsed messy fields with validated regex, and derived new structured fields (Labs 4, 5, 6).</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LO3 · Analyse statistically</a:t>
            </a:r>
          </a:p>
          <a:p>
            <a:pPr algn="l">
              <a:spcAft>
                <a:spcPts val="300"/>
              </a:spcAft>
            </a:pPr>
            <a:r>
              <a:rPr sz="1100" b="0">
                <a:solidFill>
                  <a:srgbClr val="5B6372"/>
                </a:solidFill>
                <a:latin typeface="Arial"/>
              </a:rPr>
              <a:t>Computed descriptive statistics, ran a t-test with p-values, and fitted a regression model (Labs 8, 9, 10).</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LO4 · Communicate visually</a:t>
            </a:r>
          </a:p>
          <a:p>
            <a:pPr algn="l">
              <a:spcAft>
                <a:spcPts val="300"/>
              </a:spcAft>
            </a:pPr>
            <a:r>
              <a:rPr sz="1100" b="0">
                <a:solidFill>
                  <a:srgbClr val="5B6372"/>
                </a:solidFill>
                <a:latin typeface="Arial"/>
              </a:rPr>
              <a:t>Matched five chart types to five questions and built a validated KPI dashboard (Labs 11, 12).</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LO5 · Link the variables</a:t>
            </a:r>
          </a:p>
          <a:p>
            <a:pPr algn="l">
              <a:spcAft>
                <a:spcPts val="300"/>
              </a:spcAft>
            </a:pPr>
            <a:r>
              <a:rPr sz="1100" b="0">
                <a:solidFill>
                  <a:srgbClr val="5B6372"/>
                </a:solidFill>
                <a:latin typeface="Arial"/>
              </a:rPr>
              <a:t>Classified and protected sensitive data, assessed leakage risk, and automated quality monitoring (Labs 13, 14, 15).</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500" b="1">
                <a:solidFill>
                  <a:srgbClr val="161B26"/>
                </a:solidFill>
                <a:latin typeface="Arial"/>
              </a:rPr>
              <a:t>Certification ready</a:t>
            </a:r>
          </a:p>
          <a:p>
            <a:pPr algn="l">
              <a:spcAft>
                <a:spcPts val="300"/>
              </a:spcAft>
            </a:pPr>
            <a:r>
              <a:rPr sz="1100" b="0">
                <a:solidFill>
                  <a:srgbClr val="5B6372"/>
                </a:solidFill>
                <a:latin typeface="Arial"/>
              </a:rPr>
              <a:t>Covered all five CompTIA Data+ (DA0-001) exam domains at their examined weightings.</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211</a:t>
            </a:r>
          </a:p>
        </p:txBody>
      </p:sp>
    </p:spTree>
  </p:cSld>
  <p:clrMapOvr>
    <a:masterClrMapping/>
  </p:clrMapOvr>
  <p:transition spd="fast" advClick="1">
    <p:fade/>
  </p:transition>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exams.tertiaryinfotech.com</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Practice Exam — Before You Certify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37360"/>
            <a:ext cx="10634472" cy="457200"/>
          </a:xfrm>
          <a:prstGeom prst="rect">
            <a:avLst/>
          </a:prstGeom>
          <a:noFill/>
        </p:spPr>
        <p:txBody>
          <a:bodyPr wrap="square" anchor="t">
            <a:spAutoFit/>
          </a:bodyPr>
          <a:lstStyle/>
          <a:p>
            <a:pPr algn="l">
              <a:spcAft>
                <a:spcPts val="400"/>
              </a:spcAft>
            </a:pPr>
            <a:r>
              <a:rPr sz="1600" b="0">
                <a:solidFill>
                  <a:srgbClr val="161B26"/>
                </a:solidFill>
                <a:latin typeface="Arial"/>
              </a:rPr>
              <a:t>Attempt the official practice exam before you sit the real CompTIA Data+ certification.</a:t>
            </a:r>
          </a:p>
        </p:txBody>
      </p:sp>
      <p:sp>
        <p:nvSpPr>
          <p:cNvPr id="8" name="Rectangle 7"/>
          <p:cNvSpPr/>
          <p:nvPr/>
        </p:nvSpPr>
        <p:spPr>
          <a:xfrm>
            <a:off x="777240" y="2331720"/>
            <a:ext cx="10634472" cy="777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 y="2331720"/>
            <a:ext cx="100584" cy="7772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450592"/>
            <a:ext cx="10058400" cy="548640"/>
          </a:xfrm>
          <a:prstGeom prst="rect">
            <a:avLst/>
          </a:prstGeom>
          <a:noFill/>
        </p:spPr>
        <p:txBody>
          <a:bodyPr wrap="square">
            <a:spAutoFit/>
          </a:bodyPr>
          <a:lstStyle/>
          <a:p>
            <a:r>
              <a:rPr sz="1300">
                <a:solidFill>
                  <a:srgbClr val="5B6372"/>
                </a:solidFill>
                <a:latin typeface="Arial"/>
              </a:rPr>
              <a:t>CompTIA Data+ (DA0-001) practice exams:  </a:t>
            </a:r>
            <a:r>
              <a:rPr sz="1300" b="1">
                <a:solidFill>
                  <a:srgbClr val="7C3AED"/>
                </a:solidFill>
                <a:latin typeface="Arial"/>
                <a:hlinkClick r:id="rId2"/>
              </a:rPr>
              <a:t>https://exams.tertiaryinfotech.com/practice-exams/comptia/comptia-data-plus</a:t>
            </a:r>
          </a:p>
        </p:txBody>
      </p:sp>
      <p:sp>
        <p:nvSpPr>
          <p:cNvPr id="11" name="Rectangle 10"/>
          <p:cNvSpPr/>
          <p:nvPr/>
        </p:nvSpPr>
        <p:spPr>
          <a:xfrm>
            <a:off x="777240" y="3429000"/>
            <a:ext cx="254203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77240" y="3429000"/>
            <a:ext cx="2542032"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78408" y="3611880"/>
            <a:ext cx="2194560" cy="329184"/>
          </a:xfrm>
          <a:prstGeom prst="rect">
            <a:avLst/>
          </a:prstGeom>
          <a:noFill/>
        </p:spPr>
        <p:txBody>
          <a:bodyPr wrap="square" anchor="t">
            <a:spAutoFit/>
          </a:bodyPr>
          <a:lstStyle/>
          <a:p>
            <a:pPr algn="l">
              <a:spcAft>
                <a:spcPts val="400"/>
              </a:spcAft>
            </a:pPr>
            <a:r>
              <a:rPr sz="1200" b="1">
                <a:solidFill>
                  <a:srgbClr val="1F6FEB"/>
                </a:solidFill>
                <a:latin typeface="Arial"/>
              </a:rPr>
              <a:t>6 FULL EXAMS</a:t>
            </a:r>
          </a:p>
        </p:txBody>
      </p:sp>
      <p:sp>
        <p:nvSpPr>
          <p:cNvPr id="14" name="TextBox 13"/>
          <p:cNvSpPr txBox="1"/>
          <p:nvPr/>
        </p:nvSpPr>
        <p:spPr>
          <a:xfrm>
            <a:off x="978408" y="4005072"/>
            <a:ext cx="2194560" cy="1371600"/>
          </a:xfrm>
          <a:prstGeom prst="rect">
            <a:avLst/>
          </a:prstGeom>
          <a:noFill/>
        </p:spPr>
        <p:txBody>
          <a:bodyPr wrap="square" anchor="t">
            <a:spAutoFit/>
          </a:bodyPr>
          <a:lstStyle/>
          <a:p>
            <a:pPr algn="l">
              <a:spcAft>
                <a:spcPts val="400"/>
              </a:spcAft>
            </a:pPr>
            <a:r>
              <a:rPr sz="1150" b="0">
                <a:solidFill>
                  <a:srgbClr val="161B26"/>
                </a:solidFill>
                <a:latin typeface="Arial"/>
              </a:rPr>
              <a:t>The bundle covers all five domains at their examined weightings.</a:t>
            </a:r>
          </a:p>
        </p:txBody>
      </p:sp>
      <p:sp>
        <p:nvSpPr>
          <p:cNvPr id="15" name="Rectangle 14"/>
          <p:cNvSpPr/>
          <p:nvPr/>
        </p:nvSpPr>
        <p:spPr>
          <a:xfrm>
            <a:off x="3502152" y="3429000"/>
            <a:ext cx="254203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02152" y="3429000"/>
            <a:ext cx="2542032"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703320" y="3611880"/>
            <a:ext cx="2194560" cy="329184"/>
          </a:xfrm>
          <a:prstGeom prst="rect">
            <a:avLst/>
          </a:prstGeom>
          <a:noFill/>
        </p:spPr>
        <p:txBody>
          <a:bodyPr wrap="square" anchor="t">
            <a:spAutoFit/>
          </a:bodyPr>
          <a:lstStyle/>
          <a:p>
            <a:pPr algn="l">
              <a:spcAft>
                <a:spcPts val="400"/>
              </a:spcAft>
            </a:pPr>
            <a:r>
              <a:rPr sz="1200" b="1">
                <a:solidFill>
                  <a:srgbClr val="10B981"/>
                </a:solidFill>
                <a:latin typeface="Arial"/>
              </a:rPr>
              <a:t>TIMED PRACTICE</a:t>
            </a:r>
          </a:p>
        </p:txBody>
      </p:sp>
      <p:sp>
        <p:nvSpPr>
          <p:cNvPr id="18" name="TextBox 17"/>
          <p:cNvSpPr txBox="1"/>
          <p:nvPr/>
        </p:nvSpPr>
        <p:spPr>
          <a:xfrm>
            <a:off x="3703320" y="4005072"/>
            <a:ext cx="2194560" cy="1371600"/>
          </a:xfrm>
          <a:prstGeom prst="rect">
            <a:avLst/>
          </a:prstGeom>
          <a:noFill/>
        </p:spPr>
        <p:txBody>
          <a:bodyPr wrap="square" anchor="t">
            <a:spAutoFit/>
          </a:bodyPr>
          <a:lstStyle/>
          <a:p>
            <a:pPr algn="l">
              <a:spcAft>
                <a:spcPts val="400"/>
              </a:spcAft>
            </a:pPr>
            <a:r>
              <a:rPr sz="1150" b="0">
                <a:solidFill>
                  <a:srgbClr val="161B26"/>
                </a:solidFill>
                <a:latin typeface="Arial"/>
              </a:rPr>
              <a:t>Sit them under exam conditions to build your pacing before the real thing.</a:t>
            </a:r>
          </a:p>
        </p:txBody>
      </p:sp>
      <p:sp>
        <p:nvSpPr>
          <p:cNvPr id="19" name="Rectangle 18"/>
          <p:cNvSpPr/>
          <p:nvPr/>
        </p:nvSpPr>
        <p:spPr>
          <a:xfrm>
            <a:off x="6227064" y="3429000"/>
            <a:ext cx="254203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27064" y="3429000"/>
            <a:ext cx="2542032"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3611880"/>
            <a:ext cx="2194560" cy="329184"/>
          </a:xfrm>
          <a:prstGeom prst="rect">
            <a:avLst/>
          </a:prstGeom>
          <a:noFill/>
        </p:spPr>
        <p:txBody>
          <a:bodyPr wrap="square" anchor="t">
            <a:spAutoFit/>
          </a:bodyPr>
          <a:lstStyle/>
          <a:p>
            <a:pPr algn="l">
              <a:spcAft>
                <a:spcPts val="400"/>
              </a:spcAft>
            </a:pPr>
            <a:r>
              <a:rPr sz="1200" b="1">
                <a:solidFill>
                  <a:srgbClr val="7C3AED"/>
                </a:solidFill>
                <a:latin typeface="Arial"/>
              </a:rPr>
              <a:t>REVIEW EVERY MISS</a:t>
            </a:r>
          </a:p>
        </p:txBody>
      </p:sp>
      <p:sp>
        <p:nvSpPr>
          <p:cNvPr id="22" name="TextBox 21"/>
          <p:cNvSpPr txBox="1"/>
          <p:nvPr/>
        </p:nvSpPr>
        <p:spPr>
          <a:xfrm>
            <a:off x="6428232" y="4005072"/>
            <a:ext cx="2194560" cy="1371600"/>
          </a:xfrm>
          <a:prstGeom prst="rect">
            <a:avLst/>
          </a:prstGeom>
          <a:noFill/>
        </p:spPr>
        <p:txBody>
          <a:bodyPr wrap="square" anchor="t">
            <a:spAutoFit/>
          </a:bodyPr>
          <a:lstStyle/>
          <a:p>
            <a:pPr algn="l">
              <a:spcAft>
                <a:spcPts val="400"/>
              </a:spcAft>
            </a:pPr>
            <a:r>
              <a:rPr sz="1150" b="0">
                <a:solidFill>
                  <a:srgbClr val="161B26"/>
                </a:solidFill>
                <a:latin typeface="Arial"/>
              </a:rPr>
              <a:t>Read the explanation for every wrong answer — that is where the learning is.</a:t>
            </a:r>
          </a:p>
        </p:txBody>
      </p:sp>
      <p:sp>
        <p:nvSpPr>
          <p:cNvPr id="23" name="Rectangle 22"/>
          <p:cNvSpPr/>
          <p:nvPr/>
        </p:nvSpPr>
        <p:spPr>
          <a:xfrm>
            <a:off x="8951976" y="3429000"/>
            <a:ext cx="2542032" cy="21488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51976" y="3429000"/>
            <a:ext cx="2542032"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53144" y="3611880"/>
            <a:ext cx="2194560" cy="329184"/>
          </a:xfrm>
          <a:prstGeom prst="rect">
            <a:avLst/>
          </a:prstGeom>
          <a:noFill/>
        </p:spPr>
        <p:txBody>
          <a:bodyPr wrap="square" anchor="t">
            <a:spAutoFit/>
          </a:bodyPr>
          <a:lstStyle/>
          <a:p>
            <a:pPr algn="l">
              <a:spcAft>
                <a:spcPts val="400"/>
              </a:spcAft>
            </a:pPr>
            <a:r>
              <a:rPr sz="1200" b="1">
                <a:solidFill>
                  <a:srgbClr val="F59E0B"/>
                </a:solidFill>
                <a:latin typeface="Arial"/>
              </a:rPr>
              <a:t>THEN BOOK</a:t>
            </a:r>
          </a:p>
        </p:txBody>
      </p:sp>
      <p:sp>
        <p:nvSpPr>
          <p:cNvPr id="26" name="TextBox 25"/>
          <p:cNvSpPr txBox="1"/>
          <p:nvPr/>
        </p:nvSpPr>
        <p:spPr>
          <a:xfrm>
            <a:off x="9153144" y="4005072"/>
            <a:ext cx="2194560" cy="1371600"/>
          </a:xfrm>
          <a:prstGeom prst="rect">
            <a:avLst/>
          </a:prstGeom>
          <a:noFill/>
        </p:spPr>
        <p:txBody>
          <a:bodyPr wrap="square" anchor="t">
            <a:spAutoFit/>
          </a:bodyPr>
          <a:lstStyle/>
          <a:p>
            <a:pPr algn="l">
              <a:spcAft>
                <a:spcPts val="400"/>
              </a:spcAft>
            </a:pPr>
            <a:r>
              <a:rPr sz="1150" b="0">
                <a:solidFill>
                  <a:srgbClr val="161B26"/>
                </a:solidFill>
                <a:latin typeface="Arial"/>
              </a:rPr>
              <a:t>Book the real DA0-001 exam once you are consistently scoring above your target.</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212</a:t>
            </a:r>
          </a:p>
        </p:txBody>
      </p:sp>
    </p:spTree>
  </p:cSld>
  <p:clrMapOvr>
    <a:masterClrMapping/>
  </p:clrMapOvr>
  <p:transition spd="fast" advClick="1">
    <p:fade/>
  </p:transition>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NEXT STEPS</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Continue Your Learning</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Sit the certification</a:t>
            </a:r>
          </a:p>
          <a:p>
            <a:pPr algn="l">
              <a:spcAft>
                <a:spcPts val="300"/>
              </a:spcAft>
            </a:pPr>
            <a:r>
              <a:rPr sz="1200" b="0">
                <a:solidFill>
                  <a:srgbClr val="5B6372"/>
                </a:solidFill>
                <a:latin typeface="Arial"/>
              </a:rPr>
              <a:t>Book the CompTIA Data+ (DA0-001) exam while the material is fresh.</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Redo every lab</a:t>
            </a:r>
          </a:p>
          <a:p>
            <a:pPr algn="l">
              <a:spcAft>
                <a:spcPts val="300"/>
              </a:spcAft>
            </a:pPr>
            <a:r>
              <a:rPr sz="1200" b="0">
                <a:solidFill>
                  <a:srgbClr val="5B6372"/>
                </a:solidFill>
                <a:latin typeface="Arial"/>
              </a:rPr>
              <a:t>Repeat each lab from a blank terminal until the workflow is automatic.</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Apply it at work</a:t>
            </a:r>
          </a:p>
          <a:p>
            <a:pPr algn="l">
              <a:spcAft>
                <a:spcPts val="300"/>
              </a:spcAft>
            </a:pPr>
            <a:r>
              <a:rPr sz="1200" b="0">
                <a:solidFill>
                  <a:srgbClr val="5B6372"/>
                </a:solidFill>
                <a:latin typeface="Arial"/>
              </a:rPr>
              <a:t>Profile one real dataset from your own job using the Lab 4 procedure this week.</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Build a portfolio</a:t>
            </a:r>
          </a:p>
          <a:p>
            <a:pPr algn="l">
              <a:spcAft>
                <a:spcPts val="300"/>
              </a:spcAft>
            </a:pPr>
            <a:r>
              <a:rPr sz="1200" b="0">
                <a:solidFill>
                  <a:srgbClr val="5B6372"/>
                </a:solidFill>
                <a:latin typeface="Arial"/>
              </a:rPr>
              <a:t>Publish a cleaned dataset, an analysis and a dashboard you can show an employer.</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Go deeper on SQL</a:t>
            </a:r>
          </a:p>
          <a:p>
            <a:pPr algn="l">
              <a:spcAft>
                <a:spcPts val="300"/>
              </a:spcAft>
            </a:pPr>
            <a:r>
              <a:rPr sz="1200" b="0">
                <a:solidFill>
                  <a:srgbClr val="5B6372"/>
                </a:solidFill>
                <a:latin typeface="Arial"/>
              </a:rPr>
              <a:t>Joins, window functions and query plans repay every hour you invest.</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Learn a BI platform</a:t>
            </a:r>
          </a:p>
          <a:p>
            <a:pPr algn="l">
              <a:spcAft>
                <a:spcPts val="300"/>
              </a:spcAft>
            </a:pPr>
            <a:r>
              <a:rPr sz="1200" b="0">
                <a:solidFill>
                  <a:srgbClr val="5B6372"/>
                </a:solidFill>
                <a:latin typeface="Arial"/>
              </a:rPr>
              <a:t>Pick Power BI or Tableau and rebuild your Lab 12 dashboard in it.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213</a:t>
            </a:r>
          </a:p>
        </p:txBody>
      </p:sp>
    </p:spTree>
  </p:cSld>
  <p:clrMapOvr>
    <a:masterClrMapping/>
  </p:clrMapOvr>
  <p:transition spd="fast" advClick="1">
    <p:fade/>
  </p:transition>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CONTINUE WITH TERTIARY INFOTECH</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Recommended Courses</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185074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185074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9427464" cy="501091"/>
          </a:xfrm>
          <a:prstGeom prst="rect">
            <a:avLst/>
          </a:prstGeom>
          <a:noFill/>
        </p:spPr>
        <p:txBody>
          <a:bodyPr wrap="square" anchor="ctr">
            <a:spAutoFit/>
          </a:bodyPr>
          <a:lstStyle/>
          <a:p>
            <a:pPr algn="l">
              <a:spcAft>
                <a:spcPts val="300"/>
              </a:spcAft>
            </a:pPr>
            <a:r>
              <a:rPr sz="1700" b="1">
                <a:solidFill>
                  <a:srgbClr val="161B26"/>
                </a:solidFill>
                <a:latin typeface="Arial"/>
              </a:rPr>
              <a:t>WSQ - CompTIA Certified Security+ Training</a:t>
            </a:r>
          </a:p>
          <a:p>
            <a:pPr algn="l">
              <a:spcAft>
                <a:spcPts val="300"/>
              </a:spcAft>
            </a:pPr>
            <a:r>
              <a:rPr sz="1300" b="0">
                <a:solidFill>
                  <a:srgbClr val="5B6372"/>
                </a:solidFill>
                <a:latin typeface="Arial"/>
              </a:rPr>
              <a:t/>
            </a:r>
          </a:p>
        </p:txBody>
      </p:sp>
      <p:sp>
        <p:nvSpPr>
          <p:cNvPr id="12" name="Rectangle 11"/>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33272" y="2772460"/>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33272" y="277246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1764792" y="2832811"/>
            <a:ext cx="9427464" cy="501091"/>
          </a:xfrm>
          <a:prstGeom prst="rect">
            <a:avLst/>
          </a:prstGeom>
          <a:noFill/>
        </p:spPr>
        <p:txBody>
          <a:bodyPr wrap="square" anchor="ctr">
            <a:spAutoFit/>
          </a:bodyPr>
          <a:lstStyle/>
          <a:p>
            <a:pPr algn="l">
              <a:spcAft>
                <a:spcPts val="300"/>
              </a:spcAft>
            </a:pPr>
            <a:r>
              <a:rPr sz="1700" b="1">
                <a:solidFill>
                  <a:srgbClr val="161B26"/>
                </a:solidFill>
                <a:latin typeface="Arial"/>
              </a:rPr>
              <a:t>WSQ - CompTIA Certified Network+ Training</a:t>
            </a:r>
          </a:p>
          <a:p>
            <a:pPr algn="l">
              <a:spcAft>
                <a:spcPts val="300"/>
              </a:spcAft>
            </a:pPr>
            <a:r>
              <a:rPr sz="1300" b="0">
                <a:solidFill>
                  <a:srgbClr val="5B6372"/>
                </a:solidFill>
                <a:latin typeface="Arial"/>
              </a:rPr>
              <a:t/>
            </a:r>
          </a:p>
        </p:txBody>
      </p:sp>
      <p:sp>
        <p:nvSpPr>
          <p:cNvPr id="17" name="Rectangle 16"/>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5"/>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754526"/>
            <a:ext cx="9427464" cy="501091"/>
          </a:xfrm>
          <a:prstGeom prst="rect">
            <a:avLst/>
          </a:prstGeom>
          <a:noFill/>
        </p:spPr>
        <p:txBody>
          <a:bodyPr wrap="square" anchor="ctr">
            <a:spAutoFit/>
          </a:bodyPr>
          <a:lstStyle/>
          <a:p>
            <a:pPr algn="l">
              <a:spcAft>
                <a:spcPts val="300"/>
              </a:spcAft>
            </a:pPr>
            <a:r>
              <a:rPr sz="1700" b="1">
                <a:solidFill>
                  <a:srgbClr val="161B26"/>
                </a:solidFill>
                <a:latin typeface="Arial"/>
              </a:rPr>
              <a:t>WSQ - CompTIA Certified Linux+ Training</a:t>
            </a:r>
          </a:p>
          <a:p>
            <a:pPr algn="l">
              <a:spcAft>
                <a:spcPts val="300"/>
              </a:spcAft>
            </a:pPr>
            <a:r>
              <a:rPr sz="1300" b="0">
                <a:solidFill>
                  <a:srgbClr val="5B6372"/>
                </a:solidFill>
                <a:latin typeface="Arial"/>
              </a:rPr>
              <a:t/>
            </a:r>
          </a:p>
        </p:txBody>
      </p:sp>
      <p:sp>
        <p:nvSpPr>
          <p:cNvPr id="22" name="Rectangle 21"/>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33272" y="461589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33272" y="461589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1764792" y="4676241"/>
            <a:ext cx="9427464" cy="501091"/>
          </a:xfrm>
          <a:prstGeom prst="rect">
            <a:avLst/>
          </a:prstGeom>
          <a:noFill/>
        </p:spPr>
        <p:txBody>
          <a:bodyPr wrap="square" anchor="ctr">
            <a:spAutoFit/>
          </a:bodyPr>
          <a:lstStyle/>
          <a:p>
            <a:pPr algn="l">
              <a:spcAft>
                <a:spcPts val="300"/>
              </a:spcAft>
            </a:pPr>
            <a:r>
              <a:rPr sz="1700" b="1">
                <a:solidFill>
                  <a:srgbClr val="161B26"/>
                </a:solidFill>
                <a:latin typeface="Arial"/>
              </a:rPr>
              <a:t>WSQ - CompTIA Certified Server+ Training</a:t>
            </a:r>
          </a:p>
          <a:p>
            <a:pPr algn="l">
              <a:spcAft>
                <a:spcPts val="300"/>
              </a:spcAft>
            </a:pPr>
            <a:r>
              <a:rPr sz="1300" b="0">
                <a:solidFill>
                  <a:srgbClr val="5B6372"/>
                </a:solidFill>
                <a:latin typeface="Arial"/>
              </a:rPr>
              <a:t/>
            </a:r>
          </a:p>
        </p:txBody>
      </p:sp>
      <p:sp>
        <p:nvSpPr>
          <p:cNvPr id="27" name="Rectangle 26"/>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537605"/>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537605"/>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5597956"/>
            <a:ext cx="9427464" cy="501091"/>
          </a:xfrm>
          <a:prstGeom prst="rect">
            <a:avLst/>
          </a:prstGeom>
          <a:noFill/>
        </p:spPr>
        <p:txBody>
          <a:bodyPr wrap="square" anchor="ctr">
            <a:spAutoFit/>
          </a:bodyPr>
          <a:lstStyle/>
          <a:p>
            <a:pPr algn="l">
              <a:spcAft>
                <a:spcPts val="300"/>
              </a:spcAft>
            </a:pPr>
            <a:r>
              <a:rPr sz="1700" b="1">
                <a:solidFill>
                  <a:srgbClr val="161B26"/>
                </a:solidFill>
                <a:latin typeface="Arial"/>
              </a:rPr>
              <a:t>WSQ - CompTIA Certified A+ Training (Core 1 and Core 2)</a:t>
            </a:r>
          </a:p>
          <a:p>
            <a:pPr algn="l">
              <a:spcAft>
                <a:spcPts val="300"/>
              </a:spcAft>
            </a:pPr>
            <a:r>
              <a:rPr sz="1300" b="0">
                <a:solidFill>
                  <a:srgbClr val="5B6372"/>
                </a:solidFill>
                <a:latin typeface="Arial"/>
              </a:rPr>
              <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214</a:t>
            </a:r>
          </a:p>
        </p:txBody>
      </p:sp>
    </p:spTree>
  </p:cSld>
  <p:clrMapOvr>
    <a:masterClrMapping/>
  </p:clrMapOvr>
  <p:transition spd="fast" advClick="1">
    <p:fade/>
  </p:transition>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WE'RE HERE TO HELP</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Support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783080"/>
            <a:ext cx="10607040" cy="4480560"/>
          </a:xfrm>
          <a:prstGeom prst="rect">
            <a:avLst/>
          </a:prstGeom>
          <a:noFill/>
        </p:spPr>
        <p:txBody>
          <a:bodyPr wrap="square">
            <a:spAutoFit/>
          </a:bodyPr>
          <a:lstStyle/>
          <a:p>
            <a:pPr>
              <a:spcAft>
                <a:spcPts val="1000"/>
              </a:spcAft>
            </a:pPr>
            <a:r>
              <a:rPr sz="2000" b="0">
                <a:solidFill>
                  <a:srgbClr val="161B26"/>
                </a:solidFill>
                <a:latin typeface="Arial"/>
              </a:rPr>
              <a:t>•  If you have any enquiries during or after the class, you can contact us below.</a:t>
            </a:r>
          </a:p>
          <a:p>
            <a:pPr>
              <a:spcAft>
                <a:spcPts val="1000"/>
              </a:spcAft>
            </a:pPr>
            <a:r>
              <a:rPr sz="2000" b="0">
                <a:solidFill>
                  <a:srgbClr val="161B26"/>
                </a:solidFill>
                <a:latin typeface="Arial"/>
              </a:rPr>
              <a:t>•  Email: enquiry@tertiaryinfotech.com</a:t>
            </a:r>
          </a:p>
          <a:p>
            <a:pPr>
              <a:spcAft>
                <a:spcPts val="1000"/>
              </a:spcAft>
            </a:pPr>
            <a:r>
              <a:rPr sz="2000" b="0">
                <a:solidFill>
                  <a:srgbClr val="161B26"/>
                </a:solidFill>
                <a:latin typeface="Arial"/>
              </a:rPr>
              <a:t>•  Tel: +65 6100 0613    ·    WhatsApp: +65 6100 0613</a:t>
            </a:r>
          </a:p>
          <a:p>
            <a:pPr>
              <a:spcAft>
                <a:spcPts val="1000"/>
              </a:spcAft>
            </a:pPr>
            <a:r>
              <a:rPr sz="2000" b="0">
                <a:solidFill>
                  <a:srgbClr val="161B26"/>
                </a:solidFill>
                <a:latin typeface="Arial"/>
              </a:rPr>
              <a:t>•  Website: www.tertiarycourses.com.sg</a:t>
            </a:r>
          </a:p>
          <a:p>
            <a:pPr>
              <a:spcAft>
                <a:spcPts val="1000"/>
              </a:spcAft>
            </a:pPr>
            <a:r>
              <a:rPr sz="2000" b="0">
                <a:solidFill>
                  <a:srgbClr val="161B26"/>
                </a:solidFill>
                <a:latin typeface="Arial"/>
              </a:rPr>
              <a:t>•  LMS / TMS: https://lms-tms.tertiaryinfotech.com</a:t>
            </a:r>
          </a:p>
        </p:txBody>
      </p:sp>
      <p:sp>
        <p:nvSpPr>
          <p:cNvPr id="8" name="TextBox 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 name="TextBox 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0" name="TextBox 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215</a:t>
            </a:r>
          </a:p>
        </p:txBody>
      </p:sp>
    </p:spTree>
  </p:cSld>
  <p:clrMapOvr>
    <a:masterClrMapping/>
  </p:clrMapOvr>
  <p:transition spd="fast" advClick="1">
    <p:fade/>
  </p:transition>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157984"/>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Written Assessment (SAQ)</a:t>
            </a:r>
          </a:p>
          <a:p>
            <a:pPr algn="l">
              <a:spcAft>
                <a:spcPts val="300"/>
              </a:spcAft>
            </a:pPr>
            <a:r>
              <a:rPr sz="1200" b="0">
                <a:solidFill>
                  <a:srgbClr val="5B6372"/>
                </a:solidFill>
                <a:latin typeface="Arial"/>
              </a:rPr>
              <a:t>1 hour · open book · short-answer knowledge questions across all five domains.</a:t>
            </a:r>
          </a:p>
        </p:txBody>
      </p:sp>
      <p:sp>
        <p:nvSpPr>
          <p:cNvPr id="12" name="Rectangle 11"/>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157984"/>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157984"/>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Practical Performance (PP)</a:t>
            </a:r>
          </a:p>
          <a:p>
            <a:pPr algn="l">
              <a:spcAft>
                <a:spcPts val="300"/>
              </a:spcAft>
            </a:pPr>
            <a:r>
              <a:rPr sz="1200" b="0">
                <a:solidFill>
                  <a:srgbClr val="5B6372"/>
                </a:solidFill>
                <a:latin typeface="Arial"/>
              </a:rPr>
              <a:t>1 hour · open book · scenario-based hands-on data tasks mapped to LO1–LO5.</a:t>
            </a:r>
          </a:p>
        </p:txBody>
      </p:sp>
      <p:sp>
        <p:nvSpPr>
          <p:cNvPr id="17" name="Rectangle 16"/>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3694176"/>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Digital attendance</a:t>
            </a:r>
          </a:p>
          <a:p>
            <a:pPr algn="l">
              <a:spcAft>
                <a:spcPts val="300"/>
              </a:spcAft>
            </a:pPr>
            <a:r>
              <a:rPr sz="1200" b="0">
                <a:solidFill>
                  <a:srgbClr val="5B6372"/>
                </a:solidFill>
                <a:latin typeface="Arial"/>
              </a:rPr>
              <a:t>Take the Assessment digital attendance (TRAQOM) before you start.</a:t>
            </a:r>
          </a:p>
        </p:txBody>
      </p:sp>
      <p:sp>
        <p:nvSpPr>
          <p:cNvPr id="22" name="Rectangle 21"/>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3694176"/>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3694176"/>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3447288"/>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Submit on the LMS</a:t>
            </a:r>
          </a:p>
          <a:p>
            <a:pPr algn="l">
              <a:spcAft>
                <a:spcPts val="300"/>
              </a:spcAft>
            </a:pPr>
            <a:r>
              <a:rPr sz="1200" b="0">
                <a:solidFill>
                  <a:srgbClr val="5B6372"/>
                </a:solidFill>
                <a:latin typeface="Arial"/>
              </a:rPr>
              <a:t>Upload your completed answers at https://lms-tms.tertiaryinfotech.com/</a:t>
            </a:r>
          </a:p>
        </p:txBody>
      </p:sp>
      <p:sp>
        <p:nvSpPr>
          <p:cNvPr id="27" name="Rectangle 26"/>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33272" y="5230368"/>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33272"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5</a:t>
            </a:r>
          </a:p>
        </p:txBody>
      </p:sp>
      <p:sp>
        <p:nvSpPr>
          <p:cNvPr id="31" name="TextBox 30"/>
          <p:cNvSpPr txBox="1"/>
          <p:nvPr/>
        </p:nvSpPr>
        <p:spPr>
          <a:xfrm>
            <a:off x="1764792"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Open book means</a:t>
            </a:r>
          </a:p>
          <a:p>
            <a:pPr algn="l">
              <a:spcAft>
                <a:spcPts val="300"/>
              </a:spcAft>
            </a:pPr>
            <a:r>
              <a:rPr sz="1200" b="0">
                <a:solidFill>
                  <a:srgbClr val="5B6372"/>
                </a:solidFill>
                <a:latin typeface="Arial"/>
              </a:rPr>
              <a:t>Course slides, the Learner Guide and other approved materials only.</a:t>
            </a:r>
          </a:p>
        </p:txBody>
      </p:sp>
      <p:sp>
        <p:nvSpPr>
          <p:cNvPr id="32" name="Rectangle 31"/>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87668" y="5230368"/>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87668" y="5230368"/>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6</a:t>
            </a:r>
          </a:p>
        </p:txBody>
      </p:sp>
      <p:sp>
        <p:nvSpPr>
          <p:cNvPr id="36" name="TextBox 35"/>
          <p:cNvSpPr txBox="1"/>
          <p:nvPr/>
        </p:nvSpPr>
        <p:spPr>
          <a:xfrm>
            <a:off x="7219188" y="4983480"/>
            <a:ext cx="3973068" cy="1115568"/>
          </a:xfrm>
          <a:prstGeom prst="rect">
            <a:avLst/>
          </a:prstGeom>
          <a:noFill/>
        </p:spPr>
        <p:txBody>
          <a:bodyPr wrap="square" anchor="ctr">
            <a:spAutoFit/>
          </a:bodyPr>
          <a:lstStyle/>
          <a:p>
            <a:pPr algn="l">
              <a:spcAft>
                <a:spcPts val="300"/>
              </a:spcAft>
            </a:pPr>
            <a:r>
              <a:rPr sz="1600" b="1">
                <a:solidFill>
                  <a:srgbClr val="161B26"/>
                </a:solidFill>
                <a:latin typeface="Arial"/>
              </a:rPr>
              <a:t>Result</a:t>
            </a:r>
          </a:p>
          <a:p>
            <a:pPr algn="l">
              <a:spcAft>
                <a:spcPts val="300"/>
              </a:spcAft>
            </a:pPr>
            <a:r>
              <a:rPr sz="1200" b="0">
                <a:solidFill>
                  <a:srgbClr val="5B6372"/>
                </a:solidFill>
                <a:latin typeface="Arial"/>
              </a:rPr>
              <a:t>You are assessed Competent (C) or Not Yet Competent (NYC) on each instrument.</a:t>
            </a:r>
          </a:p>
        </p:txBody>
      </p:sp>
      <p:sp>
        <p:nvSpPr>
          <p:cNvPr id="37" name="TextBox 3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38" name="TextBox 3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9" name="TextBox 3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216</a:t>
            </a:r>
          </a:p>
        </p:txBody>
      </p:sp>
    </p:spTree>
  </p:cSld>
  <p:clrMapOvr>
    <a:masterClrMapping/>
  </p:clrMapOvr>
  <p:transition spd="fast" advClick="1">
    <p:fade/>
  </p:transition>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ON ASSESSMENT DAY</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Assessment Flow</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403604"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03604"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1</a:t>
            </a:r>
          </a:p>
        </p:txBody>
      </p:sp>
      <p:sp>
        <p:nvSpPr>
          <p:cNvPr id="11" name="TextBox 10"/>
          <p:cNvSpPr txBox="1"/>
          <p:nvPr/>
        </p:nvSpPr>
        <p:spPr>
          <a:xfrm>
            <a:off x="905256"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TRAQOM attendance</a:t>
            </a:r>
          </a:p>
        </p:txBody>
      </p:sp>
      <p:sp>
        <p:nvSpPr>
          <p:cNvPr id="12" name="TextBox 11"/>
          <p:cNvSpPr txBox="1"/>
          <p:nvPr/>
        </p:nvSpPr>
        <p:spPr>
          <a:xfrm>
            <a:off x="868680"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Scan the QR on the LMS</a:t>
            </a:r>
          </a:p>
        </p:txBody>
      </p:sp>
      <p:cxnSp>
        <p:nvCxnSpPr>
          <p:cNvPr id="13" name="Connector 12"/>
          <p:cNvCxnSpPr/>
          <p:nvPr/>
        </p:nvCxnSpPr>
        <p:spPr>
          <a:xfrm>
            <a:off x="2651760"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980944"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80944"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607308"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07308"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2</a:t>
            </a:r>
          </a:p>
        </p:txBody>
      </p:sp>
      <p:sp>
        <p:nvSpPr>
          <p:cNvPr id="18" name="TextBox 17"/>
          <p:cNvSpPr txBox="1"/>
          <p:nvPr/>
        </p:nvSpPr>
        <p:spPr>
          <a:xfrm>
            <a:off x="3108960"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Assessment attendance</a:t>
            </a:r>
          </a:p>
        </p:txBody>
      </p:sp>
      <p:sp>
        <p:nvSpPr>
          <p:cNvPr id="19" name="TextBox 18"/>
          <p:cNvSpPr txBox="1"/>
          <p:nvPr/>
        </p:nvSpPr>
        <p:spPr>
          <a:xfrm>
            <a:off x="3072384"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Scan the SSG QR</a:t>
            </a:r>
          </a:p>
        </p:txBody>
      </p:sp>
      <p:cxnSp>
        <p:nvCxnSpPr>
          <p:cNvPr id="20" name="Connector 19"/>
          <p:cNvCxnSpPr/>
          <p:nvPr/>
        </p:nvCxnSpPr>
        <p:spPr>
          <a:xfrm>
            <a:off x="4855464"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184648"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84648"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5811012"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811012"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3</a:t>
            </a:r>
          </a:p>
        </p:txBody>
      </p:sp>
      <p:sp>
        <p:nvSpPr>
          <p:cNvPr id="25" name="TextBox 24"/>
          <p:cNvSpPr txBox="1"/>
          <p:nvPr/>
        </p:nvSpPr>
        <p:spPr>
          <a:xfrm>
            <a:off x="5312664"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Sit WA then PP</a:t>
            </a:r>
          </a:p>
        </p:txBody>
      </p:sp>
      <p:sp>
        <p:nvSpPr>
          <p:cNvPr id="26" name="TextBox 25"/>
          <p:cNvSpPr txBox="1"/>
          <p:nvPr/>
        </p:nvSpPr>
        <p:spPr>
          <a:xfrm>
            <a:off x="5276088"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Open book · 1 hour each</a:t>
            </a:r>
          </a:p>
        </p:txBody>
      </p:sp>
      <p:cxnSp>
        <p:nvCxnSpPr>
          <p:cNvPr id="27" name="Connector 26"/>
          <p:cNvCxnSpPr/>
          <p:nvPr/>
        </p:nvCxnSpPr>
        <p:spPr>
          <a:xfrm>
            <a:off x="7059168"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7388352"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388352"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014716"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14716"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4</a:t>
            </a:r>
          </a:p>
        </p:txBody>
      </p:sp>
      <p:sp>
        <p:nvSpPr>
          <p:cNvPr id="32" name="TextBox 31"/>
          <p:cNvSpPr txBox="1"/>
          <p:nvPr/>
        </p:nvSpPr>
        <p:spPr>
          <a:xfrm>
            <a:off x="7516368"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Submit on the LMS</a:t>
            </a:r>
          </a:p>
        </p:txBody>
      </p:sp>
      <p:sp>
        <p:nvSpPr>
          <p:cNvPr id="33" name="TextBox 32"/>
          <p:cNvSpPr txBox="1"/>
          <p:nvPr/>
        </p:nvSpPr>
        <p:spPr>
          <a:xfrm>
            <a:off x="7479792"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Upload your answers</a:t>
            </a:r>
          </a:p>
        </p:txBody>
      </p:sp>
      <p:cxnSp>
        <p:nvCxnSpPr>
          <p:cNvPr id="34" name="Connector 33"/>
          <p:cNvCxnSpPr/>
          <p:nvPr/>
        </p:nvCxnSpPr>
        <p:spPr>
          <a:xfrm>
            <a:off x="9262872" y="3223260"/>
            <a:ext cx="274320" cy="0"/>
          </a:xfrm>
          <a:prstGeom prst="line">
            <a:avLst/>
          </a:prstGeom>
          <a:ln w="25400">
            <a:solidFill>
              <a:srgbClr val="1F6FEB"/>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592056" y="2148840"/>
            <a:ext cx="1819656" cy="2148840"/>
          </a:xfrm>
          <a:prstGeom prst="roundRect">
            <a:avLst>
              <a:gd name="adj" fmla="val 10000"/>
            </a:avLst>
          </a:prstGeom>
          <a:solidFill>
            <a:srgbClr val="F5F8FC"/>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592056" y="2148840"/>
            <a:ext cx="1819656" cy="10058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0218420" y="2459736"/>
            <a:ext cx="566928" cy="56692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218420" y="2459736"/>
            <a:ext cx="566928" cy="566928"/>
          </a:xfrm>
          <a:prstGeom prst="rect">
            <a:avLst/>
          </a:prstGeom>
          <a:noFill/>
        </p:spPr>
        <p:txBody>
          <a:bodyPr wrap="square" anchor="ctr">
            <a:spAutoFit/>
          </a:bodyPr>
          <a:lstStyle/>
          <a:p>
            <a:pPr algn="ctr">
              <a:spcAft>
                <a:spcPts val="400"/>
              </a:spcAft>
            </a:pPr>
            <a:r>
              <a:rPr sz="2400" b="1">
                <a:solidFill>
                  <a:srgbClr val="FFFFFF"/>
                </a:solidFill>
                <a:latin typeface="Arial"/>
              </a:rPr>
              <a:t>5</a:t>
            </a:r>
          </a:p>
        </p:txBody>
      </p:sp>
      <p:sp>
        <p:nvSpPr>
          <p:cNvPr id="39" name="TextBox 38"/>
          <p:cNvSpPr txBox="1"/>
          <p:nvPr/>
        </p:nvSpPr>
        <p:spPr>
          <a:xfrm>
            <a:off x="9720072" y="3118104"/>
            <a:ext cx="1563624" cy="859536"/>
          </a:xfrm>
          <a:prstGeom prst="rect">
            <a:avLst/>
          </a:prstGeom>
          <a:noFill/>
        </p:spPr>
        <p:txBody>
          <a:bodyPr wrap="square" anchor="ctr">
            <a:spAutoFit/>
          </a:bodyPr>
          <a:lstStyle/>
          <a:p>
            <a:pPr algn="ctr">
              <a:spcAft>
                <a:spcPts val="0"/>
              </a:spcAft>
            </a:pPr>
            <a:r>
              <a:rPr sz="1300" b="1">
                <a:solidFill>
                  <a:srgbClr val="161B26"/>
                </a:solidFill>
                <a:latin typeface="Arial"/>
              </a:rPr>
              <a:t>Sign the record</a:t>
            </a:r>
          </a:p>
        </p:txBody>
      </p:sp>
      <p:sp>
        <p:nvSpPr>
          <p:cNvPr id="40" name="TextBox 39"/>
          <p:cNvSpPr txBox="1"/>
          <p:nvPr/>
        </p:nvSpPr>
        <p:spPr>
          <a:xfrm>
            <a:off x="9683496" y="3822192"/>
            <a:ext cx="1636776" cy="347472"/>
          </a:xfrm>
          <a:prstGeom prst="rect">
            <a:avLst/>
          </a:prstGeom>
          <a:noFill/>
        </p:spPr>
        <p:txBody>
          <a:bodyPr wrap="square" anchor="ctr">
            <a:spAutoFit/>
          </a:bodyPr>
          <a:lstStyle/>
          <a:p>
            <a:pPr algn="ctr">
              <a:spcAft>
                <a:spcPts val="0"/>
              </a:spcAft>
            </a:pPr>
            <a:r>
              <a:rPr sz="900" b="0">
                <a:solidFill>
                  <a:srgbClr val="5B6372"/>
                </a:solidFill>
                <a:latin typeface="Arial"/>
              </a:rPr>
              <a:t>Assessment Summary Record</a:t>
            </a:r>
          </a:p>
        </p:txBody>
      </p:sp>
      <p:sp>
        <p:nvSpPr>
          <p:cNvPr id="41" name="Rectangle 40"/>
          <p:cNvSpPr/>
          <p:nvPr/>
        </p:nvSpPr>
        <p:spPr>
          <a:xfrm>
            <a:off x="777240" y="4608576"/>
            <a:ext cx="10634472" cy="10515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77240" y="4608576"/>
            <a:ext cx="100584" cy="10515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51560" y="4718304"/>
            <a:ext cx="10149840" cy="292608"/>
          </a:xfrm>
          <a:prstGeom prst="rect">
            <a:avLst/>
          </a:prstGeom>
          <a:noFill/>
        </p:spPr>
        <p:txBody>
          <a:bodyPr wrap="square" anchor="t">
            <a:spAutoFit/>
          </a:bodyPr>
          <a:lstStyle/>
          <a:p>
            <a:pPr algn="l">
              <a:spcAft>
                <a:spcPts val="400"/>
              </a:spcAft>
            </a:pPr>
            <a:r>
              <a:rPr sz="1100" b="1">
                <a:solidFill>
                  <a:srgbClr val="1F6FEB"/>
                </a:solidFill>
                <a:latin typeface="Arial"/>
              </a:rPr>
              <a:t>REMEMBER</a:t>
            </a:r>
          </a:p>
        </p:txBody>
      </p:sp>
      <p:sp>
        <p:nvSpPr>
          <p:cNvPr id="44" name="TextBox 43"/>
          <p:cNvSpPr txBox="1"/>
          <p:nvPr/>
        </p:nvSpPr>
        <p:spPr>
          <a:xfrm>
            <a:off x="1051560" y="5029200"/>
            <a:ext cx="10149840" cy="566928"/>
          </a:xfrm>
          <a:prstGeom prst="rect">
            <a:avLst/>
          </a:prstGeom>
          <a:noFill/>
        </p:spPr>
        <p:txBody>
          <a:bodyPr wrap="square" anchor="t">
            <a:spAutoFit/>
          </a:bodyPr>
          <a:lstStyle/>
          <a:p>
            <a:pPr algn="l">
              <a:spcAft>
                <a:spcPts val="400"/>
              </a:spcAft>
            </a:pPr>
            <a:r>
              <a:rPr sz="1300" b="0">
                <a:solidFill>
                  <a:srgbClr val="161B26"/>
                </a:solidFill>
                <a:latin typeface="Arial"/>
              </a:rPr>
              <a:t>All five steps are mandatory for WSQ funding — missing the TRAQOM digital attendance or the course feedback survey can invalidate your claim.</a:t>
            </a:r>
          </a:p>
        </p:txBody>
      </p:sp>
      <p:sp>
        <p:nvSpPr>
          <p:cNvPr id="95" name="TextBox 9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96" name="TextBox 9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7" name="TextBox 9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217</a:t>
            </a:r>
          </a:p>
        </p:txBody>
      </p:sp>
    </p:spTree>
  </p:cSld>
  <p:clrMapOvr>
    <a:masterClrMapping/>
  </p:clrMapOvr>
  <p:timing>
    <p:tnLst>
      <p:par>
        <p:cTn id="1" dur="indefinite" restart="never" nodeType="tmRoot">
          <p:childTnLst>
            <p:seq concurrent="1" nextAc="seek">
              <p:cTn id="2" dur="indefinite" nodeType="mainSeq">
                <p:childTnLst>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00"/>
                                        <p:tgtEl>
                                          <p:spTgt spid="7"/>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after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after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after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afterEffect">
                                  <p:stCondLst>
                                    <p:cond delay="0"/>
                                  </p:stCondLst>
                                  <p:childTnLst>
                                    <p:set>
                                      <p:cBhvr>
                                        <p:cTn id="53" dur="1" fill="hold">
                                          <p:stCondLst>
                                            <p:cond delay="0"/>
                                          </p:stCondLst>
                                        </p:cTn>
                                        <p:tgtEl>
                                          <p:spTgt spid="21"/>
                                        </p:tgtEl>
                                        <p:attrNameLst>
                                          <p:attrName>style.visibility</p:attrName>
                                        </p:attrNameLst>
                                      </p:cBhvr>
                                      <p:to>
                                        <p:strVal val="visible"/>
                                      </p:to>
                                    </p:set>
                                    <p:animEffect transition="in" filter="fade">
                                      <p:cBhvr>
                                        <p:cTn id="54" dur="400"/>
                                        <p:tgtEl>
                                          <p:spTgt spid="2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afterEffect">
                                  <p:stCondLst>
                                    <p:cond delay="0"/>
                                  </p:stCondLst>
                                  <p:childTnLst>
                                    <p:set>
                                      <p:cBhvr>
                                        <p:cTn id="73" dur="1" fill="hold">
                                          <p:stCondLst>
                                            <p:cond delay="0"/>
                                          </p:stCondLst>
                                        </p:cTn>
                                        <p:tgtEl>
                                          <p:spTgt spid="28"/>
                                        </p:tgtEl>
                                        <p:attrNameLst>
                                          <p:attrName>style.visibility</p:attrName>
                                        </p:attrNameLst>
                                      </p:cBhvr>
                                      <p:to>
                                        <p:strVal val="visible"/>
                                      </p:to>
                                    </p:set>
                                    <p:animEffect transition="in" filter="fade">
                                      <p:cBhvr>
                                        <p:cTn id="74" dur="400"/>
                                        <p:tgtEl>
                                          <p:spTgt spid="28"/>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afterEffect">
                                  <p:stCondLst>
                                    <p:cond delay="0"/>
                                  </p:stCondLst>
                                  <p:childTnLst>
                                    <p:set>
                                      <p:cBhvr>
                                        <p:cTn id="83" dur="1" fill="hold">
                                          <p:stCondLst>
                                            <p:cond delay="0"/>
                                          </p:stCondLst>
                                        </p:cTn>
                                        <p:tgtEl>
                                          <p:spTgt spid="34"/>
                                        </p:tgtEl>
                                        <p:attrNameLst>
                                          <p:attrName>style.visibility</p:attrName>
                                        </p:attrNameLst>
                                      </p:cBhvr>
                                      <p:to>
                                        <p:strVal val="visible"/>
                                      </p:to>
                                    </p:set>
                                    <p:animEffect transition="in" filter="fade">
                                      <p:cBhvr>
                                        <p:cTn id="84" dur="400"/>
                                        <p:tgtEl>
                                          <p:spTgt spid="34"/>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nodeType="afterEffect">
                                  <p:stCondLst>
                                    <p:cond delay="0"/>
                                  </p:stCondLst>
                                  <p:childTnLst>
                                    <p:set>
                                      <p:cBhvr>
                                        <p:cTn id="93" dur="1" fill="hold">
                                          <p:stCondLst>
                                            <p:cond delay="0"/>
                                          </p:stCondLst>
                                        </p:cTn>
                                        <p:tgtEl>
                                          <p:spTgt spid="35"/>
                                        </p:tgtEl>
                                        <p:attrNameLst>
                                          <p:attrName>style.visibility</p:attrName>
                                        </p:attrNameLst>
                                      </p:cBhvr>
                                      <p:to>
                                        <p:strVal val="visible"/>
                                      </p:to>
                                    </p:set>
                                    <p:animEffect transition="in" filter="fade">
                                      <p:cBhvr>
                                        <p:cTn id="94"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ransition spd="fast" advClick="1">
    <p:fade/>
  </p:transition>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04672"/>
            <a:ext cx="10881360" cy="713232"/>
          </a:xfrm>
          <a:prstGeom prst="rect">
            <a:avLst/>
          </a:prstGeom>
          <a:noFill/>
        </p:spPr>
        <p:txBody>
          <a:bodyPr wrap="square" anchor="ctr">
            <a:spAutoFit/>
          </a:bodyPr>
          <a:lstStyle/>
          <a:p>
            <a:pPr algn="l">
              <a:spcAft>
                <a:spcPts val="400"/>
              </a:spcAft>
            </a:pPr>
            <a:r>
              <a:rPr sz="2900" b="1">
                <a:solidFill>
                  <a:srgbClr val="161B26"/>
                </a:solidFill>
                <a:latin typeface="Arial"/>
              </a:rPr>
              <a:t>Digital Attendance (Mandatory)</a:t>
            </a:r>
          </a:p>
        </p:txBody>
      </p:sp>
      <p:sp>
        <p:nvSpPr>
          <p:cNvPr id="6" name="Rectangle 5"/>
          <p:cNvSpPr/>
          <p:nvPr/>
        </p:nvSpPr>
        <p:spPr>
          <a:xfrm>
            <a:off x="777240" y="1554480"/>
            <a:ext cx="10634472"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3272" y="2542032"/>
            <a:ext cx="548640" cy="54864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33272"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1</a:t>
            </a:r>
          </a:p>
        </p:txBody>
      </p:sp>
      <p:sp>
        <p:nvSpPr>
          <p:cNvPr id="11" name="TextBox 10"/>
          <p:cNvSpPr txBox="1"/>
          <p:nvPr/>
        </p:nvSpPr>
        <p:spPr>
          <a:xfrm>
            <a:off x="1764792"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Three times a day</a:t>
            </a:r>
          </a:p>
          <a:p>
            <a:pPr algn="l">
              <a:spcAft>
                <a:spcPts val="300"/>
              </a:spcAft>
            </a:pPr>
            <a:r>
              <a:rPr sz="1300" b="0">
                <a:solidFill>
                  <a:srgbClr val="5B6372"/>
                </a:solidFill>
                <a:latin typeface="Arial"/>
              </a:rPr>
              <a:t>Take the AM, PM and Assessment digital attendance — mandatory for every WSQ-funded course.</a:t>
            </a:r>
          </a:p>
        </p:txBody>
      </p:sp>
      <p:sp>
        <p:nvSpPr>
          <p:cNvPr id="12" name="Rectangle 11"/>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87668" y="2542032"/>
            <a:ext cx="548640" cy="54864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7668" y="2542032"/>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2</a:t>
            </a:r>
          </a:p>
        </p:txBody>
      </p:sp>
      <p:sp>
        <p:nvSpPr>
          <p:cNvPr id="16" name="TextBox 15"/>
          <p:cNvSpPr txBox="1"/>
          <p:nvPr/>
        </p:nvSpPr>
        <p:spPr>
          <a:xfrm>
            <a:off x="7219188" y="1911096"/>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Trainer shows the QR</a:t>
            </a:r>
          </a:p>
          <a:p>
            <a:pPr algn="l">
              <a:spcAft>
                <a:spcPts val="300"/>
              </a:spcAft>
            </a:pPr>
            <a:r>
              <a:rPr sz="1300" b="0">
                <a:solidFill>
                  <a:srgbClr val="5B6372"/>
                </a:solidFill>
                <a:latin typeface="Arial"/>
              </a:rPr>
              <a:t>The trainer or administrator displays the digital attendance QR code generated from TPG.</a:t>
            </a:r>
          </a:p>
        </p:txBody>
      </p:sp>
      <p:sp>
        <p:nvSpPr>
          <p:cNvPr id="17" name="Rectangle 16"/>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33272" y="4846320"/>
            <a:ext cx="548640" cy="54864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3</a:t>
            </a:r>
          </a:p>
        </p:txBody>
      </p:sp>
      <p:sp>
        <p:nvSpPr>
          <p:cNvPr id="21" name="TextBox 20"/>
          <p:cNvSpPr txBox="1"/>
          <p:nvPr/>
        </p:nvSpPr>
        <p:spPr>
          <a:xfrm>
            <a:off x="1764792"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Scan with Singpass</a:t>
            </a:r>
          </a:p>
          <a:p>
            <a:pPr algn="l">
              <a:spcAft>
                <a:spcPts val="300"/>
              </a:spcAft>
            </a:pPr>
            <a:r>
              <a:rPr sz="1300" b="0">
                <a:solidFill>
                  <a:srgbClr val="5B6372"/>
                </a:solidFill>
                <a:latin typeface="Arial"/>
              </a:rPr>
              <a:t>Scan the QR code from your Singpass App and submit your attendance.</a:t>
            </a:r>
          </a:p>
        </p:txBody>
      </p:sp>
      <p:sp>
        <p:nvSpPr>
          <p:cNvPr id="22" name="Rectangle 21"/>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87668" y="4846320"/>
            <a:ext cx="548640" cy="54864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87668" y="4846320"/>
            <a:ext cx="548640" cy="548640"/>
          </a:xfrm>
          <a:prstGeom prst="rect">
            <a:avLst/>
          </a:prstGeom>
          <a:noFill/>
        </p:spPr>
        <p:txBody>
          <a:bodyPr wrap="square" anchor="ctr">
            <a:spAutoFit/>
          </a:bodyPr>
          <a:lstStyle/>
          <a:p>
            <a:pPr algn="ctr">
              <a:spcAft>
                <a:spcPts val="400"/>
              </a:spcAft>
            </a:pPr>
            <a:r>
              <a:rPr sz="1900" b="1">
                <a:solidFill>
                  <a:srgbClr val="FFFFFF"/>
                </a:solidFill>
                <a:latin typeface="Arial"/>
              </a:rPr>
              <a:t>4</a:t>
            </a:r>
          </a:p>
        </p:txBody>
      </p:sp>
      <p:sp>
        <p:nvSpPr>
          <p:cNvPr id="26" name="TextBox 25"/>
          <p:cNvSpPr txBox="1"/>
          <p:nvPr/>
        </p:nvSpPr>
        <p:spPr>
          <a:xfrm>
            <a:off x="7219188" y="4215384"/>
            <a:ext cx="3973068" cy="1883664"/>
          </a:xfrm>
          <a:prstGeom prst="rect">
            <a:avLst/>
          </a:prstGeom>
          <a:noFill/>
        </p:spPr>
        <p:txBody>
          <a:bodyPr wrap="square" anchor="ctr">
            <a:spAutoFit/>
          </a:bodyPr>
          <a:lstStyle/>
          <a:p>
            <a:pPr algn="l">
              <a:spcAft>
                <a:spcPts val="300"/>
              </a:spcAft>
            </a:pPr>
            <a:r>
              <a:rPr sz="1700" b="1">
                <a:solidFill>
                  <a:srgbClr val="161B26"/>
                </a:solidFill>
                <a:latin typeface="Arial"/>
              </a:rPr>
              <a:t>75% minimum</a:t>
            </a:r>
          </a:p>
          <a:p>
            <a:pPr algn="l">
              <a:spcAft>
                <a:spcPts val="300"/>
              </a:spcAft>
            </a:pPr>
            <a:r>
              <a:rPr sz="1300" b="0">
                <a:solidFill>
                  <a:srgbClr val="5B6372"/>
                </a:solidFill>
                <a:latin typeface="Arial"/>
              </a:rPr>
              <a:t>A minimum of 75% attendance is required to be eligible for assessment and funding.</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218</a:t>
            </a:r>
          </a:p>
        </p:txBody>
      </p:sp>
    </p:spTree>
  </p:cSld>
  <p:clrMapOvr>
    <a:masterClrMapping/>
  </p:clrMapOvr>
  <p:transition spd="fast" advClick="1">
    <p:fade/>
  </p:transition>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HAPPY ANALYSING</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480560"/>
            <a:ext cx="10058400" cy="1097280"/>
          </a:xfrm>
          <a:prstGeom prst="rect">
            <a:avLst/>
          </a:prstGeom>
          <a:noFill/>
        </p:spPr>
        <p:txBody>
          <a:bodyPr wrap="square" anchor="t">
            <a:spAutoFit/>
          </a:bodyPr>
          <a:lstStyle/>
          <a:p>
            <a:pPr algn="l">
              <a:spcAft>
                <a:spcPts val="400"/>
              </a:spcAft>
            </a:pPr>
            <a:r>
              <a:rPr sz="2000" b="0">
                <a:solidFill>
                  <a:srgbClr val="5B6372"/>
                </a:solidFill>
                <a:latin typeface="Arial"/>
              </a:rPr>
              <a:t>You can now integrate, prepare, analyse, visualise and govern data — and you are ready to sit the CompTIA Data+ (DA0-001) certification exam.</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WSQ - CompTIA Certified Data+ Training  ·  TGS-2024049212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219</a:t>
            </a:r>
          </a:p>
        </p:txBody>
      </p:sp>
    </p:spTree>
  </p:cSld>
  <p:clrMapOvr>
    <a:masterClrMapping/>
  </p:clrMapOvr>
  <p:transition spd="fast"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